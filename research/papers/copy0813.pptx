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B_9A61688E.xml" ContentType="application/vnd.ms-powerpoint.comments+xml"/>
  <Override PartName="/ppt/notesSlides/notesSlide3.xml" ContentType="application/vnd.openxmlformats-officedocument.presentationml.notesSlide+xml"/>
  <Override PartName="/ppt/comments/modernComment_100_0.xml" ContentType="application/vnd.ms-powerpoint.comments+xml"/>
  <Override PartName="/ppt/comments/modernComment_147_EB8AFDDB.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6_0.xml" ContentType="application/vnd.ms-powerpoint.comments+xml"/>
  <Override PartName="/ppt/comments/modernComment_14B_0.xml" ContentType="application/vnd.ms-powerpoint.comments+xml"/>
  <Override PartName="/ppt/notesSlides/notesSlide8.xml" ContentType="application/vnd.openxmlformats-officedocument.presentationml.notesSlide+xml"/>
  <Override PartName="/ppt/comments/modernComment_109_0.xml" ContentType="application/vnd.ms-powerpoint.comments+xml"/>
  <Override PartName="/ppt/notesSlides/notesSlide9.xml" ContentType="application/vnd.openxmlformats-officedocument.presentationml.notesSlide+xml"/>
  <Override PartName="/ppt/comments/modernComment_10B_0.xml" ContentType="application/vnd.ms-powerpoint.comments+xml"/>
  <Override PartName="/ppt/comments/modernComment_15A_10B03EAC.xml" ContentType="application/vnd.ms-powerpoint.comments+xml"/>
  <Override PartName="/ppt/comments/modernComment_15B_A7BF3F25.xml" ContentType="application/vnd.ms-powerpoint.comments+xml"/>
  <Override PartName="/ppt/comments/modernComment_158_78C8DF1.xml" ContentType="application/vnd.ms-powerpoint.comments+xml"/>
  <Override PartName="/ppt/comments/modernComment_159_DD02994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98" r:id="rId2"/>
    <p:sldId id="300" r:id="rId3"/>
    <p:sldId id="326" r:id="rId4"/>
    <p:sldId id="299" r:id="rId5"/>
    <p:sldId id="350" r:id="rId6"/>
    <p:sldId id="323" r:id="rId7"/>
    <p:sldId id="256" r:id="rId8"/>
    <p:sldId id="348" r:id="rId9"/>
    <p:sldId id="327" r:id="rId10"/>
    <p:sldId id="328" r:id="rId11"/>
    <p:sldId id="335" r:id="rId12"/>
    <p:sldId id="341" r:id="rId13"/>
    <p:sldId id="349" r:id="rId14"/>
    <p:sldId id="342" r:id="rId15"/>
    <p:sldId id="334" r:id="rId16"/>
    <p:sldId id="259" r:id="rId17"/>
    <p:sldId id="329" r:id="rId18"/>
    <p:sldId id="325" r:id="rId19"/>
    <p:sldId id="260" r:id="rId20"/>
    <p:sldId id="261" r:id="rId21"/>
    <p:sldId id="330" r:id="rId22"/>
    <p:sldId id="262" r:id="rId23"/>
    <p:sldId id="331" r:id="rId24"/>
    <p:sldId id="332" r:id="rId25"/>
    <p:sldId id="264" r:id="rId26"/>
    <p:sldId id="265" r:id="rId27"/>
    <p:sldId id="333" r:id="rId28"/>
    <p:sldId id="267" r:id="rId29"/>
    <p:sldId id="346" r:id="rId30"/>
    <p:sldId id="347" r:id="rId31"/>
    <p:sldId id="344" r:id="rId32"/>
    <p:sldId id="34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76369E-7A12-B6FF-8C47-FD7B1B99460E}" name="Jonathan Lamontagne Kratz" initials="JK" userId="S::jonathan.lamontagnekratz@mail.mcgill.ca::509c66a5-cf77-48ae-998d-fb61e4a0ab46" providerId="AD"/>
  <p188:author id="{1876E8AE-C0AC-33F8-8899-FF4EAAD34C17}" name="Jiang Bai" initials="JB" userId="S::jiang.bai@mail.mcgill.ca::2f11bfe6-e35c-48e4-b23e-0e39686372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318C6-7F74-097B-D584-21C6FBF232B4}" v="16" dt="2026-08-13T20:22:59.1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679" autoAdjust="0"/>
  </p:normalViewPr>
  <p:slideViewPr>
    <p:cSldViewPr snapToGrid="0">
      <p:cViewPr varScale="1">
        <p:scale>
          <a:sx n="99" d="100"/>
          <a:sy n="99" d="100"/>
        </p:scale>
        <p:origin x="99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ng Bai" userId="S::jiang.bai@mail.mcgill.ca::2f11bfe6-e35c-48e4-b23e-0e396863723f" providerId="AD" clId="Web-{0AE318C6-7F74-097B-D584-21C6FBF232B4}"/>
    <pc:docChg chg="modSld">
      <pc:chgData name="Jiang Bai" userId="S::jiang.bai@mail.mcgill.ca::2f11bfe6-e35c-48e4-b23e-0e396863723f" providerId="AD" clId="Web-{0AE318C6-7F74-097B-D584-21C6FBF232B4}" dt="2026-08-13T20:22:59.188" v="10" actId="1076"/>
      <pc:docMkLst>
        <pc:docMk/>
      </pc:docMkLst>
      <pc:sldChg chg="addSp modSp">
        <pc:chgData name="Jiang Bai" userId="S::jiang.bai@mail.mcgill.ca::2f11bfe6-e35c-48e4-b23e-0e396863723f" providerId="AD" clId="Web-{0AE318C6-7F74-097B-D584-21C6FBF232B4}" dt="2026-08-13T20:22:59.188" v="10" actId="1076"/>
        <pc:sldMkLst>
          <pc:docMk/>
          <pc:sldMk cId="0" sldId="331"/>
        </pc:sldMkLst>
        <pc:spChg chg="add mod">
          <ac:chgData name="Jiang Bai" userId="S::jiang.bai@mail.mcgill.ca::2f11bfe6-e35c-48e4-b23e-0e396863723f" providerId="AD" clId="Web-{0AE318C6-7F74-097B-D584-21C6FBF232B4}" dt="2026-08-13T20:22:59.188" v="10" actId="1076"/>
          <ac:spMkLst>
            <pc:docMk/>
            <pc:sldMk cId="0" sldId="331"/>
            <ac:spMk id="2" creationId="{02E6C111-6A13-1AAE-103B-251A3DA95786}"/>
          </ac:spMkLst>
        </pc:spChg>
      </pc:sldChg>
    </pc:docChg>
  </pc:docChgLst>
</pc:chgInfo>
</file>

<file path=ppt/comments/modernComment_10B_0.xml><?xml version="1.0" encoding="utf-8"?>
<p188:cmLst xmlns:a="http://schemas.openxmlformats.org/drawingml/2006/main" xmlns:r="http://schemas.openxmlformats.org/officeDocument/2006/relationships" xmlns:p188="http://schemas.microsoft.com/office/powerpoint/2018/8/main">
  <p188:cm id="{8433CA19-A265-4573-B9F4-1195F6C67410}" authorId="{D676369E-7A12-B6FF-8C47-FD7B1B99460E}" created="2026-06-15T14:11:36.652">
    <ac:txMkLst xmlns:ac="http://schemas.microsoft.com/office/drawing/2013/main/command">
      <pc:docMk xmlns:pc="http://schemas.microsoft.com/office/powerpoint/2013/main/command"/>
      <pc:sldMk xmlns:pc="http://schemas.microsoft.com/office/powerpoint/2013/main/command" cId="0" sldId="267"/>
      <ac:spMk id="13" creationId="{00000000-0000-0000-0000-000000000000}"/>
      <ac:txMk cp="0" len="10">
        <ac:context len="11" hash="2525571771"/>
      </ac:txMk>
    </ac:txMkLst>
    <p188:pos x="1146699" y="236737"/>
    <p188:replyLst>
      <p188:reply id="{173FE641-200B-4BF3-8B16-80C250252B6A}" authorId="{1876E8AE-C0AC-33F8-8899-FF4EAAD34C17}" created="2026-06-15T15:03:25.407">
        <p188:txBody>
          <a:bodyPr/>
          <a:lstStyle/>
          <a:p>
            <a:r>
              <a:rPr lang="en-CA"/>
              <a:t>I just added some to this slide but we should definitely think about this after discussing with Navarra</a:t>
            </a:r>
          </a:p>
        </p188:txBody>
      </p188:reply>
    </p188:replyLst>
    <p188:txBody>
      <a:bodyPr/>
      <a:lstStyle/>
      <a:p>
        <a:r>
          <a:rPr lang="en-US"/>
          <a:t>Do we want to model discrete mineface to stockpiles? like or comes in discrete chunks instead of continuously? 
Do we want to add delays. between or mined and ore to stockpile? 
Do we want to add distances? 
Do we want to add requirements for use of faces? 
Anything else? </a:t>
        </a:r>
      </a:p>
    </p188:txBody>
  </p188:cm>
</p188:cmLst>
</file>

<file path=ppt/comments/modernComment_12B_9A61688E.xml><?xml version="1.0" encoding="utf-8"?>
<p188:cmLst xmlns:a="http://schemas.openxmlformats.org/drawingml/2006/main" xmlns:r="http://schemas.openxmlformats.org/officeDocument/2006/relationships" xmlns:p188="http://schemas.microsoft.com/office/powerpoint/2018/8/main">
  <p188:cm id="{B0F51D31-A0D1-413D-BC0C-394B7F96938C}" authorId="{D676369E-7A12-B6FF-8C47-FD7B1B99460E}" status="resolved" created="2026-06-15T05:42:22.723" complete="100000">
    <ac:txMkLst xmlns:ac="http://schemas.microsoft.com/office/drawing/2013/main/command">
      <pc:docMk xmlns:pc="http://schemas.microsoft.com/office/powerpoint/2013/main/command"/>
      <pc:sldMk xmlns:pc="http://schemas.microsoft.com/office/powerpoint/2013/main/command" cId="2590075022" sldId="299"/>
      <ac:spMk id="12" creationId="{F2BE8AF5-BA85-07E1-0234-72460B3A906B}"/>
      <ac:txMk cp="305" len="64">
        <ac:context len="656" hash="897545587"/>
      </ac:txMk>
    </ac:txMkLst>
    <p188:pos x="3721223" y="1568388"/>
    <p188:replyLst>
      <p188:reply id="{C228D4D0-CD67-40F8-A0C8-F72A6DA41E71}" authorId="{1876E8AE-C0AC-33F8-8899-FF4EAAD34C17}" created="2026-06-15T13:38:21.856">
        <p188:txBody>
          <a:bodyPr/>
          <a:lstStyle/>
          <a:p>
            <a:r>
              <a:rPr lang="en-CA"/>
              <a:t>Added, we can determine it later</a:t>
            </a:r>
          </a:p>
        </p188:txBody>
      </p188:reply>
    </p188:replyLst>
    <p188:txBody>
      <a:bodyPr/>
      <a:lstStyle/>
      <a:p>
        <a:r>
          <a:rPr lang="en-US"/>
          <a:t>or equal assignment policy</a:t>
        </a:r>
      </a:p>
    </p188:txBody>
  </p188:cm>
</p188:cmLst>
</file>

<file path=ppt/comments/modernComment_14B_0.xml><?xml version="1.0" encoding="utf-8"?>
<p188:cmLst xmlns:a="http://schemas.openxmlformats.org/drawingml/2006/main" xmlns:r="http://schemas.openxmlformats.org/officeDocument/2006/relationships" xmlns:p188="http://schemas.microsoft.com/office/powerpoint/2018/8/main">
  <p188:cm id="{7C7947B5-E888-47CA-8F5E-D6116A9B6A57}" authorId="{D676369E-7A12-B6FF-8C47-FD7B1B99460E}" status="resolved" created="2026-06-15T05:35:03.215" complete="100000">
    <ac:txMkLst xmlns:ac="http://schemas.microsoft.com/office/drawing/2013/main/command">
      <pc:docMk xmlns:pc="http://schemas.microsoft.com/office/powerpoint/2013/main/command"/>
      <pc:sldMk xmlns:pc="http://schemas.microsoft.com/office/powerpoint/2013/main/command" cId="0" sldId="331"/>
      <ac:spMk id="4" creationId="{00000000-0000-0000-0000-000000000000}"/>
      <ac:txMk cp="24" len="81">
        <ac:context len="106" hash="2512293816"/>
      </ac:txMk>
    </ac:txMkLst>
    <p188:pos x="7649592" y="236737"/>
    <p188:replyLst>
      <p188:reply id="{C0F35449-0F38-4975-9245-C325297C4F85}" authorId="{1876E8AE-C0AC-33F8-8899-FF4EAAD34C17}" created="2026-06-15T14:21:46.512">
        <p188:txBody>
          <a:bodyPr/>
          <a:lstStyle/>
          <a:p>
            <a:r>
              <a:rPr lang="en-CA"/>
              <a:t>State-dependent policy (Policy 2) </a:t>
            </a:r>
          </a:p>
        </p188:txBody>
      </p188:reply>
      <p188:reply id="{FDEE0631-FA80-4933-B321-B0F619B416DC}" authorId="{1876E8AE-C0AC-33F8-8899-FF4EAAD34C17}" created="2026-06-15T14:22:10.429">
        <p188:txBody>
          <a:bodyPr/>
          <a:lstStyle/>
          <a:p>
            <a:r>
              <a:rPr lang="en-CA"/>
              <a:t>BASELINE POLICY (policy 1)</a:t>
            </a:r>
          </a:p>
        </p188:txBody>
      </p188:reply>
    </p188:replyLst>
    <p188:txBody>
      <a:bodyPr/>
      <a:lstStyle/>
      <a:p>
        <a:r>
          <a:rPr lang="en-US"/>
          <a:t>What is policy 1? </a:t>
        </a:r>
      </a:p>
    </p188:txBody>
  </p188:cm>
</p188:cmLst>
</file>

<file path=ppt/comments/modernComment_15A_10B03EAC.xml><?xml version="1.0" encoding="utf-8"?>
<p188:cmLst xmlns:a="http://schemas.openxmlformats.org/drawingml/2006/main" xmlns:r="http://schemas.openxmlformats.org/officeDocument/2006/relationships" xmlns:p188="http://schemas.microsoft.com/office/powerpoint/2018/8/main">
  <p188:cm id="{E5F5A60C-54EA-4072-88E5-EA2E5581340D}" authorId="{1876E8AE-C0AC-33F8-8899-FF4EAAD34C17}" created="2026-06-18T14:42:06.782">
    <ac:deMkLst xmlns:ac="http://schemas.microsoft.com/office/drawing/2013/main/command">
      <pc:docMk xmlns:pc="http://schemas.microsoft.com/office/powerpoint/2013/main/command"/>
      <pc:sldMk xmlns:pc="http://schemas.microsoft.com/office/powerpoint/2013/main/command" cId="279985836" sldId="346"/>
      <ac:graphicFrameMk id="6" creationId="{8A4D1015-1489-862B-FD55-E84E48BAD8AC}"/>
    </ac:deMkLst>
    <p188:txBody>
      <a:bodyPr/>
      <a:lstStyle/>
      <a:p>
        <a:r>
          <a:rPr lang="en-CA"/>
          <a:t>I understand the allocation formula as solving the blend between Face 1 and Face 2 based on their Ore1 fractions. However, when I apply the formula to Mode A, I get F1 = 0.167 and F2 = 0.833, while the table shows 0.917 and 0.083. Could you confirm whether the table uses another logic or if the face labels are reversed?</a:t>
        </a:r>
      </a:p>
    </p188:txBody>
  </p188:cm>
</p188:cmLst>
</file>

<file path=ppt/comments/modernComment_15B_A7BF3F25.xml><?xml version="1.0" encoding="utf-8"?>
<p188:cmLst xmlns:a="http://schemas.openxmlformats.org/drawingml/2006/main" xmlns:r="http://schemas.openxmlformats.org/officeDocument/2006/relationships" xmlns:p188="http://schemas.microsoft.com/office/powerpoint/2018/8/main">
  <p188:cm id="{E9FA7E80-2E88-4EBF-A947-B447D7D63B04}" authorId="{1876E8AE-C0AC-33F8-8899-FF4EAAD34C17}" created="2026-06-18T15:14:31.803">
    <pc:sldMkLst xmlns:pc="http://schemas.microsoft.com/office/powerpoint/2013/main/command">
      <pc:docMk/>
      <pc:sldMk cId="2814328613" sldId="347"/>
    </pc:sldMkLst>
    <p188:replyLst>
      <p188:reply id="{4787D008-E724-4BC2-BC78-B24EFCA8B85C}" authorId="{1876E8AE-C0AC-33F8-8899-FF4EAAD34C17}" created="2026-06-18T15:14:47.134">
        <p188:txBody>
          <a:bodyPr/>
          <a:lstStyle/>
          <a:p>
            <a:r>
              <a:rPr lang="en-CA"/>
              <a:t>Let me know what you think, to make it clear
</a:t>
            </a:r>
          </a:p>
        </p188:txBody>
      </p188:reply>
    </p188:replyLst>
    <p188:txBody>
      <a:bodyPr/>
      <a:lstStyle/>
      <a:p>
        <a:r>
          <a:rPr lang="en-CA"/>
          <a:t>Added symbols and variables
</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9A757923-A4AA-4E08-AC2A-A399755F6F8F}" authorId="{D676369E-7A12-B6FF-8C47-FD7B1B99460E}" status="resolved" created="2026-06-15T05:43:26.895" complete="100000">
    <ac:txMkLst xmlns:ac="http://schemas.microsoft.com/office/drawing/2013/main/command">
      <pc:docMk xmlns:pc="http://schemas.microsoft.com/office/powerpoint/2013/main/command"/>
      <pc:sldMk xmlns:pc="http://schemas.microsoft.com/office/powerpoint/2013/main/command" cId="0" sldId="256"/>
      <ac:spMk id="38" creationId="{7D8E7147-5063-7BF0-1753-8161E5B2A961}"/>
      <ac:txMk cp="474" len="102">
        <ac:context len="627" hash="603017560"/>
      </ac:txMk>
    </ac:txMkLst>
    <p188:pos x="8492970" y="2877844"/>
    <p188:replyLst>
      <p188:reply id="{B227E7F4-CACC-4BDA-8EFD-777F6ADD2B1C}" authorId="{D676369E-7A12-B6FF-8C47-FD7B1B99460E}" created="2026-06-15T05:44:42.520">
        <p188:txBody>
          <a:bodyPr/>
          <a:lstStyle/>
          <a:p>
            <a:r>
              <a:rPr lang="en-US"/>
              <a:t>if you dont like this line you can remove it but i think its nice to show why operating modes were chosen in the original paper. As the parcel grade could not be altered. </a:t>
            </a:r>
          </a:p>
        </p188:txBody>
      </p188:reply>
      <p188:reply id="{2C8F2415-3ED4-4827-8174-CADD312D3D0F}" authorId="{1876E8AE-C0AC-33F8-8899-FF4EAAD34C17}" created="2026-06-15T13:38:37.560">
        <p188:txBody>
          <a:bodyPr/>
          <a:lstStyle/>
          <a:p>
            <a:r>
              <a:rPr lang="en-CA"/>
              <a:t>agree</a:t>
            </a:r>
          </a:p>
        </p188:txBody>
      </p188:reply>
    </p188:replyLst>
    <p188:txBody>
      <a:bodyPr/>
      <a:lstStyle/>
      <a:p>
        <a:r>
          <a:rPr lang="en-US"/>
          <a:t>Correct the phrasing</a:t>
        </a:r>
      </a:p>
    </p188:txBody>
  </p188:cm>
  <p188:cm id="{6F9A8E28-BFC0-4712-84BB-F72FCABFB139}" authorId="{D676369E-7A12-B6FF-8C47-FD7B1B99460E}" created="2026-06-15T06:27:15.657">
    <ac:txMkLst xmlns:ac="http://schemas.microsoft.com/office/drawing/2013/main/command">
      <pc:docMk xmlns:pc="http://schemas.microsoft.com/office/powerpoint/2013/main/command"/>
      <pc:sldMk xmlns:pc="http://schemas.microsoft.com/office/powerpoint/2013/main/command" cId="0" sldId="256"/>
      <ac:spMk id="30" creationId="{332C26EE-16D7-53C4-C8C1-A65A76071633}"/>
      <ac:txMk cp="0" len="139">
        <ac:context len="140" hash="2941211230"/>
      </ac:txMk>
    </ac:txMkLst>
    <p188:pos x="6931980" y="569650"/>
    <p188:replyLst>
      <p188:reply id="{4C41EBE3-9134-46A0-867C-67767E6D56E3}" authorId="{1876E8AE-C0AC-33F8-8899-FF4EAAD34C17}" created="2026-06-15T13:42:41.852">
        <p188:txBody>
          <a:bodyPr/>
          <a:lstStyle/>
          <a:p>
            <a:r>
              <a:rPr lang="en-CA"/>
              <a:t>If it’s not too complicated to do (coding side), we could add later in our research.</a:t>
            </a:r>
          </a:p>
        </p188:txBody>
      </p188:reply>
      <p188:reply id="{2E958653-4154-4B66-97F1-76B28CCF43E6}" authorId="{D676369E-7A12-B6FF-8C47-FD7B1B99460E}" created="2026-06-15T13:48:10.927">
        <p188:txBody>
          <a:bodyPr/>
          <a:lstStyle/>
          <a:p>
            <a:r>
              <a:rPr lang="en-US"/>
              <a:t>I already have the plots do we want the plots in our slides (the ones i showed you)</a:t>
            </a:r>
          </a:p>
        </p188:txBody>
      </p188:reply>
      <p188:reply id="{FDC339C4-6D55-4C4E-9834-F03D726B08A7}" authorId="{1876E8AE-C0AC-33F8-8899-FF4EAAD34C17}" created="2026-06-15T14:26:10.808">
        <p188:txBody>
          <a:bodyPr/>
          <a:lstStyle/>
          <a:p>
            <a:r>
              <a:rPr lang="en-CA"/>
              <a:t>Yes please add it here</a:t>
            </a:r>
          </a:p>
        </p188:txBody>
      </p188:reply>
    </p188:replyLst>
    <p188:txBody>
      <a:bodyPr/>
      <a:lstStyle/>
      <a:p>
        <a:r>
          <a:rPr lang="en-US"/>
          <a:t>Do we want the plots of this in the DRS? </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6D167CAA-9934-4F37-BCEB-500F777F322B}" authorId="{D676369E-7A12-B6FF-8C47-FD7B1B99460E}" status="resolved" created="2026-06-15T05:34:08.949" complete="100000">
    <ac:txMkLst xmlns:ac="http://schemas.microsoft.com/office/drawing/2013/main/command">
      <pc:docMk xmlns:pc="http://schemas.microsoft.com/office/powerpoint/2013/main/command"/>
      <pc:sldMk xmlns:pc="http://schemas.microsoft.com/office/powerpoint/2013/main/command" cId="0" sldId="262"/>
      <ac:spMk id="4" creationId="{00000000-0000-0000-0000-000000000000}"/>
      <ac:txMk cp="0" len="89">
        <ac:context len="90" hash="2395437052"/>
      </ac:txMk>
    </ac:txMkLst>
    <p188:pos x="2056660" y="651029"/>
    <p188:txBody>
      <a:bodyPr/>
      <a:lstStyle/>
      <a:p>
        <a:r>
          <a:rPr lang="en-US"/>
          <a:t>randomly or equally? which is more correct or logical? </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C95CCF17-717A-4695-BAFD-F214216834DF}" authorId="{D676369E-7A12-B6FF-8C47-FD7B1B99460E}" created="2026-06-15T05:36:33.184">
    <ac:deMkLst xmlns:ac="http://schemas.microsoft.com/office/drawing/2013/main/command">
      <pc:docMk xmlns:pc="http://schemas.microsoft.com/office/powerpoint/2013/main/command"/>
      <pc:sldMk xmlns:pc="http://schemas.microsoft.com/office/powerpoint/2013/main/command" cId="0" sldId="265"/>
      <ac:spMk id="27" creationId="{00000000-0000-0000-0000-000000000000}"/>
    </ac:deMkLst>
    <p188:replyLst>
      <p188:reply id="{B0120216-BB7A-4F04-AF49-4F9D6F40D99C}" authorId="{1876E8AE-C0AC-33F8-8899-FF4EAAD34C17}" created="2026-06-15T14:40:54.189">
        <p188:txBody>
          <a:bodyPr/>
          <a:lstStyle/>
          <a:p>
            <a:r>
              <a:rPr lang="en-CA"/>
              <a:t>I think it should be a mesure, it is a commun KPI in a FMS (fleet mangement system)</a:t>
            </a:r>
          </a:p>
        </p188:txBody>
      </p188:reply>
    </p188:replyLst>
    <p188:txBody>
      <a:bodyPr/>
      <a:lstStyle/>
      <a:p>
        <a:r>
          <a:rPr lang="en-US"/>
          <a:t>Is this a measure or defined by the policy? </a:t>
        </a:r>
      </a:p>
    </p188:txBody>
  </p188:cm>
</p188:cmLst>
</file>

<file path=ppt/comments/modernComment_147_EB8AFDDB.xml><?xml version="1.0" encoding="utf-8"?>
<p188:cmLst xmlns:a="http://schemas.openxmlformats.org/drawingml/2006/main" xmlns:r="http://schemas.openxmlformats.org/officeDocument/2006/relationships" xmlns:p188="http://schemas.microsoft.com/office/powerpoint/2018/8/main">
  <p188:cm id="{B4268FD4-4E93-4958-A63E-D01C0B7D41B4}" authorId="{D676369E-7A12-B6FF-8C47-FD7B1B99460E}" status="resolved" created="2026-06-15T05:28:42.337" complete="100000">
    <ac:txMkLst xmlns:ac="http://schemas.microsoft.com/office/drawing/2013/main/command">
      <pc:docMk xmlns:pc="http://schemas.microsoft.com/office/powerpoint/2013/main/command"/>
      <pc:sldMk xmlns:pc="http://schemas.microsoft.com/office/powerpoint/2013/main/command" cId="3951754715" sldId="327"/>
      <ac:spMk id="23" creationId="{67698010-10FC-1337-DC6E-CC4D2D30BBDA}"/>
      <ac:txMk cp="0" len="56">
        <ac:context len="76" hash="3742081657"/>
      </ac:txMk>
    </ac:txMkLst>
    <p188:pos x="7583009" y="229339"/>
    <p188:replyLst>
      <p188:reply id="{3A386CDF-91C7-42E3-BD6A-007CCA18E2E4}" authorId="{1876E8AE-C0AC-33F8-8899-FF4EAAD34C17}" created="2026-06-15T13:45:46.747">
        <p188:txBody>
          <a:bodyPr/>
          <a:lstStyle/>
          <a:p>
            <a:r>
              <a:rPr lang="en-CA"/>
              <a:t>Right, corrected</a:t>
            </a:r>
          </a:p>
        </p188:txBody>
      </p188:reply>
    </p188:replyLst>
    <p188:txBody>
      <a:bodyPr/>
      <a:lstStyle/>
      <a:p>
        <a:r>
          <a:rPr lang="en-US"/>
          <a:t>@jiang.bai@mail.mcgill.ca I think they use bench and fill and a narrow vein gold mine so its a single face.</a:t>
        </a:r>
      </a:p>
    </p188:txBody>
  </p188:cm>
</p188:cmLst>
</file>

<file path=ppt/comments/modernComment_158_78C8DF1.xml><?xml version="1.0" encoding="utf-8"?>
<p188:cmLst xmlns:a="http://schemas.openxmlformats.org/drawingml/2006/main" xmlns:r="http://schemas.openxmlformats.org/officeDocument/2006/relationships" xmlns:p188="http://schemas.microsoft.com/office/powerpoint/2018/8/main">
  <p188:cm id="{642B3501-AAE7-43CC-BB1D-093543DA3723}" authorId="{D676369E-7A12-B6FF-8C47-FD7B1B99460E}" created="2026-06-15T13:44:09.629">
    <ac:txMkLst xmlns:ac="http://schemas.microsoft.com/office/drawing/2013/main/command">
      <pc:docMk xmlns:pc="http://schemas.microsoft.com/office/powerpoint/2013/main/command"/>
      <pc:sldMk xmlns:pc="http://schemas.microsoft.com/office/powerpoint/2013/main/command" cId="126651889" sldId="344"/>
      <ac:spMk id="5" creationId="{78F19561-0DB3-F141-E95B-7857A8168495}"/>
      <ac:txMk cp="458" len="341">
        <ac:context len="801" hash="1650093541"/>
      </ac:txMk>
    </ac:txMkLst>
    <p188:pos x="1257669" y="2226815"/>
    <p188:replyLst>
      <p188:reply id="{9B668707-D642-42CA-827B-320CADA8A4EA}" authorId="{D676369E-7A12-B6FF-8C47-FD7B1B99460E}" created="2026-06-15T13:44:41.208">
        <p188:txBody>
          <a:bodyPr/>
          <a:lstStyle/>
          <a:p>
            <a:r>
              <a:rPr lang="en-US"/>
              <a:t>but they justify the use of the single mode and guide us in our next decisions. could allow for some nice feedback from navarra. </a:t>
            </a:r>
          </a:p>
        </p188:txBody>
      </p188:reply>
    </p188:replyLst>
    <p188:txBody>
      <a:bodyPr/>
      <a:lstStyle/>
      <a:p>
        <a:r>
          <a:rPr lang="en-US"/>
          <a:t>use these to justify and make hypothesis 
the results are probably "too good" because we have not explicity modelled these. </a:t>
        </a:r>
      </a:p>
    </p188:txBody>
  </p188:cm>
</p188:cmLst>
</file>

<file path=ppt/comments/modernComment_159_DD029940.xml><?xml version="1.0" encoding="utf-8"?>
<p188:cmLst xmlns:a="http://schemas.openxmlformats.org/drawingml/2006/main" xmlns:r="http://schemas.openxmlformats.org/officeDocument/2006/relationships" xmlns:p188="http://schemas.microsoft.com/office/powerpoint/2018/8/main">
  <p188:cm id="{9F8028D4-BAE5-40B5-AE47-A5B41F523555}" authorId="{1876E8AE-C0AC-33F8-8899-FF4EAAD34C17}" created="2026-06-15T15:07:09.956">
    <ac:deMkLst xmlns:ac="http://schemas.microsoft.com/office/drawing/2013/main/command">
      <pc:docMk xmlns:pc="http://schemas.microsoft.com/office/powerpoint/2013/main/command"/>
      <pc:sldMk xmlns:pc="http://schemas.microsoft.com/office/powerpoint/2013/main/command" cId="3707935040" sldId="345"/>
      <ac:spMk id="2" creationId="{47438278-ADC0-7FFF-7346-71FDAE66CEE9}"/>
    </ac:deMkLst>
    <p188:txBody>
      <a:bodyPr/>
      <a:lstStyle/>
      <a:p>
        <a:r>
          <a:rPr lang="en-CA"/>
          <a:t>Do you want to add a title?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6D1EAE-EA28-43B5-B662-A4C75566DF8B}" type="datetimeFigureOut">
              <a:rPr lang="en-CA" smtClean="0"/>
              <a:t>2026-08-13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EBE6DF-7454-41B4-8924-747A6E6A44B2}" type="slidenum">
              <a:rPr lang="en-CA" smtClean="0"/>
              <a:t>‹#›</a:t>
            </a:fld>
            <a:endParaRPr lang="en-CA"/>
          </a:p>
        </p:txBody>
      </p:sp>
    </p:spTree>
    <p:extLst>
      <p:ext uri="{BB962C8B-B14F-4D97-AF65-F5344CB8AC3E}">
        <p14:creationId xmlns:p14="http://schemas.microsoft.com/office/powerpoint/2010/main" val="100064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0653909-39B2-40EA-BD96-2C48DFC014B3}" type="slidenum">
              <a:rPr lang="en-CA" smtClean="0"/>
              <a:t>2</a:t>
            </a:fld>
            <a:endParaRPr lang="en-CA"/>
          </a:p>
        </p:txBody>
      </p:sp>
    </p:spTree>
    <p:extLst>
      <p:ext uri="{BB962C8B-B14F-4D97-AF65-F5344CB8AC3E}">
        <p14:creationId xmlns:p14="http://schemas.microsoft.com/office/powerpoint/2010/main" val="3961263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B3903-DD5C-6345-6880-3E62FB2E5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B98BAE-901B-4D97-C358-2D71A22CDF0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71D16EA-F638-FF8F-47EE-B4FE454F6ED2}"/>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DA44999-5B52-B714-0BC7-582ADCADB86D}"/>
              </a:ext>
            </a:extLst>
          </p:cNvPr>
          <p:cNvSpPr>
            <a:spLocks noGrp="1"/>
          </p:cNvSpPr>
          <p:nvPr>
            <p:ph type="sldNum" sz="quarter" idx="5"/>
          </p:nvPr>
        </p:nvSpPr>
        <p:spPr/>
        <p:txBody>
          <a:bodyPr/>
          <a:lstStyle/>
          <a:p>
            <a:fld id="{F0653909-39B2-40EA-BD96-2C48DFC014B3}" type="slidenum">
              <a:rPr lang="en-CA" smtClean="0"/>
              <a:t>3</a:t>
            </a:fld>
            <a:endParaRPr lang="en-CA"/>
          </a:p>
        </p:txBody>
      </p:sp>
    </p:spTree>
    <p:extLst>
      <p:ext uri="{BB962C8B-B14F-4D97-AF65-F5344CB8AC3E}">
        <p14:creationId xmlns:p14="http://schemas.microsoft.com/office/powerpoint/2010/main" val="2136383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38FA3-9418-B428-A873-14A7F625B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C710F-28BA-7D87-1C0C-E0874BE42145}"/>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D43438FA-CF6B-03E1-550F-68124F2E5FC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4529F4B1-4E34-A621-9693-9177A594D7F3}"/>
              </a:ext>
            </a:extLst>
          </p:cNvPr>
          <p:cNvSpPr>
            <a:spLocks noGrp="1"/>
          </p:cNvSpPr>
          <p:nvPr>
            <p:ph type="sldNum" sz="quarter" idx="5"/>
          </p:nvPr>
        </p:nvSpPr>
        <p:spPr/>
        <p:txBody>
          <a:bodyPr/>
          <a:lstStyle/>
          <a:p>
            <a:fld id="{F0653909-39B2-40EA-BD96-2C48DFC014B3}" type="slidenum">
              <a:rPr lang="en-CA" smtClean="0"/>
              <a:t>6</a:t>
            </a:fld>
            <a:endParaRPr lang="en-CA"/>
          </a:p>
        </p:txBody>
      </p:sp>
    </p:spTree>
    <p:extLst>
      <p:ext uri="{BB962C8B-B14F-4D97-AF65-F5344CB8AC3E}">
        <p14:creationId xmlns:p14="http://schemas.microsoft.com/office/powerpoint/2010/main" val="4184788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FC29-B223-E901-4D5D-EC98EDCE8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42A0F-56AB-C74F-4676-E41C1F7D732B}"/>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7DEBC01-A11C-D5F1-E218-FE35B4FD959E}"/>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3A2A4FCE-36E8-56E3-2E4B-C1C64EFD75F7}"/>
              </a:ext>
            </a:extLst>
          </p:cNvPr>
          <p:cNvSpPr>
            <a:spLocks noGrp="1"/>
          </p:cNvSpPr>
          <p:nvPr>
            <p:ph type="sldNum" sz="quarter" idx="5"/>
          </p:nvPr>
        </p:nvSpPr>
        <p:spPr/>
        <p:txBody>
          <a:bodyPr/>
          <a:lstStyle/>
          <a:p>
            <a:fld id="{F0653909-39B2-40EA-BD96-2C48DFC014B3}" type="slidenum">
              <a:rPr lang="en-CA" smtClean="0"/>
              <a:t>10</a:t>
            </a:fld>
            <a:endParaRPr lang="en-CA"/>
          </a:p>
        </p:txBody>
      </p:sp>
    </p:spTree>
    <p:extLst>
      <p:ext uri="{BB962C8B-B14F-4D97-AF65-F5344CB8AC3E}">
        <p14:creationId xmlns:p14="http://schemas.microsoft.com/office/powerpoint/2010/main" val="1462353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DFF38-4999-1663-CBF2-CE406EF91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1CC75-D2B1-AA6E-ECD7-4B0A134742CB}"/>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4D3E7A9-D627-2843-19F9-65E59F9D0A70}"/>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241B2A69-8E58-F231-94BD-788E128475C8}"/>
              </a:ext>
            </a:extLst>
          </p:cNvPr>
          <p:cNvSpPr>
            <a:spLocks noGrp="1"/>
          </p:cNvSpPr>
          <p:nvPr>
            <p:ph type="sldNum" sz="quarter" idx="5"/>
          </p:nvPr>
        </p:nvSpPr>
        <p:spPr/>
        <p:txBody>
          <a:bodyPr/>
          <a:lstStyle/>
          <a:p>
            <a:fld id="{F0653909-39B2-40EA-BD96-2C48DFC014B3}" type="slidenum">
              <a:rPr lang="en-CA" smtClean="0"/>
              <a:t>15</a:t>
            </a:fld>
            <a:endParaRPr lang="en-CA"/>
          </a:p>
        </p:txBody>
      </p:sp>
    </p:spTree>
    <p:extLst>
      <p:ext uri="{BB962C8B-B14F-4D97-AF65-F5344CB8AC3E}">
        <p14:creationId xmlns:p14="http://schemas.microsoft.com/office/powerpoint/2010/main" val="540839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08EBE6DF-7454-41B4-8924-747A6E6A44B2}" type="slidenum">
              <a:rPr lang="en-CA" smtClean="0"/>
              <a:t>16</a:t>
            </a:fld>
            <a:endParaRPr lang="en-CA"/>
          </a:p>
        </p:txBody>
      </p:sp>
    </p:spTree>
    <p:extLst>
      <p:ext uri="{BB962C8B-B14F-4D97-AF65-F5344CB8AC3E}">
        <p14:creationId xmlns:p14="http://schemas.microsoft.com/office/powerpoint/2010/main" val="1876222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9BE7A-C84A-A259-0F53-957783009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85EAA-8C9C-C62F-10FB-BD66DF87298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7C7E342-0DD2-ED59-0918-BE7FC1D280A9}"/>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62E5EB32-B9D5-354B-3C6F-F927CEE28E5B}"/>
              </a:ext>
            </a:extLst>
          </p:cNvPr>
          <p:cNvSpPr>
            <a:spLocks noGrp="1"/>
          </p:cNvSpPr>
          <p:nvPr>
            <p:ph type="sldNum" sz="quarter" idx="5"/>
          </p:nvPr>
        </p:nvSpPr>
        <p:spPr/>
        <p:txBody>
          <a:bodyPr/>
          <a:lstStyle/>
          <a:p>
            <a:fld id="{F0653909-39B2-40EA-BD96-2C48DFC014B3}" type="slidenum">
              <a:rPr lang="en-CA" smtClean="0"/>
              <a:t>21</a:t>
            </a:fld>
            <a:endParaRPr lang="en-CA"/>
          </a:p>
        </p:txBody>
      </p:sp>
    </p:spTree>
    <p:extLst>
      <p:ext uri="{BB962C8B-B14F-4D97-AF65-F5344CB8AC3E}">
        <p14:creationId xmlns:p14="http://schemas.microsoft.com/office/powerpoint/2010/main" val="301893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0D317-57B6-8975-FAA4-9C6420E2B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84CC0-ED26-F03E-0B76-20FC28B05F4D}"/>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ADCBE75-36E7-C4BC-B18B-D905AA061054}"/>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3E8DCDE-F8DA-82F5-1FDD-64AC2134092F}"/>
              </a:ext>
            </a:extLst>
          </p:cNvPr>
          <p:cNvSpPr>
            <a:spLocks noGrp="1"/>
          </p:cNvSpPr>
          <p:nvPr>
            <p:ph type="sldNum" sz="quarter" idx="5"/>
          </p:nvPr>
        </p:nvSpPr>
        <p:spPr/>
        <p:txBody>
          <a:bodyPr/>
          <a:lstStyle/>
          <a:p>
            <a:fld id="{F0653909-39B2-40EA-BD96-2C48DFC014B3}" type="slidenum">
              <a:rPr lang="en-CA" smtClean="0"/>
              <a:t>24</a:t>
            </a:fld>
            <a:endParaRPr lang="en-CA"/>
          </a:p>
        </p:txBody>
      </p:sp>
    </p:spTree>
    <p:extLst>
      <p:ext uri="{BB962C8B-B14F-4D97-AF65-F5344CB8AC3E}">
        <p14:creationId xmlns:p14="http://schemas.microsoft.com/office/powerpoint/2010/main" val="3813077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B9346-7358-94DC-1071-DB5D8F650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574DE-0B56-D70D-E076-1ADA94F620B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63584CE6-B2F4-0C7D-F6D6-2505ADD5A7AD}"/>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DCEF2862-97E4-5E17-254E-2D3A3BC8558B}"/>
              </a:ext>
            </a:extLst>
          </p:cNvPr>
          <p:cNvSpPr>
            <a:spLocks noGrp="1"/>
          </p:cNvSpPr>
          <p:nvPr>
            <p:ph type="sldNum" sz="quarter" idx="5"/>
          </p:nvPr>
        </p:nvSpPr>
        <p:spPr/>
        <p:txBody>
          <a:bodyPr/>
          <a:lstStyle/>
          <a:p>
            <a:fld id="{F0653909-39B2-40EA-BD96-2C48DFC014B3}" type="slidenum">
              <a:rPr lang="en-CA" smtClean="0"/>
              <a:t>27</a:t>
            </a:fld>
            <a:endParaRPr lang="en-CA"/>
          </a:p>
        </p:txBody>
      </p:sp>
    </p:spTree>
    <p:extLst>
      <p:ext uri="{BB962C8B-B14F-4D97-AF65-F5344CB8AC3E}">
        <p14:creationId xmlns:p14="http://schemas.microsoft.com/office/powerpoint/2010/main" val="1957797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4" name="Straight Connector 3"/>
          <p:cNvCxnSpPr/>
          <p:nvPr userDrawn="1"/>
        </p:nvCxnSpPr>
        <p:spPr>
          <a:xfrm>
            <a:off x="5158451" y="2650603"/>
            <a:ext cx="1635888" cy="0"/>
          </a:xfrm>
          <a:prstGeom prst="line">
            <a:avLst/>
          </a:prstGeom>
          <a:ln w="76200">
            <a:solidFill>
              <a:srgbClr val="E31B2F"/>
            </a:solidFill>
          </a:ln>
        </p:spPr>
        <p:style>
          <a:lnRef idx="1">
            <a:schemeClr val="accent1"/>
          </a:lnRef>
          <a:fillRef idx="0">
            <a:schemeClr val="accent1"/>
          </a:fillRef>
          <a:effectRef idx="0">
            <a:schemeClr val="accent1"/>
          </a:effectRef>
          <a:fontRef idx="minor">
            <a:schemeClr val="tx1"/>
          </a:fontRef>
        </p:style>
      </p:cxnSp>
      <p:sp>
        <p:nvSpPr>
          <p:cNvPr id="10" name="Title 15"/>
          <p:cNvSpPr>
            <a:spLocks noGrp="1"/>
          </p:cNvSpPr>
          <p:nvPr>
            <p:ph type="title" hasCustomPrompt="1"/>
          </p:nvPr>
        </p:nvSpPr>
        <p:spPr>
          <a:xfrm>
            <a:off x="5158451" y="3023719"/>
            <a:ext cx="6740323" cy="2555278"/>
          </a:xfrm>
        </p:spPr>
        <p:txBody>
          <a:bodyPr wrap="none" lIns="0" tIns="0" rIns="0" bIns="0" anchor="t" anchorCtr="0">
            <a:noAutofit/>
          </a:bodyPr>
          <a:lstStyle>
            <a:lvl1pPr>
              <a:defRPr sz="4400" b="1">
                <a:solidFill>
                  <a:schemeClr val="tx1"/>
                </a:solidFill>
              </a:defRPr>
            </a:lvl1pPr>
          </a:lstStyle>
          <a:p>
            <a:r>
              <a:rPr lang="en-US"/>
              <a:t>Main title goes here</a:t>
            </a:r>
            <a:br>
              <a:rPr lang="en-US"/>
            </a:br>
            <a:r>
              <a:rPr lang="en-US"/>
              <a:t>Text goes here</a:t>
            </a:r>
          </a:p>
        </p:txBody>
      </p:sp>
      <p:sp>
        <p:nvSpPr>
          <p:cNvPr id="3" name="Picture Placeholder 2"/>
          <p:cNvSpPr>
            <a:spLocks noGrp="1"/>
          </p:cNvSpPr>
          <p:nvPr>
            <p:ph type="pic" sz="quarter" idx="10"/>
          </p:nvPr>
        </p:nvSpPr>
        <p:spPr>
          <a:xfrm>
            <a:off x="7685591" y="5753100"/>
            <a:ext cx="4239710" cy="838200"/>
          </a:xfrm>
        </p:spPr>
        <p:txBody>
          <a:bodyPr/>
          <a:lstStyle/>
          <a:p>
            <a:endParaRPr lang="en-US"/>
          </a:p>
        </p:txBody>
      </p:sp>
    </p:spTree>
    <p:extLst>
      <p:ext uri="{BB962C8B-B14F-4D97-AF65-F5344CB8AC3E}">
        <p14:creationId xmlns:p14="http://schemas.microsoft.com/office/powerpoint/2010/main" val="1742007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2B_9A61688E.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00_0.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47_EB8AFDDB.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06_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4B_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09_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0B_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5A_10B03EAC.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5B_A7BF3F25.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58_78C8DF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159_DD029940.xml"/><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icon&#10;&#10;Description automatically generated">
            <a:extLst>
              <a:ext uri="{FF2B5EF4-FFF2-40B4-BE49-F238E27FC236}">
                <a16:creationId xmlns:a16="http://schemas.microsoft.com/office/drawing/2014/main" id="{65706245-6EC5-4120-A0E0-80F828E22F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0130" y="6091702"/>
            <a:ext cx="2952672" cy="465796"/>
          </a:xfrm>
          <a:prstGeom prst="rect">
            <a:avLst/>
          </a:prstGeom>
        </p:spPr>
      </p:pic>
      <p:sp>
        <p:nvSpPr>
          <p:cNvPr id="17" name="Rectangle 16">
            <a:extLst>
              <a:ext uri="{FF2B5EF4-FFF2-40B4-BE49-F238E27FC236}">
                <a16:creationId xmlns:a16="http://schemas.microsoft.com/office/drawing/2014/main" id="{0B972BAC-6B36-428D-A193-DF029AB5E47B}"/>
              </a:ext>
            </a:extLst>
          </p:cNvPr>
          <p:cNvSpPr/>
          <p:nvPr/>
        </p:nvSpPr>
        <p:spPr>
          <a:xfrm>
            <a:off x="8900932" y="5999747"/>
            <a:ext cx="3291068" cy="858253"/>
          </a:xfrm>
          <a:prstGeom prst="rect">
            <a:avLst/>
          </a:prstGeom>
          <a:solidFill>
            <a:srgbClr val="E31B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title 2">
            <a:extLst>
              <a:ext uri="{FF2B5EF4-FFF2-40B4-BE49-F238E27FC236}">
                <a16:creationId xmlns:a16="http://schemas.microsoft.com/office/drawing/2014/main" id="{07902C64-0A75-0384-974A-666C44992DB5}"/>
              </a:ext>
            </a:extLst>
          </p:cNvPr>
          <p:cNvSpPr txBox="1">
            <a:spLocks/>
          </p:cNvSpPr>
          <p:nvPr/>
        </p:nvSpPr>
        <p:spPr>
          <a:xfrm>
            <a:off x="4603254" y="3857294"/>
            <a:ext cx="6426695" cy="216428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457200">
              <a:spcBef>
                <a:spcPct val="0"/>
              </a:spcBef>
              <a:buNone/>
            </a:pPr>
            <a:r>
              <a:rPr sz="1400" b="1" dirty="0">
                <a:latin typeface="Calibri"/>
              </a:rPr>
              <a:t>A Two-Area Production–Development Case Study</a:t>
            </a:r>
            <a:endParaRPr lang="en-CA" sz="1600" b="1" dirty="0">
              <a:latin typeface="+mj-lt"/>
              <a:ea typeface="+mj-ea"/>
              <a:cs typeface="+mj-cs"/>
            </a:endParaRPr>
          </a:p>
        </p:txBody>
      </p:sp>
      <p:pic>
        <p:nvPicPr>
          <p:cNvPr id="5" name="Picture 4">
            <a:extLst>
              <a:ext uri="{FF2B5EF4-FFF2-40B4-BE49-F238E27FC236}">
                <a16:creationId xmlns:a16="http://schemas.microsoft.com/office/drawing/2014/main" id="{2AE4557D-2FA2-F852-BD78-C18D371E31A8}"/>
              </a:ext>
            </a:extLst>
          </p:cNvPr>
          <p:cNvPicPr>
            <a:picLocks noChangeAspect="1"/>
          </p:cNvPicPr>
          <p:nvPr/>
        </p:nvPicPr>
        <p:blipFill>
          <a:blip r:embed="rId3"/>
          <a:stretch>
            <a:fillRect/>
          </a:stretch>
        </p:blipFill>
        <p:spPr>
          <a:xfrm>
            <a:off x="8696130" y="5829825"/>
            <a:ext cx="3578685" cy="1102819"/>
          </a:xfrm>
          <a:prstGeom prst="rect">
            <a:avLst/>
          </a:prstGeom>
        </p:spPr>
      </p:pic>
      <p:sp>
        <p:nvSpPr>
          <p:cNvPr id="7" name="Rectangle 3">
            <a:extLst>
              <a:ext uri="{FF2B5EF4-FFF2-40B4-BE49-F238E27FC236}">
                <a16:creationId xmlns:a16="http://schemas.microsoft.com/office/drawing/2014/main" id="{DDC33D08-CB45-328A-08CF-9FF71375A1E3}"/>
              </a:ext>
            </a:extLst>
          </p:cNvPr>
          <p:cNvSpPr>
            <a:spLocks noGrp="1" noChangeArrowheads="1"/>
          </p:cNvSpPr>
          <p:nvPr>
            <p:ph type="title"/>
          </p:nvPr>
        </p:nvSpPr>
        <p:spPr bwMode="auto">
          <a:xfrm>
            <a:off x="3853089" y="2905577"/>
            <a:ext cx="803411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sz="2600" b="1" dirty="0">
                <a:solidFill>
                  <a:srgbClr val="202020"/>
                </a:solidFill>
                <a:latin typeface="Calibri"/>
              </a:rPr>
              <a:t>Integrating Strategic, Tactical and Operational Decision-Making in Mining Using Discrete Rate Simulation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Subtitle 2">
            <a:extLst>
              <a:ext uri="{FF2B5EF4-FFF2-40B4-BE49-F238E27FC236}">
                <a16:creationId xmlns:a16="http://schemas.microsoft.com/office/drawing/2014/main" id="{B4DA8421-B2EC-D5DE-4FCC-A666EC7F3EF9}"/>
              </a:ext>
            </a:extLst>
          </p:cNvPr>
          <p:cNvSpPr txBox="1">
            <a:spLocks/>
          </p:cNvSpPr>
          <p:nvPr/>
        </p:nvSpPr>
        <p:spPr>
          <a:xfrm>
            <a:off x="4850402" y="4244109"/>
            <a:ext cx="6426695" cy="216428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457200">
              <a:spcBef>
                <a:spcPct val="0"/>
              </a:spcBef>
              <a:buNone/>
            </a:pPr>
            <a:r>
              <a:rPr sz="1200" b="1" dirty="0">
                <a:solidFill>
                  <a:srgbClr val="202020"/>
                </a:solidFill>
                <a:latin typeface="Calibri"/>
              </a:rPr>
              <a:t>By</a:t>
            </a:r>
          </a:p>
          <a:p>
            <a:pPr marL="0" indent="0" algn="ctr">
              <a:buNone/>
            </a:pPr>
            <a:r>
              <a:rPr sz="1200" b="1" dirty="0">
                <a:solidFill>
                  <a:srgbClr val="202020"/>
                </a:solidFill>
                <a:latin typeface="Calibri"/>
              </a:rPr>
              <a:t>Jiang Bai</a:t>
            </a:r>
          </a:p>
          <a:p>
            <a:pPr marL="0" indent="0" algn="ctr">
              <a:buNone/>
            </a:pPr>
            <a:r>
              <a:rPr sz="1200" b="1" dirty="0">
                <a:solidFill>
                  <a:srgbClr val="202020"/>
                </a:solidFill>
                <a:latin typeface="Calibri"/>
              </a:rPr>
              <a:t>Jonathan Lamontagne Kratz</a:t>
            </a:r>
          </a:p>
        </p:txBody>
      </p:sp>
    </p:spTree>
    <p:extLst>
      <p:ext uri="{BB962C8B-B14F-4D97-AF65-F5344CB8AC3E}">
        <p14:creationId xmlns:p14="http://schemas.microsoft.com/office/powerpoint/2010/main" val="262457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BB38C-1433-DDDF-E945-8B6A5005D42F}"/>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94A610F3-5BAA-13C1-D995-FAAEBFDE3D39}"/>
              </a:ext>
            </a:extLst>
          </p:cNvPr>
          <p:cNvSpPr>
            <a:spLocks noGrp="1" noChangeArrowheads="1"/>
          </p:cNvSpPr>
          <p:nvPr>
            <p:ph type="ctrTitle"/>
          </p:nvPr>
        </p:nvSpPr>
        <p:spPr bwMode="auto">
          <a:xfrm>
            <a:off x="964245" y="419041"/>
            <a:ext cx="336976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en-CA" altLang="en-US" sz="3600" b="0" i="0" u="none" strike="noStrike" cap="none" normalizeH="0" baseline="0">
                <a:ln>
                  <a:noFill/>
                </a:ln>
                <a:solidFill>
                  <a:srgbClr val="000000"/>
                </a:solidFill>
                <a:effectLst/>
                <a:latin typeface="Aptos" panose="020B0004020202020204" pitchFamily="34" charset="0"/>
              </a:rPr>
              <a:t>Table of content</a:t>
            </a:r>
            <a:endParaRPr kumimoji="0" lang="en-US" altLang="en-US" sz="4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41D888D4-1ABA-FC0C-CE9B-1985F693220F}"/>
              </a:ext>
            </a:extLst>
          </p:cNvPr>
          <p:cNvPicPr>
            <a:picLocks noChangeAspect="1"/>
          </p:cNvPicPr>
          <p:nvPr/>
        </p:nvPicPr>
        <p:blipFill>
          <a:blip r:embed="rId3"/>
          <a:stretch>
            <a:fillRect/>
          </a:stretch>
        </p:blipFill>
        <p:spPr>
          <a:xfrm>
            <a:off x="9672112" y="153941"/>
            <a:ext cx="2519888" cy="691833"/>
          </a:xfrm>
          <a:prstGeom prst="rect">
            <a:avLst/>
          </a:prstGeom>
        </p:spPr>
      </p:pic>
      <p:sp>
        <p:nvSpPr>
          <p:cNvPr id="2" name="Slide Number Placeholder 1">
            <a:extLst>
              <a:ext uri="{FF2B5EF4-FFF2-40B4-BE49-F238E27FC236}">
                <a16:creationId xmlns:a16="http://schemas.microsoft.com/office/drawing/2014/main" id="{2549E707-F950-531E-5E92-C90EAA8EB27F}"/>
              </a:ext>
            </a:extLst>
          </p:cNvPr>
          <p:cNvSpPr>
            <a:spLocks noGrp="1"/>
          </p:cNvSpPr>
          <p:nvPr>
            <p:ph type="sldNum" sz="quarter" idx="12"/>
          </p:nvPr>
        </p:nvSpPr>
        <p:spPr/>
        <p:txBody>
          <a:bodyPr/>
          <a:lstStyle/>
          <a:p>
            <a:pPr algn="ctr"/>
            <a:r>
              <a:rPr sz="900">
                <a:solidFill>
                  <a:srgbClr val="5C5C5C"/>
                </a:solidFill>
                <a:latin typeface="Calibri"/>
              </a:rPr>
              <a:t>2</a:t>
            </a:r>
          </a:p>
        </p:txBody>
      </p:sp>
      <p:cxnSp>
        <p:nvCxnSpPr>
          <p:cNvPr id="9" name="Straight Connector 8">
            <a:extLst>
              <a:ext uri="{FF2B5EF4-FFF2-40B4-BE49-F238E27FC236}">
                <a16:creationId xmlns:a16="http://schemas.microsoft.com/office/drawing/2014/main" id="{A4663068-E2D6-642B-EF1A-D555C723D792}"/>
              </a:ext>
            </a:extLst>
          </p:cNvPr>
          <p:cNvCxnSpPr/>
          <p:nvPr/>
        </p:nvCxnSpPr>
        <p:spPr>
          <a:xfrm>
            <a:off x="942975" y="1114425"/>
            <a:ext cx="67818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Subtitle 4">
            <a:extLst>
              <a:ext uri="{FF2B5EF4-FFF2-40B4-BE49-F238E27FC236}">
                <a16:creationId xmlns:a16="http://schemas.microsoft.com/office/drawing/2014/main" id="{C3842100-6D90-232D-53ED-0C3F390FA841}"/>
              </a:ext>
            </a:extLst>
          </p:cNvPr>
          <p:cNvSpPr>
            <a:spLocks noGrp="1"/>
          </p:cNvSpPr>
          <p:nvPr>
            <p:ph type="subTitle" idx="1"/>
          </p:nvPr>
        </p:nvSpPr>
        <p:spPr>
          <a:xfrm>
            <a:off x="1038639" y="1617525"/>
            <a:ext cx="9144000" cy="3666994"/>
          </a:xfrm>
        </p:spPr>
        <p:txBody>
          <a:bodyPr wrap="square">
            <a:normAutofit/>
          </a:bodyPr>
          <a:lstStyle/>
          <a:p>
            <a:pPr algn="l"/>
            <a:r>
              <a:rPr sz="1800" dirty="0">
                <a:solidFill>
                  <a:srgbClr val="202020"/>
                </a:solidFill>
                <a:latin typeface="Calibri"/>
              </a:rPr>
              <a:t>1. Research Objective and Scope</a:t>
            </a:r>
          </a:p>
          <a:p>
            <a:pPr algn="l"/>
            <a:r>
              <a:rPr sz="1800" dirty="0">
                <a:solidFill>
                  <a:srgbClr val="202020"/>
                </a:solidFill>
                <a:latin typeface="Calibri"/>
              </a:rPr>
              <a:t>2. Background and Research Gap</a:t>
            </a:r>
          </a:p>
          <a:p>
            <a:pPr algn="l"/>
            <a:r>
              <a:rPr sz="1800" dirty="0">
                <a:solidFill>
                  <a:srgbClr val="202020"/>
                </a:solidFill>
                <a:latin typeface="Calibri"/>
              </a:rPr>
              <a:t>3. Strategic–Tactical–Operational &amp; Hybrid DRS–DES Framework</a:t>
            </a:r>
          </a:p>
          <a:p>
            <a:pPr algn="l"/>
            <a:r>
              <a:rPr sz="1800" dirty="0">
                <a:solidFill>
                  <a:srgbClr val="202020"/>
                </a:solidFill>
                <a:latin typeface="Calibri"/>
              </a:rPr>
              <a:t>4. Illustrative Two-Area Mining Case</a:t>
            </a:r>
          </a:p>
          <a:p>
            <a:pPr algn="l"/>
            <a:r>
              <a:rPr sz="1800" dirty="0">
                <a:solidFill>
                  <a:srgbClr val="202020"/>
                </a:solidFill>
                <a:latin typeface="Calibri"/>
              </a:rPr>
              <a:t>5. Tactical Configuration and Operational Resource Policies</a:t>
            </a:r>
          </a:p>
          <a:p>
            <a:pPr algn="l"/>
            <a:r>
              <a:rPr sz="1800" dirty="0">
                <a:solidFill>
                  <a:srgbClr val="202020"/>
                </a:solidFill>
                <a:latin typeface="Calibri"/>
              </a:rPr>
              <a:t>6. Evaluation Framework</a:t>
            </a:r>
          </a:p>
          <a:p>
            <a:pPr algn="l"/>
            <a:r>
              <a:rPr sz="1800" dirty="0">
                <a:solidFill>
                  <a:srgbClr val="202020"/>
                </a:solidFill>
                <a:latin typeface="Calibri"/>
              </a:rPr>
              <a:t>7. Expected Contribution and Next Steps</a:t>
            </a:r>
          </a:p>
          <a:p>
            <a:pPr algn="l"/>
            <a:r>
              <a:rPr sz="1800" dirty="0">
                <a:solidFill>
                  <a:srgbClr val="202020"/>
                </a:solidFill>
                <a:latin typeface="Calibri"/>
              </a:rPr>
              <a:t>8. Appendix</a:t>
            </a:r>
          </a:p>
        </p:txBody>
      </p:sp>
    </p:spTree>
    <p:extLst>
      <p:ext uri="{BB962C8B-B14F-4D97-AF65-F5344CB8AC3E}">
        <p14:creationId xmlns:p14="http://schemas.microsoft.com/office/powerpoint/2010/main" val="145242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26EC-D191-FF46-10B4-ACC69C67B8A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3154DD3-5731-A336-EE29-77D3E0FF9C77}"/>
              </a:ext>
            </a:extLst>
          </p:cNvPr>
          <p:cNvSpPr>
            <a:spLocks noGrp="1"/>
          </p:cNvSpPr>
          <p:nvPr>
            <p:ph type="ctrTitle"/>
          </p:nvPr>
        </p:nvSpPr>
        <p:spPr>
          <a:xfrm>
            <a:off x="923460" y="759756"/>
            <a:ext cx="5629739" cy="4567137"/>
          </a:xfrm>
        </p:spPr>
        <p:txBody>
          <a:bodyPr wrap="square">
            <a:normAutofit/>
          </a:bodyPr>
          <a:lstStyle/>
          <a:p>
            <a:pPr algn="l">
              <a:lnSpc>
                <a:spcPct val="100000"/>
              </a:lnSpc>
            </a:pPr>
            <a:r>
              <a:rPr sz="2400" b="0">
                <a:solidFill>
                  <a:srgbClr val="202020"/>
                </a:solidFill>
                <a:latin typeface="Calibri"/>
              </a:rPr>
              <a:t>Research Objective and Scope</a:t>
            </a:r>
          </a:p>
        </p:txBody>
      </p:sp>
      <p:pic>
        <p:nvPicPr>
          <p:cNvPr id="2050" name="Picture 2">
            <a:extLst>
              <a:ext uri="{FF2B5EF4-FFF2-40B4-BE49-F238E27FC236}">
                <a16:creationId xmlns:a16="http://schemas.microsoft.com/office/drawing/2014/main" id="{5733DE95-B22D-8A8F-A628-DD6F44BE1528}"/>
              </a:ext>
            </a:extLst>
          </p:cNvPr>
          <p:cNvPicPr>
            <a:picLocks noChangeArrowheads="1"/>
          </p:cNvPicPr>
          <p:nvPr/>
        </p:nvPicPr>
        <p:blipFill rotWithShape="1">
          <a:blip r:embed="rId3"/>
          <a:srcRect l="-3318" r="23626"/>
          <a:stretch>
            <a:fillRect/>
          </a:stretch>
        </p:blipFill>
        <p:spPr bwMode="auto">
          <a:xfrm>
            <a:off x="6229215" y="10"/>
            <a:ext cx="5962785" cy="6904762"/>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F1038DD-1331-BAC0-4B63-15AEBAC2B1A7}"/>
              </a:ext>
            </a:extLst>
          </p:cNvPr>
          <p:cNvSpPr>
            <a:spLocks noGrp="1"/>
          </p:cNvSpPr>
          <p:nvPr>
            <p:ph type="sldNum" sz="quarter" idx="12"/>
          </p:nvPr>
        </p:nvSpPr>
        <p:spPr>
          <a:xfrm>
            <a:off x="8610600" y="6356350"/>
            <a:ext cx="2743200" cy="365125"/>
          </a:xfrm>
        </p:spPr>
        <p:txBody>
          <a:bodyPr>
            <a:normAutofit/>
          </a:bodyPr>
          <a:lstStyle/>
          <a:p>
            <a:pPr algn="ctr"/>
            <a:r>
              <a:rPr sz="900">
                <a:solidFill>
                  <a:srgbClr val="5C5C5C"/>
                </a:solidFill>
                <a:latin typeface="Calibri"/>
              </a:rPr>
              <a:t>3</a:t>
            </a:r>
          </a:p>
        </p:txBody>
      </p:sp>
      <p:pic>
        <p:nvPicPr>
          <p:cNvPr id="8" name="Picture 7" descr="A red letter on a white background&#10;&#10;AI-generated content may be incorrect.">
            <a:extLst>
              <a:ext uri="{FF2B5EF4-FFF2-40B4-BE49-F238E27FC236}">
                <a16:creationId xmlns:a16="http://schemas.microsoft.com/office/drawing/2014/main" id="{8812B0A4-3CD7-5E42-9140-C92911687B05}"/>
              </a:ext>
            </a:extLst>
          </p:cNvPr>
          <p:cNvPicPr>
            <a:picLocks noChangeAspect="1"/>
          </p:cNvPicPr>
          <p:nvPr/>
        </p:nvPicPr>
        <p:blipFill>
          <a:blip r:embed="rId4"/>
          <a:stretch>
            <a:fillRect/>
          </a:stretch>
        </p:blipFill>
        <p:spPr>
          <a:xfrm>
            <a:off x="371265" y="6138312"/>
            <a:ext cx="2124075" cy="583163"/>
          </a:xfrm>
          <a:prstGeom prst="rect">
            <a:avLst/>
          </a:prstGeom>
        </p:spPr>
      </p:pic>
    </p:spTree>
    <p:extLst>
      <p:ext uri="{BB962C8B-B14F-4D97-AF65-F5344CB8AC3E}">
        <p14:creationId xmlns:p14="http://schemas.microsoft.com/office/powerpoint/2010/main" val="150756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2AE7BF7-C215-ACA9-6038-1FB3AF01669D}"/>
              </a:ext>
            </a:extLst>
          </p:cNvPr>
          <p:cNvPicPr>
            <a:picLocks noChangeAspect="1"/>
          </p:cNvPicPr>
          <p:nvPr/>
        </p:nvPicPr>
        <p:blipFill>
          <a:blip r:embed="rId3"/>
          <a:stretch>
            <a:fillRect/>
          </a:stretch>
        </p:blipFill>
        <p:spPr>
          <a:xfrm>
            <a:off x="9672112" y="153941"/>
            <a:ext cx="2519888" cy="691833"/>
          </a:xfrm>
          <a:prstGeom prst="rect">
            <a:avLst/>
          </a:prstGeom>
        </p:spPr>
      </p:pic>
      <p:sp>
        <p:nvSpPr>
          <p:cNvPr id="9" name="TextBox 8"/>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OBJECTIVE</a:t>
            </a:r>
          </a:p>
        </p:txBody>
      </p:sp>
      <p:sp>
        <p:nvSpPr>
          <p:cNvPr id="10" name="TextBox 9"/>
          <p:cNvSpPr txBox="1"/>
          <p:nvPr/>
        </p:nvSpPr>
        <p:spPr>
          <a:xfrm>
            <a:off x="530352" y="566928"/>
            <a:ext cx="9784080" cy="530352"/>
          </a:xfrm>
          <a:prstGeom prst="rect">
            <a:avLst/>
          </a:prstGeom>
          <a:noFill/>
        </p:spPr>
        <p:txBody>
          <a:bodyPr wrap="square" anchor="t">
            <a:spAutoFit/>
          </a:bodyPr>
          <a:lstStyle/>
          <a:p>
            <a:pPr algn="l"/>
            <a:r>
              <a:rPr sz="2600" b="1">
                <a:solidFill>
                  <a:srgbClr val="202020"/>
                </a:solidFill>
                <a:latin typeface="Calibri"/>
              </a:rPr>
              <a:t>Research Objective and Scope</a:t>
            </a:r>
          </a:p>
        </p:txBody>
      </p:sp>
      <p:sp>
        <p:nvSpPr>
          <p:cNvPr id="12" name="TextBox 11"/>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4</a:t>
            </a:r>
          </a:p>
        </p:txBody>
      </p:sp>
      <p:sp>
        <p:nvSpPr>
          <p:cNvPr id="13" name="TextBox 12"/>
          <p:cNvSpPr txBox="1"/>
          <p:nvPr/>
        </p:nvSpPr>
        <p:spPr>
          <a:xfrm>
            <a:off x="594360" y="1225296"/>
            <a:ext cx="2194560" cy="237744"/>
          </a:xfrm>
          <a:prstGeom prst="rect">
            <a:avLst/>
          </a:prstGeom>
          <a:noFill/>
        </p:spPr>
        <p:txBody>
          <a:bodyPr wrap="square" lIns="73152" tIns="73152" rIns="73152" bIns="73152" anchor="t">
            <a:spAutoFit/>
          </a:bodyPr>
          <a:lstStyle/>
          <a:p>
            <a:pPr algn="l"/>
            <a:r>
              <a:rPr sz="1400" b="1">
                <a:solidFill>
                  <a:srgbClr val="ED1B2F"/>
                </a:solidFill>
                <a:latin typeface="Calibri"/>
              </a:rPr>
              <a:t>Research objective</a:t>
            </a:r>
          </a:p>
        </p:txBody>
      </p:sp>
      <p:sp>
        <p:nvSpPr>
          <p:cNvPr id="14" name="TextBox 13"/>
          <p:cNvSpPr txBox="1"/>
          <p:nvPr/>
        </p:nvSpPr>
        <p:spPr>
          <a:xfrm>
            <a:off x="594360" y="1536192"/>
            <a:ext cx="10927080" cy="713232"/>
          </a:xfrm>
          <a:prstGeom prst="rect">
            <a:avLst/>
          </a:prstGeom>
          <a:noFill/>
        </p:spPr>
        <p:txBody>
          <a:bodyPr wrap="square" lIns="73152" tIns="73152" rIns="73152" bIns="73152" anchor="ctr">
            <a:spAutoFit/>
          </a:bodyPr>
          <a:lstStyle/>
          <a:p>
            <a:pPr algn="l"/>
            <a:r>
              <a:rPr sz="1800" b="0" dirty="0">
                <a:solidFill>
                  <a:srgbClr val="222222"/>
                </a:solidFill>
                <a:latin typeface="Calibri"/>
              </a:rPr>
              <a:t>Investigate how a mine-level strategic objective can be translated into tactical operating configurations / modes and operational resource-allocation decisions within a Discrete Rate Simulation</a:t>
            </a:r>
            <a:r>
              <a:rPr lang="en-CA" sz="1800" b="0" dirty="0">
                <a:solidFill>
                  <a:srgbClr val="222222"/>
                </a:solidFill>
                <a:latin typeface="Calibri"/>
              </a:rPr>
              <a:t> (DRS)</a:t>
            </a:r>
            <a:r>
              <a:rPr sz="1800" b="0" dirty="0">
                <a:solidFill>
                  <a:srgbClr val="222222"/>
                </a:solidFill>
                <a:latin typeface="Calibri"/>
              </a:rPr>
              <a:t> framework.</a:t>
            </a:r>
          </a:p>
        </p:txBody>
      </p:sp>
      <p:sp>
        <p:nvSpPr>
          <p:cNvPr id="15" name="Rounded Rectangle 14"/>
          <p:cNvSpPr/>
          <p:nvPr/>
        </p:nvSpPr>
        <p:spPr>
          <a:xfrm>
            <a:off x="640080" y="2487168"/>
            <a:ext cx="3456432" cy="2395728"/>
          </a:xfrm>
          <a:prstGeom prst="roundRect">
            <a:avLst/>
          </a:prstGeom>
          <a:solidFill>
            <a:srgbClr val="FFFFFF"/>
          </a:solidFill>
          <a:ln w="15240">
            <a:solidFill>
              <a:srgbClr val="D4D7DC"/>
            </a:solidFill>
          </a:ln>
        </p:spPr>
        <p:style>
          <a:lnRef idx="1">
            <a:schemeClr val="accent1"/>
          </a:lnRef>
          <a:fillRef idx="3">
            <a:schemeClr val="accent1"/>
          </a:fillRef>
          <a:effectRef idx="2">
            <a:schemeClr val="accent1"/>
          </a:effectRef>
          <a:fontRef idx="minor">
            <a:schemeClr val="lt1"/>
          </a:fontRef>
        </p:style>
        <p:txBody>
          <a:bodyPr wrap="square" lIns="219456" tIns="146304" rIns="164592" bIns="91440" rtlCol="0" anchor="ctr"/>
          <a:lstStyle/>
          <a:p>
            <a:pPr algn="ctr">
              <a:spcBef>
                <a:spcPts val="0"/>
              </a:spcBef>
              <a:spcAft>
                <a:spcPts val="700"/>
              </a:spcAft>
            </a:pPr>
            <a:r>
              <a:rPr sz="1800" b="1" dirty="0">
                <a:solidFill>
                  <a:srgbClr val="ED1B2F"/>
                </a:solidFill>
                <a:latin typeface="Calibri"/>
              </a:rPr>
              <a:t>Strategic</a:t>
            </a:r>
          </a:p>
          <a:p>
            <a:pPr>
              <a:spcBef>
                <a:spcPts val="0"/>
              </a:spcBef>
              <a:spcAft>
                <a:spcPts val="300"/>
              </a:spcAft>
            </a:pPr>
            <a:r>
              <a:rPr sz="1400" b="0" dirty="0">
                <a:solidFill>
                  <a:srgbClr val="222222"/>
                </a:solidFill>
                <a:latin typeface="Calibri"/>
              </a:rPr>
              <a:t>Maximize mine-level value</a:t>
            </a:r>
          </a:p>
          <a:p>
            <a:pPr>
              <a:spcBef>
                <a:spcPts val="0"/>
              </a:spcBef>
              <a:spcAft>
                <a:spcPts val="300"/>
              </a:spcAft>
            </a:pPr>
            <a:r>
              <a:rPr sz="1400" b="0" dirty="0">
                <a:solidFill>
                  <a:srgbClr val="222222"/>
                </a:solidFill>
                <a:latin typeface="Calibri"/>
              </a:rPr>
              <a:t>• NPV / discounted value</a:t>
            </a:r>
          </a:p>
          <a:p>
            <a:pPr>
              <a:spcBef>
                <a:spcPts val="0"/>
              </a:spcBef>
              <a:spcAft>
                <a:spcPts val="300"/>
              </a:spcAft>
            </a:pPr>
            <a:r>
              <a:rPr sz="1400" b="0" dirty="0">
                <a:solidFill>
                  <a:srgbClr val="222222"/>
                </a:solidFill>
                <a:latin typeface="Calibri"/>
              </a:rPr>
              <a:t>• value of throughput</a:t>
            </a:r>
          </a:p>
          <a:p>
            <a:pPr>
              <a:spcBef>
                <a:spcPts val="0"/>
              </a:spcBef>
              <a:spcAft>
                <a:spcPts val="300"/>
              </a:spcAft>
            </a:pPr>
            <a:r>
              <a:rPr sz="1400" b="0" dirty="0">
                <a:solidFill>
                  <a:srgbClr val="222222"/>
                </a:solidFill>
                <a:latin typeface="Calibri"/>
              </a:rPr>
              <a:t>• long-term ore accessibility</a:t>
            </a:r>
          </a:p>
        </p:txBody>
      </p:sp>
      <p:sp>
        <p:nvSpPr>
          <p:cNvPr id="16" name="Rectangle 15"/>
          <p:cNvSpPr/>
          <p:nvPr/>
        </p:nvSpPr>
        <p:spPr>
          <a:xfrm>
            <a:off x="640080" y="2487168"/>
            <a:ext cx="54864" cy="2395728"/>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70832" y="2487168"/>
            <a:ext cx="3456432" cy="2395728"/>
          </a:xfrm>
          <a:prstGeom prst="roundRect">
            <a:avLst/>
          </a:prstGeom>
          <a:solidFill>
            <a:srgbClr val="FFFFFF"/>
          </a:solidFill>
          <a:ln w="15240">
            <a:solidFill>
              <a:srgbClr val="D4D7DC"/>
            </a:solidFill>
          </a:ln>
        </p:spPr>
        <p:style>
          <a:lnRef idx="1">
            <a:schemeClr val="accent1"/>
          </a:lnRef>
          <a:fillRef idx="3">
            <a:schemeClr val="accent1"/>
          </a:fillRef>
          <a:effectRef idx="2">
            <a:schemeClr val="accent1"/>
          </a:effectRef>
          <a:fontRef idx="minor">
            <a:schemeClr val="lt1"/>
          </a:fontRef>
        </p:style>
        <p:txBody>
          <a:bodyPr wrap="square" lIns="219456" tIns="146304" rIns="164592" bIns="91440" rtlCol="0" anchor="ctr"/>
          <a:lstStyle/>
          <a:p>
            <a:pPr algn="ctr">
              <a:spcBef>
                <a:spcPts val="0"/>
              </a:spcBef>
              <a:spcAft>
                <a:spcPts val="700"/>
              </a:spcAft>
            </a:pPr>
            <a:r>
              <a:rPr sz="1800" b="1" dirty="0">
                <a:solidFill>
                  <a:srgbClr val="EE8B2D"/>
                </a:solidFill>
                <a:latin typeface="Calibri"/>
              </a:rPr>
              <a:t>Tactical</a:t>
            </a:r>
          </a:p>
          <a:p>
            <a:pPr>
              <a:spcBef>
                <a:spcPts val="0"/>
              </a:spcBef>
              <a:spcAft>
                <a:spcPts val="300"/>
              </a:spcAft>
            </a:pPr>
            <a:r>
              <a:rPr sz="1400" b="0" dirty="0">
                <a:solidFill>
                  <a:srgbClr val="222222"/>
                </a:solidFill>
                <a:latin typeface="Calibri"/>
              </a:rPr>
              <a:t>Select / maintain operating configuration</a:t>
            </a:r>
          </a:p>
          <a:p>
            <a:pPr>
              <a:spcBef>
                <a:spcPts val="0"/>
              </a:spcBef>
              <a:spcAft>
                <a:spcPts val="300"/>
              </a:spcAft>
            </a:pPr>
            <a:r>
              <a:rPr sz="1400" b="0" dirty="0">
                <a:solidFill>
                  <a:srgbClr val="222222"/>
                </a:solidFill>
                <a:latin typeface="Calibri"/>
              </a:rPr>
              <a:t>• stockpile state &amp; critical thresholds</a:t>
            </a:r>
          </a:p>
          <a:p>
            <a:pPr>
              <a:spcBef>
                <a:spcPts val="0"/>
              </a:spcBef>
              <a:spcAft>
                <a:spcPts val="300"/>
              </a:spcAft>
            </a:pPr>
            <a:r>
              <a:rPr sz="1400" b="0" dirty="0">
                <a:solidFill>
                  <a:srgbClr val="222222"/>
                </a:solidFill>
                <a:latin typeface="Calibri"/>
              </a:rPr>
              <a:t>• development / face readiness</a:t>
            </a:r>
          </a:p>
          <a:p>
            <a:pPr>
              <a:spcBef>
                <a:spcPts val="0"/>
              </a:spcBef>
              <a:spcAft>
                <a:spcPts val="300"/>
              </a:spcAft>
            </a:pPr>
            <a:r>
              <a:rPr sz="1400" b="0" dirty="0">
                <a:solidFill>
                  <a:srgbClr val="222222"/>
                </a:solidFill>
                <a:latin typeface="Calibri"/>
              </a:rPr>
              <a:t>• strategic risk and priorities</a:t>
            </a:r>
          </a:p>
        </p:txBody>
      </p:sp>
      <p:sp>
        <p:nvSpPr>
          <p:cNvPr id="18" name="Rectangle 17"/>
          <p:cNvSpPr/>
          <p:nvPr/>
        </p:nvSpPr>
        <p:spPr>
          <a:xfrm>
            <a:off x="4370832" y="2487168"/>
            <a:ext cx="54864" cy="2395728"/>
          </a:xfrm>
          <a:prstGeom prst="rect">
            <a:avLst/>
          </a:prstGeom>
          <a:solidFill>
            <a:srgbClr val="EE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101583" y="2487168"/>
            <a:ext cx="3456432" cy="2395728"/>
          </a:xfrm>
          <a:prstGeom prst="roundRect">
            <a:avLst/>
          </a:prstGeom>
          <a:solidFill>
            <a:srgbClr val="FFFFFF"/>
          </a:solidFill>
          <a:ln w="15240">
            <a:solidFill>
              <a:srgbClr val="D4D7DC"/>
            </a:solidFill>
          </a:ln>
        </p:spPr>
        <p:style>
          <a:lnRef idx="1">
            <a:schemeClr val="accent1"/>
          </a:lnRef>
          <a:fillRef idx="3">
            <a:schemeClr val="accent1"/>
          </a:fillRef>
          <a:effectRef idx="2">
            <a:schemeClr val="accent1"/>
          </a:effectRef>
          <a:fontRef idx="minor">
            <a:schemeClr val="lt1"/>
          </a:fontRef>
        </p:style>
        <p:txBody>
          <a:bodyPr wrap="square" lIns="219456" tIns="146304" rIns="164592" bIns="91440" rtlCol="0" anchor="ctr"/>
          <a:lstStyle/>
          <a:p>
            <a:pPr algn="ctr">
              <a:spcBef>
                <a:spcPts val="0"/>
              </a:spcBef>
              <a:spcAft>
                <a:spcPts val="700"/>
              </a:spcAft>
            </a:pPr>
            <a:r>
              <a:rPr sz="1800" b="1" dirty="0">
                <a:solidFill>
                  <a:srgbClr val="3E659A"/>
                </a:solidFill>
                <a:latin typeface="Calibri"/>
              </a:rPr>
              <a:t>Operational</a:t>
            </a:r>
          </a:p>
          <a:p>
            <a:pPr>
              <a:spcBef>
                <a:spcPts val="0"/>
              </a:spcBef>
              <a:spcAft>
                <a:spcPts val="300"/>
              </a:spcAft>
            </a:pPr>
            <a:r>
              <a:rPr sz="1400" b="0" dirty="0">
                <a:solidFill>
                  <a:srgbClr val="222222"/>
                </a:solidFill>
                <a:latin typeface="Calibri"/>
              </a:rPr>
              <a:t>Execute the selected tactical state</a:t>
            </a:r>
          </a:p>
          <a:p>
            <a:pPr>
              <a:spcBef>
                <a:spcPts val="0"/>
              </a:spcBef>
              <a:spcAft>
                <a:spcPts val="300"/>
              </a:spcAft>
            </a:pPr>
            <a:r>
              <a:rPr sz="1400" b="0" dirty="0">
                <a:solidFill>
                  <a:srgbClr val="222222"/>
                </a:solidFill>
                <a:latin typeface="Calibri"/>
              </a:rPr>
              <a:t>• trucks / LHD allocation</a:t>
            </a:r>
          </a:p>
          <a:p>
            <a:pPr>
              <a:spcBef>
                <a:spcPts val="0"/>
              </a:spcBef>
              <a:spcAft>
                <a:spcPts val="300"/>
              </a:spcAft>
            </a:pPr>
            <a:r>
              <a:rPr sz="1400" b="0" dirty="0">
                <a:solidFill>
                  <a:srgbClr val="222222"/>
                </a:solidFill>
                <a:latin typeface="Calibri"/>
              </a:rPr>
              <a:t>• haulage, cycle time &amp; constraints</a:t>
            </a:r>
          </a:p>
          <a:p>
            <a:pPr>
              <a:spcBef>
                <a:spcPts val="0"/>
              </a:spcBef>
              <a:spcAft>
                <a:spcPts val="300"/>
              </a:spcAft>
            </a:pPr>
            <a:r>
              <a:rPr sz="1400" b="0" dirty="0">
                <a:solidFill>
                  <a:srgbClr val="222222"/>
                </a:solidFill>
                <a:latin typeface="Calibri"/>
              </a:rPr>
              <a:t>• aggregate DRS or DES island</a:t>
            </a:r>
          </a:p>
        </p:txBody>
      </p:sp>
      <p:sp>
        <p:nvSpPr>
          <p:cNvPr id="20" name="Rectangle 19"/>
          <p:cNvSpPr/>
          <p:nvPr/>
        </p:nvSpPr>
        <p:spPr>
          <a:xfrm>
            <a:off x="8101583" y="2487168"/>
            <a:ext cx="54864" cy="2395728"/>
          </a:xfrm>
          <a:prstGeom prst="rect">
            <a:avLst/>
          </a:prstGeom>
          <a:solidFill>
            <a:srgbClr val="3E6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590075022"/>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9672112" y="153941"/>
            <a:ext cx="2519888" cy="691833"/>
          </a:xfrm>
          <a:prstGeom prst="rect">
            <a:avLst/>
          </a:prstGeom>
        </p:spPr>
      </p:pic>
      <p:sp>
        <p:nvSpPr>
          <p:cNvPr id="3" name="TextBox 2"/>
          <p:cNvSpPr txBox="1"/>
          <p:nvPr/>
        </p:nvSpPr>
        <p:spPr>
          <a:xfrm>
            <a:off x="530352" y="256032"/>
            <a:ext cx="2926080" cy="237744"/>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1050" b="1">
                <a:solidFill>
                  <a:srgbClr val="ED1B2F"/>
                </a:solidFill>
                <a:latin typeface="Calibri"/>
              </a:rPr>
              <a:t>STRATEGIC OBJECTIVE</a:t>
            </a:r>
          </a:p>
        </p:txBody>
      </p:sp>
      <p:sp>
        <p:nvSpPr>
          <p:cNvPr id="4" name="TextBox 3"/>
          <p:cNvSpPr txBox="1"/>
          <p:nvPr/>
        </p:nvSpPr>
        <p:spPr>
          <a:xfrm>
            <a:off x="530352" y="566928"/>
            <a:ext cx="10241280" cy="530352"/>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2550" b="1" dirty="0">
                <a:solidFill>
                  <a:srgbClr val="222222"/>
                </a:solidFill>
                <a:latin typeface="Calibri"/>
              </a:rPr>
              <a:t>From Throughput to Discounted Mine Value</a:t>
            </a:r>
          </a:p>
        </p:txBody>
      </p:sp>
      <p:sp>
        <p:nvSpPr>
          <p:cNvPr id="5" name="TextBox 4"/>
          <p:cNvSpPr txBox="1"/>
          <p:nvPr/>
        </p:nvSpPr>
        <p:spPr>
          <a:xfrm>
            <a:off x="594360" y="1207008"/>
            <a:ext cx="10972800" cy="306238"/>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1510" b="0" dirty="0">
                <a:solidFill>
                  <a:srgbClr val="222222"/>
                </a:solidFill>
                <a:latin typeface="Calibri"/>
              </a:rPr>
              <a:t>The strategic objective is to maximize the value created over the planning horizon after accounting for timing and development trade-offs.</a:t>
            </a:r>
          </a:p>
        </p:txBody>
      </p:sp>
      <p:sp>
        <p:nvSpPr>
          <p:cNvPr id="6" name="Rounded Rectangle 5"/>
          <p:cNvSpPr/>
          <p:nvPr/>
        </p:nvSpPr>
        <p:spPr>
          <a:xfrm>
            <a:off x="640080" y="1874519"/>
            <a:ext cx="3401568" cy="2468880"/>
          </a:xfrm>
          <a:prstGeom prst="roundRect">
            <a:avLst/>
          </a:prstGeom>
          <a:solidFill>
            <a:srgbClr val="FFFFFF"/>
          </a:solidFill>
          <a:ln w="12700">
            <a:solidFill>
              <a:srgbClr val="D0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874519"/>
            <a:ext cx="54864" cy="246888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41247" y="2075688"/>
            <a:ext cx="365760" cy="365760"/>
          </a:xfrm>
          <a:prstGeom prst="ellipse">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2089403"/>
            <a:ext cx="365760" cy="310896"/>
          </a:xfrm>
          <a:prstGeom prst="rect">
            <a:avLst/>
          </a:prstGeom>
          <a:noFill/>
        </p:spPr>
        <p:txBody>
          <a:bodyPr wrap="square" lIns="54864" tIns="36576" rIns="54864" bIns="36576" anchor="ctr">
            <a:spAutoFit/>
          </a:bodyPr>
          <a:lstStyle/>
          <a:p>
            <a:pPr algn="ctr">
              <a:lnSpc>
                <a:spcPct val="100000"/>
              </a:lnSpc>
              <a:spcBef>
                <a:spcPts val="0"/>
              </a:spcBef>
              <a:spcAft>
                <a:spcPts val="0"/>
              </a:spcAft>
            </a:pPr>
            <a:r>
              <a:rPr sz="1200" b="1">
                <a:solidFill>
                  <a:srgbClr val="FFFFFF"/>
                </a:solidFill>
                <a:latin typeface="Calibri"/>
              </a:rPr>
              <a:t>1</a:t>
            </a:r>
          </a:p>
        </p:txBody>
      </p:sp>
      <p:sp>
        <p:nvSpPr>
          <p:cNvPr id="10" name="TextBox 9"/>
          <p:cNvSpPr txBox="1"/>
          <p:nvPr/>
        </p:nvSpPr>
        <p:spPr>
          <a:xfrm>
            <a:off x="1298448" y="2039112"/>
            <a:ext cx="2532888" cy="347472"/>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1600" b="1">
                <a:solidFill>
                  <a:srgbClr val="ED1B2F"/>
                </a:solidFill>
                <a:latin typeface="Calibri"/>
              </a:rPr>
              <a:t>Throughput → period value</a:t>
            </a:r>
          </a:p>
        </p:txBody>
      </p:sp>
      <p:sp>
        <p:nvSpPr>
          <p:cNvPr id="11" name="TextBox 10"/>
          <p:cNvSpPr txBox="1"/>
          <p:nvPr/>
        </p:nvSpPr>
        <p:spPr>
          <a:xfrm>
            <a:off x="896112" y="2532887"/>
            <a:ext cx="2889504" cy="475488"/>
          </a:xfrm>
          <a:prstGeom prst="rect">
            <a:avLst/>
          </a:prstGeom>
          <a:noFill/>
        </p:spPr>
        <p:txBody>
          <a:bodyPr wrap="square" lIns="18288" tIns="18288" rIns="18288" bIns="18288" anchor="ctr">
            <a:spAutoFit/>
          </a:bodyPr>
          <a:lstStyle/>
          <a:p>
            <a:pPr algn="ctr">
              <a:lnSpc>
                <a:spcPct val="100000"/>
              </a:lnSpc>
              <a:spcBef>
                <a:spcPts val="0"/>
              </a:spcBef>
              <a:spcAft>
                <a:spcPts val="0"/>
              </a:spcAft>
            </a:pPr>
            <a:r>
              <a:rPr sz="1850" b="0" dirty="0">
                <a:solidFill>
                  <a:srgbClr val="222222"/>
                </a:solidFill>
                <a:latin typeface="Cambria Math"/>
              </a:rPr>
              <a:t>Vₜ = Σᵢ Qᵢ,ₜ · vᵢ,ₜ</a:t>
            </a:r>
          </a:p>
        </p:txBody>
      </p:sp>
      <p:sp>
        <p:nvSpPr>
          <p:cNvPr id="12" name="TextBox 11"/>
          <p:cNvSpPr txBox="1"/>
          <p:nvPr/>
        </p:nvSpPr>
        <p:spPr>
          <a:xfrm>
            <a:off x="914400" y="3172968"/>
            <a:ext cx="2852928" cy="987552"/>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1170" b="0" dirty="0">
                <a:solidFill>
                  <a:srgbClr val="222222"/>
                </a:solidFill>
                <a:latin typeface="Calibri"/>
              </a:rPr>
              <a:t>Qᵢ,ₜ = </a:t>
            </a:r>
            <a:r>
              <a:rPr sz="1170" b="0" dirty="0" err="1">
                <a:solidFill>
                  <a:srgbClr val="222222"/>
                </a:solidFill>
                <a:latin typeface="Calibri"/>
              </a:rPr>
              <a:t>tonnes</a:t>
            </a:r>
            <a:r>
              <a:rPr sz="1170" b="0" dirty="0">
                <a:solidFill>
                  <a:srgbClr val="222222"/>
                </a:solidFill>
                <a:latin typeface="Calibri"/>
              </a:rPr>
              <a:t> of ore type </a:t>
            </a:r>
            <a:r>
              <a:rPr sz="1170" b="0" dirty="0" err="1">
                <a:solidFill>
                  <a:srgbClr val="222222"/>
                </a:solidFill>
                <a:latin typeface="Calibri"/>
              </a:rPr>
              <a:t>i</a:t>
            </a:r>
            <a:r>
              <a:rPr sz="1170" b="0" dirty="0">
                <a:solidFill>
                  <a:srgbClr val="222222"/>
                </a:solidFill>
                <a:latin typeface="Calibri"/>
              </a:rPr>
              <a:t> processed in period t
vᵢ,ₜ = net value per processed </a:t>
            </a:r>
            <a:r>
              <a:rPr sz="1170" b="0" dirty="0" err="1">
                <a:solidFill>
                  <a:srgbClr val="222222"/>
                </a:solidFill>
                <a:latin typeface="Calibri"/>
              </a:rPr>
              <a:t>tonne</a:t>
            </a:r>
            <a:r>
              <a:rPr sz="1170" b="0" dirty="0">
                <a:solidFill>
                  <a:srgbClr val="222222"/>
                </a:solidFill>
                <a:latin typeface="Calibri"/>
              </a:rPr>
              <a:t>
(recovered metal value − variable processing / reagent cost)</a:t>
            </a:r>
          </a:p>
        </p:txBody>
      </p:sp>
      <p:sp>
        <p:nvSpPr>
          <p:cNvPr id="13" name="Rounded Rectangle 12"/>
          <p:cNvSpPr/>
          <p:nvPr/>
        </p:nvSpPr>
        <p:spPr>
          <a:xfrm>
            <a:off x="4389120" y="1874519"/>
            <a:ext cx="3401568" cy="2468880"/>
          </a:xfrm>
          <a:prstGeom prst="roundRect">
            <a:avLst/>
          </a:prstGeom>
          <a:solidFill>
            <a:srgbClr val="FFFFFF"/>
          </a:solidFill>
          <a:ln w="12700">
            <a:solidFill>
              <a:srgbClr val="D0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1874519"/>
            <a:ext cx="54864" cy="2468880"/>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90288" y="2075688"/>
            <a:ext cx="365760" cy="365760"/>
          </a:xfrm>
          <a:prstGeom prst="ellipse">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90288" y="2089403"/>
            <a:ext cx="365760" cy="310896"/>
          </a:xfrm>
          <a:prstGeom prst="rect">
            <a:avLst/>
          </a:prstGeom>
          <a:noFill/>
        </p:spPr>
        <p:txBody>
          <a:bodyPr wrap="square" lIns="54864" tIns="36576" rIns="54864" bIns="36576" anchor="ctr">
            <a:spAutoFit/>
          </a:bodyPr>
          <a:lstStyle/>
          <a:p>
            <a:pPr algn="ctr">
              <a:lnSpc>
                <a:spcPct val="100000"/>
              </a:lnSpc>
              <a:spcBef>
                <a:spcPts val="0"/>
              </a:spcBef>
              <a:spcAft>
                <a:spcPts val="0"/>
              </a:spcAft>
            </a:pPr>
            <a:r>
              <a:rPr sz="1200" b="1">
                <a:solidFill>
                  <a:srgbClr val="FFFFFF"/>
                </a:solidFill>
                <a:latin typeface="Calibri"/>
              </a:rPr>
              <a:t>2</a:t>
            </a:r>
          </a:p>
        </p:txBody>
      </p:sp>
      <p:sp>
        <p:nvSpPr>
          <p:cNvPr id="17" name="TextBox 16"/>
          <p:cNvSpPr txBox="1"/>
          <p:nvPr/>
        </p:nvSpPr>
        <p:spPr>
          <a:xfrm>
            <a:off x="5047488" y="2039112"/>
            <a:ext cx="2532888" cy="347472"/>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1600" b="1" dirty="0">
                <a:solidFill>
                  <a:srgbClr val="E69138"/>
                </a:solidFill>
                <a:latin typeface="Calibri"/>
              </a:rPr>
              <a:t>Period value → cash flow</a:t>
            </a:r>
          </a:p>
        </p:txBody>
      </p:sp>
      <p:sp>
        <p:nvSpPr>
          <p:cNvPr id="18" name="TextBox 17"/>
          <p:cNvSpPr txBox="1"/>
          <p:nvPr/>
        </p:nvSpPr>
        <p:spPr>
          <a:xfrm>
            <a:off x="4645152" y="2532887"/>
            <a:ext cx="2889504" cy="475488"/>
          </a:xfrm>
          <a:prstGeom prst="rect">
            <a:avLst/>
          </a:prstGeom>
          <a:noFill/>
        </p:spPr>
        <p:txBody>
          <a:bodyPr wrap="square" lIns="18288" tIns="18288" rIns="18288" bIns="18288" anchor="ctr">
            <a:spAutoFit/>
          </a:bodyPr>
          <a:lstStyle/>
          <a:p>
            <a:pPr algn="ctr">
              <a:lnSpc>
                <a:spcPct val="100000"/>
              </a:lnSpc>
              <a:spcBef>
                <a:spcPts val="0"/>
              </a:spcBef>
              <a:spcAft>
                <a:spcPts val="0"/>
              </a:spcAft>
            </a:pPr>
            <a:r>
              <a:rPr sz="1850" b="0" dirty="0">
                <a:solidFill>
                  <a:srgbClr val="222222"/>
                </a:solidFill>
                <a:latin typeface="Cambria Math"/>
              </a:rPr>
              <a:t>CFₜ = Vₜ − </a:t>
            </a:r>
            <a:r>
              <a:rPr sz="1850" b="0" dirty="0" err="1">
                <a:solidFill>
                  <a:srgbClr val="222222"/>
                </a:solidFill>
                <a:latin typeface="Cambria Math"/>
              </a:rPr>
              <a:t>Cprod</a:t>
            </a:r>
            <a:r>
              <a:rPr sz="1850" b="0" dirty="0">
                <a:solidFill>
                  <a:srgbClr val="222222"/>
                </a:solidFill>
                <a:latin typeface="Cambria Math"/>
              </a:rPr>
              <a:t>,ₜ − </a:t>
            </a:r>
            <a:r>
              <a:rPr sz="1850" b="0" dirty="0" err="1">
                <a:solidFill>
                  <a:srgbClr val="222222"/>
                </a:solidFill>
                <a:latin typeface="Cambria Math"/>
              </a:rPr>
              <a:t>Cdev</a:t>
            </a:r>
            <a:r>
              <a:rPr sz="1850" b="0" dirty="0">
                <a:solidFill>
                  <a:srgbClr val="222222"/>
                </a:solidFill>
                <a:latin typeface="Cambria Math"/>
              </a:rPr>
              <a:t>,ₜ − </a:t>
            </a:r>
            <a:r>
              <a:rPr sz="1850" b="0" dirty="0" err="1">
                <a:solidFill>
                  <a:srgbClr val="222222"/>
                </a:solidFill>
                <a:latin typeface="Cambria Math"/>
              </a:rPr>
              <a:t>Cfixed</a:t>
            </a:r>
            <a:r>
              <a:rPr sz="1850" b="0" dirty="0">
                <a:solidFill>
                  <a:srgbClr val="222222"/>
                </a:solidFill>
                <a:latin typeface="Cambria Math"/>
              </a:rPr>
              <a:t>,ₜ</a:t>
            </a:r>
          </a:p>
        </p:txBody>
      </p:sp>
      <p:sp>
        <p:nvSpPr>
          <p:cNvPr id="19" name="TextBox 18"/>
          <p:cNvSpPr txBox="1"/>
          <p:nvPr/>
        </p:nvSpPr>
        <p:spPr>
          <a:xfrm>
            <a:off x="4663440" y="3172968"/>
            <a:ext cx="2852928" cy="937180"/>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1170" b="0" dirty="0">
                <a:solidFill>
                  <a:srgbClr val="222222"/>
                </a:solidFill>
                <a:latin typeface="Calibri"/>
              </a:rPr>
              <a:t>Production creates current feed and cost.</a:t>
            </a:r>
            <a:endParaRPr lang="en-CA" sz="1170" b="0" dirty="0">
              <a:solidFill>
                <a:srgbClr val="222222"/>
              </a:solidFill>
              <a:latin typeface="Calibri"/>
            </a:endParaRPr>
          </a:p>
          <a:p>
            <a:pPr algn="l">
              <a:lnSpc>
                <a:spcPct val="100000"/>
              </a:lnSpc>
              <a:spcBef>
                <a:spcPts val="0"/>
              </a:spcBef>
              <a:spcAft>
                <a:spcPts val="0"/>
              </a:spcAft>
            </a:pPr>
            <a:r>
              <a:rPr sz="1170" b="0" dirty="0">
                <a:solidFill>
                  <a:srgbClr val="222222"/>
                </a:solidFill>
                <a:latin typeface="Calibri"/>
              </a:rPr>
              <a:t>
Development creates cost today but no immediate plant revenue.</a:t>
            </a:r>
            <a:r>
              <a:rPr lang="en-CA" sz="1170" b="0" dirty="0">
                <a:solidFill>
                  <a:srgbClr val="222222"/>
                </a:solidFill>
                <a:latin typeface="Calibri"/>
              </a:rPr>
              <a:t> </a:t>
            </a:r>
            <a:r>
              <a:rPr sz="1170" b="0" dirty="0">
                <a:solidFill>
                  <a:srgbClr val="222222"/>
                </a:solidFill>
                <a:latin typeface="Calibri"/>
              </a:rPr>
              <a:t>Its benefit is future ore access / production capacity.</a:t>
            </a:r>
          </a:p>
        </p:txBody>
      </p:sp>
      <p:sp>
        <p:nvSpPr>
          <p:cNvPr id="20" name="Rounded Rectangle 19"/>
          <p:cNvSpPr/>
          <p:nvPr/>
        </p:nvSpPr>
        <p:spPr>
          <a:xfrm>
            <a:off x="8138160" y="1874519"/>
            <a:ext cx="3401568" cy="2468880"/>
          </a:xfrm>
          <a:prstGeom prst="roundRect">
            <a:avLst/>
          </a:prstGeom>
          <a:solidFill>
            <a:srgbClr val="FFFFFF"/>
          </a:solidFill>
          <a:ln w="12700">
            <a:solidFill>
              <a:srgbClr val="D0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38160" y="1874519"/>
            <a:ext cx="54864" cy="2468880"/>
          </a:xfrm>
          <a:prstGeom prst="rect">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339328" y="2075688"/>
            <a:ext cx="365760" cy="365760"/>
          </a:xfrm>
          <a:prstGeom prst="ellipse">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39328" y="2089403"/>
            <a:ext cx="365760" cy="310896"/>
          </a:xfrm>
          <a:prstGeom prst="rect">
            <a:avLst/>
          </a:prstGeom>
          <a:noFill/>
        </p:spPr>
        <p:txBody>
          <a:bodyPr wrap="square" lIns="54864" tIns="36576" rIns="54864" bIns="36576" anchor="ctr">
            <a:spAutoFit/>
          </a:bodyPr>
          <a:lstStyle/>
          <a:p>
            <a:pPr algn="ctr">
              <a:lnSpc>
                <a:spcPct val="100000"/>
              </a:lnSpc>
              <a:spcBef>
                <a:spcPts val="0"/>
              </a:spcBef>
              <a:spcAft>
                <a:spcPts val="0"/>
              </a:spcAft>
            </a:pPr>
            <a:r>
              <a:rPr sz="1200" b="1">
                <a:solidFill>
                  <a:srgbClr val="FFFFFF"/>
                </a:solidFill>
                <a:latin typeface="Calibri"/>
              </a:rPr>
              <a:t>3</a:t>
            </a:r>
          </a:p>
        </p:txBody>
      </p:sp>
      <p:sp>
        <p:nvSpPr>
          <p:cNvPr id="24" name="TextBox 23"/>
          <p:cNvSpPr txBox="1"/>
          <p:nvPr/>
        </p:nvSpPr>
        <p:spPr>
          <a:xfrm>
            <a:off x="8758026" y="2077613"/>
            <a:ext cx="3158049" cy="320088"/>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1600" b="1" dirty="0">
                <a:solidFill>
                  <a:srgbClr val="3F6291"/>
                </a:solidFill>
                <a:latin typeface="Calibri"/>
              </a:rPr>
              <a:t>Discount cash flow &amp; optimize</a:t>
            </a:r>
          </a:p>
        </p:txBody>
      </p:sp>
      <p:sp>
        <p:nvSpPr>
          <p:cNvPr id="25" name="TextBox 24"/>
          <p:cNvSpPr txBox="1"/>
          <p:nvPr/>
        </p:nvSpPr>
        <p:spPr>
          <a:xfrm>
            <a:off x="8394192" y="2532887"/>
            <a:ext cx="2889504" cy="475488"/>
          </a:xfrm>
          <a:prstGeom prst="rect">
            <a:avLst/>
          </a:prstGeom>
          <a:noFill/>
        </p:spPr>
        <p:txBody>
          <a:bodyPr wrap="square" lIns="18288" tIns="18288" rIns="18288" bIns="18288" anchor="ctr">
            <a:spAutoFit/>
          </a:bodyPr>
          <a:lstStyle/>
          <a:p>
            <a:pPr algn="ctr">
              <a:lnSpc>
                <a:spcPct val="100000"/>
              </a:lnSpc>
              <a:spcBef>
                <a:spcPts val="0"/>
              </a:spcBef>
              <a:spcAft>
                <a:spcPts val="0"/>
              </a:spcAft>
            </a:pPr>
            <a:r>
              <a:rPr sz="1850" b="0" dirty="0">
                <a:solidFill>
                  <a:srgbClr val="222222"/>
                </a:solidFill>
                <a:latin typeface="Cambria Math"/>
              </a:rPr>
              <a:t>PVₜ = CFₜ / (1+r)^(t/365)
max NPV* = Σₜ PVₜ</a:t>
            </a:r>
          </a:p>
        </p:txBody>
      </p:sp>
      <p:sp>
        <p:nvSpPr>
          <p:cNvPr id="26" name="TextBox 25"/>
          <p:cNvSpPr txBox="1"/>
          <p:nvPr/>
        </p:nvSpPr>
        <p:spPr>
          <a:xfrm>
            <a:off x="8412480" y="3172968"/>
            <a:ext cx="2852928" cy="1117229"/>
          </a:xfrm>
          <a:prstGeom prst="rect">
            <a:avLst/>
          </a:prstGeom>
          <a:noFill/>
        </p:spPr>
        <p:txBody>
          <a:bodyPr wrap="square" lIns="18288" tIns="18288" rIns="18288" bIns="18288" anchor="t">
            <a:spAutoFit/>
          </a:bodyPr>
          <a:lstStyle/>
          <a:p>
            <a:pPr algn="l">
              <a:lnSpc>
                <a:spcPct val="100000"/>
              </a:lnSpc>
              <a:spcBef>
                <a:spcPts val="0"/>
              </a:spcBef>
              <a:spcAft>
                <a:spcPts val="0"/>
              </a:spcAft>
            </a:pPr>
            <a:r>
              <a:rPr sz="1170" b="0" dirty="0">
                <a:solidFill>
                  <a:srgbClr val="222222"/>
                </a:solidFill>
                <a:latin typeface="Calibri"/>
              </a:rPr>
              <a:t>r = annual discount rate; t = simulation day
Objective: choose policies that maximize NPV* subject to stockpile, capacity, development and mode constraints.
*</a:t>
            </a:r>
            <a:r>
              <a:rPr lang="en-CA" sz="1170" b="0" dirty="0">
                <a:solidFill>
                  <a:srgbClr val="222222"/>
                </a:solidFill>
                <a:latin typeface="Calibri"/>
              </a:rPr>
              <a:t>Technically</a:t>
            </a:r>
            <a:r>
              <a:rPr sz="1170" b="0" dirty="0">
                <a:solidFill>
                  <a:srgbClr val="222222"/>
                </a:solidFill>
                <a:latin typeface="Calibri"/>
              </a:rPr>
              <a:t> “NPV proxy”</a:t>
            </a:r>
            <a:r>
              <a:rPr lang="en-CA" sz="1170" b="0" dirty="0">
                <a:solidFill>
                  <a:srgbClr val="222222"/>
                </a:solidFill>
                <a:latin typeface="Calibri"/>
              </a:rPr>
              <a:t>,</a:t>
            </a:r>
            <a:r>
              <a:rPr sz="1170" b="0" dirty="0">
                <a:solidFill>
                  <a:srgbClr val="222222"/>
                </a:solidFill>
                <a:latin typeface="Calibri"/>
              </a:rPr>
              <a:t> </a:t>
            </a:r>
            <a:r>
              <a:rPr lang="en-CA" sz="1170" b="0" dirty="0">
                <a:solidFill>
                  <a:srgbClr val="222222"/>
                </a:solidFill>
                <a:latin typeface="Calibri"/>
              </a:rPr>
              <a:t>as</a:t>
            </a:r>
            <a:r>
              <a:rPr sz="1170" b="0" dirty="0">
                <a:solidFill>
                  <a:srgbClr val="222222"/>
                </a:solidFill>
                <a:latin typeface="Calibri"/>
              </a:rPr>
              <a:t> full tax / capex / sustaining-capital items are </a:t>
            </a:r>
            <a:r>
              <a:rPr lang="en-CA" sz="1170" b="0" dirty="0">
                <a:solidFill>
                  <a:srgbClr val="222222"/>
                </a:solidFill>
                <a:latin typeface="Calibri"/>
              </a:rPr>
              <a:t>not </a:t>
            </a:r>
            <a:r>
              <a:rPr sz="1170" b="0" dirty="0">
                <a:solidFill>
                  <a:srgbClr val="222222"/>
                </a:solidFill>
                <a:latin typeface="Calibri"/>
              </a:rPr>
              <a:t>included.</a:t>
            </a:r>
          </a:p>
        </p:txBody>
      </p:sp>
      <p:sp>
        <p:nvSpPr>
          <p:cNvPr id="27" name="Right Arrow 26"/>
          <p:cNvSpPr/>
          <p:nvPr/>
        </p:nvSpPr>
        <p:spPr>
          <a:xfrm>
            <a:off x="4050791" y="2816352"/>
            <a:ext cx="292608" cy="237744"/>
          </a:xfrm>
          <a:prstGeom prst="rightArrow">
            <a:avLst/>
          </a:prstGeom>
          <a:solidFill>
            <a:srgbClr val="9AA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ight Arrow 27"/>
          <p:cNvSpPr/>
          <p:nvPr/>
        </p:nvSpPr>
        <p:spPr>
          <a:xfrm>
            <a:off x="7799831" y="2816352"/>
            <a:ext cx="292608" cy="237744"/>
          </a:xfrm>
          <a:prstGeom prst="rightArrow">
            <a:avLst/>
          </a:prstGeom>
          <a:solidFill>
            <a:srgbClr val="9AA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40080" y="4599432"/>
            <a:ext cx="7333488" cy="1078992"/>
          </a:xfrm>
          <a:prstGeom prst="roundRect">
            <a:avLst/>
          </a:prstGeom>
          <a:solidFill>
            <a:srgbClr val="F5F6F8"/>
          </a:solidFill>
          <a:ln w="12700">
            <a:solidFill>
              <a:srgbClr val="D0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4736592"/>
            <a:ext cx="3291840" cy="237744"/>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1370" b="1" dirty="0">
                <a:solidFill>
                  <a:srgbClr val="ED1B2F"/>
                </a:solidFill>
                <a:latin typeface="Calibri"/>
              </a:rPr>
              <a:t>Initial assumptions for the first model</a:t>
            </a:r>
          </a:p>
        </p:txBody>
      </p:sp>
      <p:sp>
        <p:nvSpPr>
          <p:cNvPr id="31" name="TextBox 30"/>
          <p:cNvSpPr txBox="1"/>
          <p:nvPr/>
        </p:nvSpPr>
        <p:spPr>
          <a:xfrm>
            <a:off x="868680" y="5010912"/>
            <a:ext cx="6821424" cy="603504"/>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1019" b="0" dirty="0">
                <a:solidFill>
                  <a:srgbClr val="222222"/>
                </a:solidFill>
                <a:latin typeface="Calibri"/>
              </a:rPr>
              <a:t>• Value is recognized when ore is processed, not when it is mined.
• Start with fixed commodity price / recovery and a constant net value per </a:t>
            </a:r>
            <a:r>
              <a:rPr sz="1019" b="0" dirty="0" err="1">
                <a:solidFill>
                  <a:srgbClr val="222222"/>
                </a:solidFill>
                <a:latin typeface="Calibri"/>
              </a:rPr>
              <a:t>tonne</a:t>
            </a:r>
            <a:r>
              <a:rPr sz="1019" b="0" dirty="0">
                <a:solidFill>
                  <a:srgbClr val="222222"/>
                </a:solidFill>
                <a:latin typeface="Calibri"/>
              </a:rPr>
              <a:t> for each ore type.
• Production and development use deterministic unit-cost rates; Area 2 production is enabled only after its development threshold is reached.</a:t>
            </a:r>
          </a:p>
        </p:txBody>
      </p:sp>
      <p:sp>
        <p:nvSpPr>
          <p:cNvPr id="32" name="Rounded Rectangle 31"/>
          <p:cNvSpPr/>
          <p:nvPr/>
        </p:nvSpPr>
        <p:spPr>
          <a:xfrm>
            <a:off x="8174736" y="4599432"/>
            <a:ext cx="3364992" cy="1078992"/>
          </a:xfrm>
          <a:prstGeom prst="roundRect">
            <a:avLst/>
          </a:prstGeom>
          <a:solidFill>
            <a:srgbClr val="FFFFFF"/>
          </a:solidFill>
          <a:ln w="12700">
            <a:solidFill>
              <a:srgbClr val="B7C0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94192" y="4727448"/>
            <a:ext cx="2926080" cy="237744"/>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1450" b="1" dirty="0">
                <a:solidFill>
                  <a:srgbClr val="3F6291"/>
                </a:solidFill>
                <a:latin typeface="Calibri"/>
              </a:rPr>
              <a:t>Illustrative discounting</a:t>
            </a:r>
          </a:p>
        </p:txBody>
      </p:sp>
      <p:sp>
        <p:nvSpPr>
          <p:cNvPr id="34" name="TextBox 33"/>
          <p:cNvSpPr txBox="1"/>
          <p:nvPr/>
        </p:nvSpPr>
        <p:spPr>
          <a:xfrm>
            <a:off x="8394192" y="5029200"/>
            <a:ext cx="2926080" cy="530352"/>
          </a:xfrm>
          <a:prstGeom prst="rect">
            <a:avLst/>
          </a:prstGeom>
          <a:noFill/>
        </p:spPr>
        <p:txBody>
          <a:bodyPr wrap="square" lIns="54864" tIns="36576" rIns="54864" bIns="36576" anchor="t">
            <a:spAutoFit/>
          </a:bodyPr>
          <a:lstStyle/>
          <a:p>
            <a:pPr algn="l">
              <a:lnSpc>
                <a:spcPct val="100000"/>
              </a:lnSpc>
              <a:spcBef>
                <a:spcPts val="0"/>
              </a:spcBef>
              <a:spcAft>
                <a:spcPts val="0"/>
              </a:spcAft>
            </a:pPr>
            <a:r>
              <a:rPr sz="1120" b="0" dirty="0">
                <a:solidFill>
                  <a:srgbClr val="222222"/>
                </a:solidFill>
                <a:latin typeface="Calibri"/>
              </a:rPr>
              <a:t>At r = 8%, the same $600k cash flow is worth:
Today: $600k   |   1 year later: $600k / 1.08 ≈ $556k</a:t>
            </a:r>
          </a:p>
        </p:txBody>
      </p:sp>
      <p:sp>
        <p:nvSpPr>
          <p:cNvPr id="35" name="TextBox 34"/>
          <p:cNvSpPr txBox="1"/>
          <p:nvPr/>
        </p:nvSpPr>
        <p:spPr>
          <a:xfrm>
            <a:off x="658368" y="5797296"/>
            <a:ext cx="10716768" cy="365760"/>
          </a:xfrm>
          <a:prstGeom prst="rect">
            <a:avLst/>
          </a:prstGeom>
          <a:noFill/>
        </p:spPr>
        <p:txBody>
          <a:bodyPr wrap="square" lIns="54864" tIns="36576" rIns="54864" bIns="36576" anchor="ctr">
            <a:spAutoFit/>
          </a:bodyPr>
          <a:lstStyle/>
          <a:p>
            <a:pPr algn="ctr">
              <a:lnSpc>
                <a:spcPct val="100000"/>
              </a:lnSpc>
              <a:spcBef>
                <a:spcPts val="0"/>
              </a:spcBef>
              <a:spcAft>
                <a:spcPts val="0"/>
              </a:spcAft>
            </a:pPr>
            <a:r>
              <a:rPr sz="1240" b="1" dirty="0">
                <a:solidFill>
                  <a:srgbClr val="5C5C5C"/>
                </a:solidFill>
                <a:latin typeface="Calibri"/>
              </a:rPr>
              <a:t>Decision rule: sacrifice short-term throughput for development only when the discounted future value gained exceeds today’s lost throughput value plus development cost.</a:t>
            </a:r>
          </a:p>
        </p:txBody>
      </p:sp>
      <p:sp>
        <p:nvSpPr>
          <p:cNvPr id="36" name="TextBox 35"/>
          <p:cNvSpPr txBox="1"/>
          <p:nvPr/>
        </p:nvSpPr>
        <p:spPr>
          <a:xfrm>
            <a:off x="11384280" y="6144768"/>
            <a:ext cx="320040" cy="182880"/>
          </a:xfrm>
          <a:prstGeom prst="rect">
            <a:avLst/>
          </a:prstGeom>
          <a:noFill/>
        </p:spPr>
        <p:txBody>
          <a:bodyPr wrap="square" lIns="54864" tIns="36576" rIns="54864" bIns="36576" anchor="ctr">
            <a:spAutoFit/>
          </a:bodyPr>
          <a:lstStyle/>
          <a:p>
            <a:pPr algn="ctr"/>
            <a:r>
              <a:rPr sz="900">
                <a:solidFill>
                  <a:srgbClr val="5C5C5C"/>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D0914-5C2C-7FE3-61A3-A099FF80E9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C92E0B5-EA3F-580D-506D-A5697B6CB22E}"/>
              </a:ext>
            </a:extLst>
          </p:cNvPr>
          <p:cNvSpPr>
            <a:spLocks noGrp="1"/>
          </p:cNvSpPr>
          <p:nvPr>
            <p:ph type="ctrTitle"/>
          </p:nvPr>
        </p:nvSpPr>
        <p:spPr>
          <a:xfrm>
            <a:off x="1199686" y="759756"/>
            <a:ext cx="4620584" cy="4567137"/>
          </a:xfrm>
        </p:spPr>
        <p:txBody>
          <a:bodyPr wrap="square">
            <a:normAutofit/>
          </a:bodyPr>
          <a:lstStyle/>
          <a:p>
            <a:pPr algn="l"/>
            <a:r>
              <a:rPr sz="2400" b="0">
                <a:solidFill>
                  <a:srgbClr val="202020"/>
                </a:solidFill>
                <a:latin typeface="Calibri"/>
              </a:rPr>
              <a:t>Background and Research Gap</a:t>
            </a:r>
            <a:endParaRPr lang="en-US" sz="4400" b="1"/>
          </a:p>
        </p:txBody>
      </p:sp>
      <p:pic>
        <p:nvPicPr>
          <p:cNvPr id="2050" name="Picture 2">
            <a:extLst>
              <a:ext uri="{FF2B5EF4-FFF2-40B4-BE49-F238E27FC236}">
                <a16:creationId xmlns:a16="http://schemas.microsoft.com/office/drawing/2014/main" id="{AF7EB5D3-FA34-43EF-457F-128086E050FA}"/>
              </a:ext>
            </a:extLst>
          </p:cNvPr>
          <p:cNvPicPr>
            <a:picLocks noChangeArrowheads="1"/>
          </p:cNvPicPr>
          <p:nvPr/>
        </p:nvPicPr>
        <p:blipFill rotWithShape="1">
          <a:blip r:embed="rId3"/>
          <a:srcRect l="-3318" r="23626"/>
          <a:stretch>
            <a:fillRect/>
          </a:stretch>
        </p:blipFill>
        <p:spPr bwMode="auto">
          <a:xfrm>
            <a:off x="6229215" y="10"/>
            <a:ext cx="5962785" cy="6904762"/>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B66CEB0D-E22D-5C90-ADF5-206785A5F99F}"/>
              </a:ext>
            </a:extLst>
          </p:cNvPr>
          <p:cNvSpPr>
            <a:spLocks noGrp="1"/>
          </p:cNvSpPr>
          <p:nvPr>
            <p:ph type="sldNum" sz="quarter" idx="12"/>
          </p:nvPr>
        </p:nvSpPr>
        <p:spPr>
          <a:xfrm>
            <a:off x="8610600" y="6356350"/>
            <a:ext cx="2743200" cy="365125"/>
          </a:xfrm>
        </p:spPr>
        <p:txBody>
          <a:bodyPr>
            <a:normAutofit/>
          </a:bodyPr>
          <a:lstStyle/>
          <a:p>
            <a:pPr algn="ctr"/>
            <a:r>
              <a:rPr sz="900">
                <a:solidFill>
                  <a:srgbClr val="5C5C5C"/>
                </a:solidFill>
                <a:latin typeface="Calibri"/>
              </a:rPr>
              <a:t>6</a:t>
            </a:r>
          </a:p>
        </p:txBody>
      </p:sp>
      <p:pic>
        <p:nvPicPr>
          <p:cNvPr id="8" name="Picture 7" descr="A red letter on a white background&#10;&#10;AI-generated content may be incorrect.">
            <a:extLst>
              <a:ext uri="{FF2B5EF4-FFF2-40B4-BE49-F238E27FC236}">
                <a16:creationId xmlns:a16="http://schemas.microsoft.com/office/drawing/2014/main" id="{893397C1-B21D-578E-12DE-CFE6B238F584}"/>
              </a:ext>
            </a:extLst>
          </p:cNvPr>
          <p:cNvPicPr>
            <a:picLocks noChangeAspect="1"/>
          </p:cNvPicPr>
          <p:nvPr/>
        </p:nvPicPr>
        <p:blipFill>
          <a:blip r:embed="rId4"/>
          <a:stretch>
            <a:fillRect/>
          </a:stretch>
        </p:blipFill>
        <p:spPr>
          <a:xfrm>
            <a:off x="371265" y="6138312"/>
            <a:ext cx="2124075" cy="583163"/>
          </a:xfrm>
          <a:prstGeom prst="rect">
            <a:avLst/>
          </a:prstGeom>
        </p:spPr>
      </p:pic>
    </p:spTree>
    <p:extLst>
      <p:ext uri="{BB962C8B-B14F-4D97-AF65-F5344CB8AC3E}">
        <p14:creationId xmlns:p14="http://schemas.microsoft.com/office/powerpoint/2010/main" val="1581999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F626C8C0-EBD9-AE16-6B12-FED694489E24}"/>
              </a:ext>
            </a:extLst>
          </p:cNvPr>
          <p:cNvPicPr>
            <a:picLocks noChangeAspect="1"/>
          </p:cNvPicPr>
          <p:nvPr/>
        </p:nvPicPr>
        <p:blipFill>
          <a:blip r:embed="rId3"/>
          <a:stretch>
            <a:fillRect/>
          </a:stretch>
        </p:blipFill>
        <p:spPr>
          <a:xfrm>
            <a:off x="9672112" y="153941"/>
            <a:ext cx="2519888" cy="691833"/>
          </a:xfrm>
          <a:prstGeom prst="rect">
            <a:avLst/>
          </a:prstGeom>
        </p:spPr>
      </p:pic>
      <p:sp>
        <p:nvSpPr>
          <p:cNvPr id="34" name="TextBox 33"/>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BACKGROUND</a:t>
            </a:r>
          </a:p>
        </p:txBody>
      </p:sp>
      <p:sp>
        <p:nvSpPr>
          <p:cNvPr id="35" name="TextBox 34"/>
          <p:cNvSpPr txBox="1"/>
          <p:nvPr/>
        </p:nvSpPr>
        <p:spPr>
          <a:xfrm>
            <a:off x="530352" y="566928"/>
            <a:ext cx="9784080" cy="530352"/>
          </a:xfrm>
          <a:prstGeom prst="rect">
            <a:avLst/>
          </a:prstGeom>
          <a:noFill/>
        </p:spPr>
        <p:txBody>
          <a:bodyPr wrap="square" anchor="t">
            <a:spAutoFit/>
          </a:bodyPr>
          <a:lstStyle/>
          <a:p>
            <a:pPr algn="l"/>
            <a:r>
              <a:rPr sz="2600" b="1">
                <a:solidFill>
                  <a:srgbClr val="202020"/>
                </a:solidFill>
                <a:latin typeface="Calibri"/>
              </a:rPr>
              <a:t>Prior Work: Operating Modes as Tactical Responses</a:t>
            </a:r>
          </a:p>
        </p:txBody>
      </p:sp>
      <p:sp>
        <p:nvSpPr>
          <p:cNvPr id="36" name="Rectangle 35"/>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7</a:t>
            </a:r>
          </a:p>
        </p:txBody>
      </p:sp>
      <p:sp>
        <p:nvSpPr>
          <p:cNvPr id="38" name="Rounded Rectangle 37"/>
          <p:cNvSpPr/>
          <p:nvPr/>
        </p:nvSpPr>
        <p:spPr>
          <a:xfrm>
            <a:off x="594360" y="1417320"/>
            <a:ext cx="5257800" cy="324612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94360" y="1417320"/>
            <a:ext cx="73152" cy="324612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5528" y="1581912"/>
            <a:ext cx="4937760" cy="347472"/>
          </a:xfrm>
          <a:prstGeom prst="rect">
            <a:avLst/>
          </a:prstGeom>
          <a:noFill/>
        </p:spPr>
        <p:txBody>
          <a:bodyPr wrap="square" anchor="t">
            <a:spAutoFit/>
          </a:bodyPr>
          <a:lstStyle/>
          <a:p>
            <a:pPr algn="l"/>
            <a:r>
              <a:rPr sz="1800" b="1">
                <a:solidFill>
                  <a:srgbClr val="ED1B2F"/>
                </a:solidFill>
                <a:latin typeface="Calibri"/>
              </a:rPr>
              <a:t>Navarra et al. (2019)</a:t>
            </a:r>
          </a:p>
        </p:txBody>
      </p:sp>
      <p:sp>
        <p:nvSpPr>
          <p:cNvPr id="41" name="TextBox 40"/>
          <p:cNvSpPr txBox="1"/>
          <p:nvPr/>
        </p:nvSpPr>
        <p:spPr>
          <a:xfrm>
            <a:off x="795528" y="2039112"/>
            <a:ext cx="4937760" cy="2496312"/>
          </a:xfrm>
          <a:prstGeom prst="rect">
            <a:avLst/>
          </a:prstGeom>
          <a:noFill/>
        </p:spPr>
        <p:txBody>
          <a:bodyPr wrap="square" anchor="t">
            <a:spAutoFit/>
          </a:bodyPr>
          <a:lstStyle/>
          <a:p>
            <a:pPr algn="l">
              <a:spcBef>
                <a:spcPts val="0"/>
              </a:spcBef>
              <a:spcAft>
                <a:spcPts val="200"/>
              </a:spcAft>
            </a:pPr>
            <a:r>
              <a:rPr sz="1400" b="0">
                <a:solidFill>
                  <a:srgbClr val="202020"/>
                </a:solidFill>
                <a:latin typeface="Calibri"/>
              </a:rPr>
              <a:t>• Two concentrator modes (A / B), each with regular and contingency operation.</a:t>
            </a:r>
          </a:p>
          <a:p>
            <a:pPr>
              <a:spcBef>
                <a:spcPts val="0"/>
              </a:spcBef>
              <a:spcAft>
                <a:spcPts val="200"/>
              </a:spcAft>
            </a:pPr>
            <a:r>
              <a:rPr sz="1400" b="0">
                <a:solidFill>
                  <a:srgbClr val="202020"/>
                </a:solidFill>
                <a:latin typeface="Calibri"/>
              </a:rPr>
              <a:t>• Mode A is more productive but depletes the vulnerable Ore 2 stockpile; Mode B is recuperative and allows Ore 2 to rebuild.</a:t>
            </a:r>
          </a:p>
          <a:p>
            <a:pPr>
              <a:spcBef>
                <a:spcPts val="0"/>
              </a:spcBef>
              <a:spcAft>
                <a:spcPts val="200"/>
              </a:spcAft>
            </a:pPr>
            <a:r>
              <a:rPr sz="1400" b="0">
                <a:solidFill>
                  <a:srgbClr val="202020"/>
                </a:solidFill>
                <a:latin typeface="Calibri"/>
              </a:rPr>
              <a:t>• Total stockpile target and a critical Ore 2 level are tactical control parameters; mode changes can be restricted to scheduled shutdowns.</a:t>
            </a:r>
          </a:p>
        </p:txBody>
      </p:sp>
      <p:sp>
        <p:nvSpPr>
          <p:cNvPr id="42" name="Rounded Rectangle 41"/>
          <p:cNvSpPr/>
          <p:nvPr/>
        </p:nvSpPr>
        <p:spPr>
          <a:xfrm>
            <a:off x="6309360" y="1417320"/>
            <a:ext cx="5257800" cy="324612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309360" y="1417320"/>
            <a:ext cx="73152" cy="3246120"/>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10528" y="1581912"/>
            <a:ext cx="4937760" cy="347472"/>
          </a:xfrm>
          <a:prstGeom prst="rect">
            <a:avLst/>
          </a:prstGeom>
          <a:noFill/>
        </p:spPr>
        <p:txBody>
          <a:bodyPr wrap="square" anchor="t">
            <a:spAutoFit/>
          </a:bodyPr>
          <a:lstStyle/>
          <a:p>
            <a:pPr algn="l"/>
            <a:r>
              <a:rPr sz="1800" b="1">
                <a:solidFill>
                  <a:srgbClr val="E69138"/>
                </a:solidFill>
                <a:latin typeface="Calibri"/>
              </a:rPr>
              <a:t>Órdenes et al. (2026)</a:t>
            </a:r>
          </a:p>
        </p:txBody>
      </p:sp>
      <p:sp>
        <p:nvSpPr>
          <p:cNvPr id="45" name="TextBox 44"/>
          <p:cNvSpPr txBox="1"/>
          <p:nvPr/>
        </p:nvSpPr>
        <p:spPr>
          <a:xfrm>
            <a:off x="6510528" y="2039112"/>
            <a:ext cx="4937760" cy="2496312"/>
          </a:xfrm>
          <a:prstGeom prst="rect">
            <a:avLst/>
          </a:prstGeom>
          <a:noFill/>
        </p:spPr>
        <p:txBody>
          <a:bodyPr wrap="square" anchor="t">
            <a:spAutoFit/>
          </a:bodyPr>
          <a:lstStyle/>
          <a:p>
            <a:pPr algn="l">
              <a:spcBef>
                <a:spcPts val="0"/>
              </a:spcBef>
              <a:spcAft>
                <a:spcPts val="200"/>
              </a:spcAft>
            </a:pPr>
            <a:r>
              <a:rPr sz="1400" b="0">
                <a:solidFill>
                  <a:srgbClr val="202020"/>
                </a:solidFill>
                <a:latin typeface="Calibri"/>
              </a:rPr>
              <a:t>• Extends the logic to Configurations A / B and C / D, each with Regular, Contingency and Mine-Surging conditions.</a:t>
            </a:r>
          </a:p>
          <a:p>
            <a:pPr>
              <a:spcBef>
                <a:spcPts val="0"/>
              </a:spcBef>
              <a:spcAft>
                <a:spcPts val="200"/>
              </a:spcAft>
            </a:pPr>
            <a:r>
              <a:rPr sz="1400" b="0">
                <a:solidFill>
                  <a:srgbClr val="202020"/>
                </a:solidFill>
                <a:latin typeface="Calibri"/>
              </a:rPr>
              <a:t>• A critical Ore 2 level Y (often tested relative to total stockpile target X) can trigger a recuperative configuration at a campaign shutdown.</a:t>
            </a:r>
          </a:p>
          <a:p>
            <a:pPr>
              <a:spcBef>
                <a:spcPts val="0"/>
              </a:spcBef>
              <a:spcAft>
                <a:spcPts val="200"/>
              </a:spcAft>
            </a:pPr>
            <a:r>
              <a:rPr sz="1400" b="0">
                <a:solidFill>
                  <a:srgbClr val="202020"/>
                </a:solidFill>
                <a:latin typeface="Calibri"/>
              </a:rPr>
              <a:t>• Contingency responds to the likely stockout; mine surging addresses the less-likely stockout through increased mine-side response.</a:t>
            </a:r>
          </a:p>
        </p:txBody>
      </p:sp>
      <p:sp>
        <p:nvSpPr>
          <p:cNvPr id="46" name="TextBox 45"/>
          <p:cNvSpPr txBox="1"/>
          <p:nvPr/>
        </p:nvSpPr>
        <p:spPr>
          <a:xfrm>
            <a:off x="594360" y="4983480"/>
            <a:ext cx="1828800" cy="274320"/>
          </a:xfrm>
          <a:prstGeom prst="rect">
            <a:avLst/>
          </a:prstGeom>
          <a:noFill/>
        </p:spPr>
        <p:txBody>
          <a:bodyPr wrap="square" anchor="t">
            <a:spAutoFit/>
          </a:bodyPr>
          <a:lstStyle/>
          <a:p>
            <a:pPr algn="l"/>
            <a:r>
              <a:rPr sz="1300" b="1">
                <a:solidFill>
                  <a:srgbClr val="ED1B2F"/>
                </a:solidFill>
                <a:latin typeface="Calibri"/>
              </a:rPr>
              <a:t>Extension opportunity</a:t>
            </a:r>
          </a:p>
        </p:txBody>
      </p:sp>
      <p:sp>
        <p:nvSpPr>
          <p:cNvPr id="47" name="TextBox 46"/>
          <p:cNvSpPr txBox="1"/>
          <p:nvPr/>
        </p:nvSpPr>
        <p:spPr>
          <a:xfrm>
            <a:off x="594360" y="5321808"/>
            <a:ext cx="10789920" cy="566928"/>
          </a:xfrm>
          <a:prstGeom prst="rect">
            <a:avLst/>
          </a:prstGeom>
          <a:noFill/>
        </p:spPr>
        <p:txBody>
          <a:bodyPr wrap="square" anchor="t">
            <a:spAutoFit/>
          </a:bodyPr>
          <a:lstStyle/>
          <a:p>
            <a:pPr algn="l">
              <a:spcBef>
                <a:spcPts val="0"/>
              </a:spcBef>
              <a:spcAft>
                <a:spcPts val="200"/>
              </a:spcAft>
            </a:pPr>
            <a:r>
              <a:rPr sz="1500" b="1" dirty="0">
                <a:solidFill>
                  <a:srgbClr val="202020"/>
                </a:solidFill>
                <a:latin typeface="Calibri"/>
              </a:rPr>
              <a:t>Extension opportunity: preserve this stockpile-triggered tactical logic, but add future development readiness and mine-value risk, then connect the selected tactical state to operational </a:t>
            </a:r>
            <a:r>
              <a:rPr lang="en-CA" sz="1500" b="1" dirty="0">
                <a:solidFill>
                  <a:srgbClr val="202020"/>
                </a:solidFill>
                <a:latin typeface="Calibri"/>
              </a:rPr>
              <a:t>fleet</a:t>
            </a:r>
            <a:r>
              <a:rPr sz="1500" b="1" dirty="0">
                <a:solidFill>
                  <a:srgbClr val="202020"/>
                </a:solidFill>
                <a:latin typeface="Calibri"/>
              </a:rPr>
              <a:t> allocation.</a:t>
            </a:r>
          </a:p>
        </p:txBody>
      </p:sp>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9672112" y="153941"/>
            <a:ext cx="2519888" cy="691833"/>
          </a:xfrm>
          <a:prstGeom prst="rect">
            <a:avLst/>
          </a:prstGeom>
        </p:spPr>
      </p:pic>
      <p:sp>
        <p:nvSpPr>
          <p:cNvPr id="3" name="TextBox 2"/>
          <p:cNvSpPr txBox="1"/>
          <p:nvPr/>
        </p:nvSpPr>
        <p:spPr>
          <a:xfrm>
            <a:off x="530352" y="256032"/>
            <a:ext cx="2743200" cy="237744"/>
          </a:xfrm>
          <a:prstGeom prst="rect">
            <a:avLst/>
          </a:prstGeom>
          <a:noFill/>
        </p:spPr>
        <p:txBody>
          <a:bodyPr wrap="none">
            <a:spAutoFit/>
          </a:bodyPr>
          <a:lstStyle/>
          <a:p>
            <a:r>
              <a:rPr sz="1000" b="1">
                <a:solidFill>
                  <a:srgbClr val="ED1B2F"/>
                </a:solidFill>
                <a:latin typeface="Calibri"/>
              </a:rPr>
              <a:t>BACKGROUND</a:t>
            </a:r>
          </a:p>
        </p:txBody>
      </p:sp>
      <p:sp>
        <p:nvSpPr>
          <p:cNvPr id="4" name="TextBox 3"/>
          <p:cNvSpPr txBox="1"/>
          <p:nvPr/>
        </p:nvSpPr>
        <p:spPr>
          <a:xfrm>
            <a:off x="530352" y="566928"/>
            <a:ext cx="9784080" cy="530352"/>
          </a:xfrm>
          <a:prstGeom prst="rect">
            <a:avLst/>
          </a:prstGeom>
          <a:noFill/>
        </p:spPr>
        <p:txBody>
          <a:bodyPr wrap="square">
            <a:spAutoFit/>
          </a:bodyPr>
          <a:lstStyle/>
          <a:p>
            <a:r>
              <a:rPr sz="2600" b="1" dirty="0">
                <a:solidFill>
                  <a:srgbClr val="202020"/>
                </a:solidFill>
                <a:latin typeface="Calibri"/>
              </a:rPr>
              <a:t>Prior Work: Individual-Equipment Haulage at the Operational Layer</a:t>
            </a:r>
          </a:p>
        </p:txBody>
      </p:sp>
      <p:sp>
        <p:nvSpPr>
          <p:cNvPr id="5" name="Rectangle 4"/>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84280" y="6144768"/>
            <a:ext cx="320040" cy="182880"/>
          </a:xfrm>
          <a:prstGeom prst="rect">
            <a:avLst/>
          </a:prstGeom>
          <a:noFill/>
        </p:spPr>
        <p:txBody>
          <a:bodyPr wrap="none">
            <a:spAutoFit/>
          </a:bodyPr>
          <a:lstStyle/>
          <a:p>
            <a:pPr algn="ctr"/>
            <a:r>
              <a:rPr sz="900">
                <a:solidFill>
                  <a:srgbClr val="5C5C5C"/>
                </a:solidFill>
                <a:latin typeface="Calibri"/>
              </a:rPr>
              <a:t>8</a:t>
            </a:r>
          </a:p>
        </p:txBody>
      </p:sp>
      <p:sp>
        <p:nvSpPr>
          <p:cNvPr id="7" name="Rounded Rectangle 6"/>
          <p:cNvSpPr/>
          <p:nvPr/>
        </p:nvSpPr>
        <p:spPr>
          <a:xfrm>
            <a:off x="594360" y="1417320"/>
            <a:ext cx="5257800" cy="324612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1417320"/>
            <a:ext cx="73152" cy="324612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1581912"/>
            <a:ext cx="4937760" cy="347472"/>
          </a:xfrm>
          <a:prstGeom prst="rect">
            <a:avLst/>
          </a:prstGeom>
          <a:noFill/>
        </p:spPr>
        <p:txBody>
          <a:bodyPr wrap="square">
            <a:spAutoFit/>
          </a:bodyPr>
          <a:lstStyle/>
          <a:p>
            <a:r>
              <a:rPr sz="1800" b="1" dirty="0" err="1">
                <a:solidFill>
                  <a:srgbClr val="ED1B2F"/>
                </a:solidFill>
                <a:latin typeface="Calibri"/>
              </a:rPr>
              <a:t>Shelswell</a:t>
            </a:r>
            <a:r>
              <a:rPr sz="1800" b="1" dirty="0">
                <a:solidFill>
                  <a:srgbClr val="ED1B2F"/>
                </a:solidFill>
                <a:latin typeface="Calibri"/>
              </a:rPr>
              <a:t> &amp; Labrecque (2017)</a:t>
            </a:r>
          </a:p>
        </p:txBody>
      </p:sp>
      <p:sp>
        <p:nvSpPr>
          <p:cNvPr id="12" name="TextBox 11"/>
          <p:cNvSpPr txBox="1"/>
          <p:nvPr/>
        </p:nvSpPr>
        <p:spPr>
          <a:xfrm>
            <a:off x="795528" y="2039112"/>
            <a:ext cx="4937760" cy="2496312"/>
          </a:xfrm>
          <a:prstGeom prst="rect">
            <a:avLst/>
          </a:prstGeom>
          <a:noFill/>
        </p:spPr>
        <p:txBody>
          <a:bodyPr wrap="square">
            <a:spAutoFit/>
          </a:bodyPr>
          <a:lstStyle/>
          <a:p>
            <a:pPr>
              <a:spcAft>
                <a:spcPts val="200"/>
              </a:spcAft>
              <a:defRPr sz="1550">
                <a:solidFill>
                  <a:srgbClr val="202020"/>
                </a:solidFill>
                <a:latin typeface="Calibri"/>
              </a:defRPr>
            </a:pPr>
            <a:r>
              <a:rPr sz="1500" b="0">
                <a:solidFill>
                  <a:srgbClr val="202020"/>
                </a:solidFill>
                <a:latin typeface="Calibri"/>
              </a:rPr>
              <a:t>• Models individual trucks, operators and LHD-serviced loadouts in a discrete-event simulation.
• Represents dispatching, queues, traffic, maintenance, failures and refuelling explicitly.
• Quantifies how fleet size, mechanical availability and operator crew size affect haulage productivity.
• Produces benchmark curves for fleet sizing and crew planning.</a:t>
            </a:r>
          </a:p>
        </p:txBody>
      </p:sp>
      <p:sp>
        <p:nvSpPr>
          <p:cNvPr id="14" name="TextBox 13"/>
          <p:cNvSpPr txBox="1"/>
          <p:nvPr/>
        </p:nvSpPr>
        <p:spPr>
          <a:xfrm>
            <a:off x="6443151" y="2501125"/>
            <a:ext cx="4937760" cy="1066959"/>
          </a:xfrm>
          <a:prstGeom prst="rect">
            <a:avLst/>
          </a:prstGeom>
          <a:noFill/>
        </p:spPr>
        <p:txBody>
          <a:bodyPr wrap="square">
            <a:spAutoFit/>
          </a:bodyPr>
          <a:lstStyle/>
          <a:p>
            <a:pPr>
              <a:spcAft>
                <a:spcPts val="200"/>
              </a:spcAft>
              <a:defRPr sz="1550">
                <a:solidFill>
                  <a:srgbClr val="202020"/>
                </a:solidFill>
                <a:latin typeface="Calibri"/>
              </a:defRPr>
            </a:pPr>
            <a:r>
              <a:rPr sz="1500" b="1" dirty="0">
                <a:solidFill>
                  <a:srgbClr val="202020"/>
                </a:solidFill>
                <a:latin typeface="Calibri"/>
              </a:rPr>
              <a:t>
</a:t>
            </a:r>
            <a:r>
              <a:rPr lang="en-CA" sz="1500" b="1" dirty="0">
                <a:solidFill>
                  <a:srgbClr val="202020"/>
                </a:solidFill>
                <a:latin typeface="Calibri"/>
              </a:rPr>
              <a:t>However, s</a:t>
            </a:r>
            <a:r>
              <a:rPr sz="1500" b="1" dirty="0" err="1">
                <a:solidFill>
                  <a:srgbClr val="202020"/>
                </a:solidFill>
                <a:latin typeface="Calibri"/>
              </a:rPr>
              <a:t>trategic</a:t>
            </a:r>
            <a:r>
              <a:rPr sz="1500" b="1" dirty="0">
                <a:solidFill>
                  <a:srgbClr val="202020"/>
                </a:solidFill>
                <a:latin typeface="Calibri"/>
              </a:rPr>
              <a:t> and tactical mine-planning decisions remain outside the haulage model.
</a:t>
            </a:r>
          </a:p>
        </p:txBody>
      </p:sp>
      <p:sp>
        <p:nvSpPr>
          <p:cNvPr id="15" name="TextBox 14"/>
          <p:cNvSpPr txBox="1"/>
          <p:nvPr/>
        </p:nvSpPr>
        <p:spPr>
          <a:xfrm>
            <a:off x="594360" y="4983480"/>
            <a:ext cx="2200000" cy="274320"/>
          </a:xfrm>
          <a:prstGeom prst="rect">
            <a:avLst/>
          </a:prstGeom>
          <a:noFill/>
        </p:spPr>
        <p:txBody>
          <a:bodyPr wrap="square">
            <a:spAutoFit/>
          </a:bodyPr>
          <a:lstStyle/>
          <a:p>
            <a:r>
              <a:rPr sz="1400" b="1">
                <a:solidFill>
                  <a:srgbClr val="ED1B2F"/>
                </a:solidFill>
                <a:latin typeface="Calibri"/>
              </a:rPr>
              <a:t>Extension opportunity</a:t>
            </a:r>
          </a:p>
        </p:txBody>
      </p:sp>
      <p:sp>
        <p:nvSpPr>
          <p:cNvPr id="16" name="TextBox 15"/>
          <p:cNvSpPr txBox="1"/>
          <p:nvPr/>
        </p:nvSpPr>
        <p:spPr>
          <a:xfrm>
            <a:off x="594360" y="5321808"/>
            <a:ext cx="10789920" cy="566928"/>
          </a:xfrm>
          <a:prstGeom prst="rect">
            <a:avLst/>
          </a:prstGeom>
          <a:noFill/>
        </p:spPr>
        <p:txBody>
          <a:bodyPr wrap="square">
            <a:spAutoFit/>
          </a:bodyPr>
          <a:lstStyle/>
          <a:p>
            <a:r>
              <a:rPr sz="1700" b="1" dirty="0">
                <a:solidFill>
                  <a:srgbClr val="202020"/>
                </a:solidFill>
                <a:latin typeface="Calibri"/>
              </a:rPr>
              <a:t>Use </a:t>
            </a:r>
            <a:r>
              <a:rPr sz="1700" b="1" dirty="0" err="1">
                <a:solidFill>
                  <a:srgbClr val="202020"/>
                </a:solidFill>
                <a:latin typeface="Calibri"/>
              </a:rPr>
              <a:t>Shelswell</a:t>
            </a:r>
            <a:r>
              <a:rPr sz="1700" b="1" dirty="0">
                <a:solidFill>
                  <a:srgbClr val="202020"/>
                </a:solidFill>
                <a:latin typeface="Calibri"/>
              </a:rPr>
              <a:t>-style DES only where individual equipment interactions matter, while DRS coordinates the wider strategic and tactical mine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2F67-7FCA-B48E-A3B2-BDFDF25736C4}"/>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FEBA1535-7A46-A916-A754-C2FCF691FD65}"/>
              </a:ext>
            </a:extLst>
          </p:cNvPr>
          <p:cNvPicPr>
            <a:picLocks noChangeAspect="1"/>
          </p:cNvPicPr>
          <p:nvPr/>
        </p:nvPicPr>
        <p:blipFill>
          <a:blip r:embed="rId3"/>
          <a:stretch>
            <a:fillRect/>
          </a:stretch>
        </p:blipFill>
        <p:spPr>
          <a:xfrm>
            <a:off x="9672112" y="153941"/>
            <a:ext cx="2519888" cy="691833"/>
          </a:xfrm>
          <a:prstGeom prst="rect">
            <a:avLst/>
          </a:prstGeom>
        </p:spPr>
      </p:pic>
      <p:sp>
        <p:nvSpPr>
          <p:cNvPr id="34" name="TextBox 33"/>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RESEARCH GAP</a:t>
            </a:r>
          </a:p>
        </p:txBody>
      </p:sp>
      <p:sp>
        <p:nvSpPr>
          <p:cNvPr id="35" name="TextBox 34"/>
          <p:cNvSpPr txBox="1"/>
          <p:nvPr/>
        </p:nvSpPr>
        <p:spPr>
          <a:xfrm>
            <a:off x="530352" y="566928"/>
            <a:ext cx="9784080" cy="923330"/>
          </a:xfrm>
          <a:prstGeom prst="rect">
            <a:avLst/>
          </a:prstGeom>
          <a:noFill/>
        </p:spPr>
        <p:txBody>
          <a:bodyPr wrap="square" anchor="t">
            <a:spAutoFit/>
          </a:bodyPr>
          <a:lstStyle/>
          <a:p>
            <a:r>
              <a:rPr sz="2600" b="1" dirty="0">
                <a:solidFill>
                  <a:srgbClr val="202020"/>
                </a:solidFill>
                <a:latin typeface="Calibri"/>
              </a:rPr>
              <a:t>Research Gap</a:t>
            </a:r>
            <a:r>
              <a:rPr lang="en-CA" sz="2600" b="1" dirty="0">
                <a:solidFill>
                  <a:srgbClr val="202020"/>
                </a:solidFill>
                <a:latin typeface="Calibri"/>
              </a:rPr>
              <a:t> within </a:t>
            </a:r>
            <a:r>
              <a:rPr lang="en-CA" sz="2600" b="1" dirty="0" err="1">
                <a:solidFill>
                  <a:srgbClr val="202020"/>
                </a:solidFill>
                <a:latin typeface="Calibri"/>
              </a:rPr>
              <a:t>Shelswell</a:t>
            </a:r>
            <a:r>
              <a:rPr lang="en-CA" sz="2600" b="1" dirty="0">
                <a:solidFill>
                  <a:srgbClr val="202020"/>
                </a:solidFill>
                <a:latin typeface="Calibri"/>
              </a:rPr>
              <a:t> &amp; Labrecque (2017)</a:t>
            </a:r>
          </a:p>
          <a:p>
            <a:pPr algn="l"/>
            <a:endParaRPr sz="2600" b="1" dirty="0">
              <a:solidFill>
                <a:srgbClr val="202020"/>
              </a:solidFill>
              <a:latin typeface="Calibri"/>
            </a:endParaRPr>
          </a:p>
        </p:txBody>
      </p:sp>
      <p:sp>
        <p:nvSpPr>
          <p:cNvPr id="36" name="Rectangle 35"/>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9</a:t>
            </a:r>
          </a:p>
        </p:txBody>
      </p:sp>
      <p:sp>
        <p:nvSpPr>
          <p:cNvPr id="38" name="Rounded Rectangle 37"/>
          <p:cNvSpPr/>
          <p:nvPr/>
        </p:nvSpPr>
        <p:spPr>
          <a:xfrm>
            <a:off x="594360" y="1417320"/>
            <a:ext cx="3749039" cy="33375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94360" y="1417320"/>
            <a:ext cx="73152" cy="3337560"/>
          </a:xfrm>
          <a:prstGeom prst="rect">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5528" y="1581912"/>
            <a:ext cx="3428999" cy="347472"/>
          </a:xfrm>
          <a:prstGeom prst="rect">
            <a:avLst/>
          </a:prstGeom>
          <a:noFill/>
        </p:spPr>
        <p:txBody>
          <a:bodyPr wrap="square" anchor="t">
            <a:spAutoFit/>
          </a:bodyPr>
          <a:lstStyle/>
          <a:p>
            <a:pPr algn="l"/>
            <a:r>
              <a:rPr sz="1800" b="1">
                <a:solidFill>
                  <a:srgbClr val="3F6291"/>
                </a:solidFill>
                <a:latin typeface="Calibri"/>
              </a:rPr>
              <a:t>Local operational objectives</a:t>
            </a:r>
          </a:p>
        </p:txBody>
      </p:sp>
      <p:sp>
        <p:nvSpPr>
          <p:cNvPr id="41" name="TextBox 40"/>
          <p:cNvSpPr txBox="1"/>
          <p:nvPr/>
        </p:nvSpPr>
        <p:spPr>
          <a:xfrm>
            <a:off x="795528" y="2039112"/>
            <a:ext cx="3428999" cy="2587752"/>
          </a:xfrm>
          <a:prstGeom prst="rect">
            <a:avLst/>
          </a:prstGeom>
          <a:noFill/>
        </p:spPr>
        <p:txBody>
          <a:bodyPr wrap="square" anchor="t">
            <a:spAutoFit/>
          </a:bodyPr>
          <a:lstStyle/>
          <a:p>
            <a:pPr algn="l"/>
            <a:r>
              <a:rPr sz="1600" b="0" dirty="0">
                <a:solidFill>
                  <a:srgbClr val="202020"/>
                </a:solidFill>
                <a:latin typeface="Calibri"/>
              </a:rPr>
              <a:t>Maximize:</a:t>
            </a:r>
            <a:br>
              <a:rPr dirty="0"/>
            </a:br>
            <a:r>
              <a:rPr sz="1600" b="0" dirty="0">
                <a:solidFill>
                  <a:srgbClr val="202020"/>
                </a:solidFill>
                <a:latin typeface="Calibri"/>
              </a:rPr>
              <a:t>• availability</a:t>
            </a:r>
            <a:br>
              <a:rPr dirty="0"/>
            </a:br>
            <a:r>
              <a:rPr sz="1600" b="0" dirty="0">
                <a:solidFill>
                  <a:srgbClr val="202020"/>
                </a:solidFill>
                <a:latin typeface="Calibri"/>
              </a:rPr>
              <a:t>• utilization</a:t>
            </a:r>
            <a:br>
              <a:rPr dirty="0"/>
            </a:br>
            <a:r>
              <a:rPr sz="1600" b="0" dirty="0">
                <a:solidFill>
                  <a:srgbClr val="202020"/>
                </a:solidFill>
                <a:latin typeface="Calibri"/>
              </a:rPr>
              <a:t>• </a:t>
            </a:r>
            <a:r>
              <a:rPr sz="1600" b="0" dirty="0" err="1">
                <a:solidFill>
                  <a:srgbClr val="202020"/>
                </a:solidFill>
                <a:latin typeface="Calibri"/>
              </a:rPr>
              <a:t>tonnes</a:t>
            </a:r>
            <a:r>
              <a:rPr sz="1600" b="0" dirty="0">
                <a:solidFill>
                  <a:srgbClr val="202020"/>
                </a:solidFill>
                <a:latin typeface="Calibri"/>
              </a:rPr>
              <a:t> moved</a:t>
            </a:r>
            <a:br>
              <a:rPr dirty="0"/>
            </a:br>
            <a:r>
              <a:rPr sz="1600" b="0" dirty="0">
                <a:solidFill>
                  <a:srgbClr val="202020"/>
                </a:solidFill>
                <a:latin typeface="Calibri"/>
              </a:rPr>
              <a:t>• current production</a:t>
            </a:r>
            <a:br>
              <a:rPr dirty="0"/>
            </a:br>
            <a:br>
              <a:rPr dirty="0"/>
            </a:br>
            <a:r>
              <a:rPr sz="1600" b="0" dirty="0">
                <a:solidFill>
                  <a:srgbClr val="202020"/>
                </a:solidFill>
                <a:latin typeface="Calibri"/>
              </a:rPr>
              <a:t>These can look excellent over one shift while sacrificing future production readiness.</a:t>
            </a:r>
          </a:p>
        </p:txBody>
      </p:sp>
      <p:sp>
        <p:nvSpPr>
          <p:cNvPr id="42" name="Rounded Rectangle 41"/>
          <p:cNvSpPr/>
          <p:nvPr/>
        </p:nvSpPr>
        <p:spPr>
          <a:xfrm>
            <a:off x="7845552" y="1417320"/>
            <a:ext cx="3749039" cy="33375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845552" y="1417320"/>
            <a:ext cx="73152" cy="33375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1581912"/>
            <a:ext cx="3428999" cy="347472"/>
          </a:xfrm>
          <a:prstGeom prst="rect">
            <a:avLst/>
          </a:prstGeom>
          <a:noFill/>
        </p:spPr>
        <p:txBody>
          <a:bodyPr wrap="square" anchor="t">
            <a:spAutoFit/>
          </a:bodyPr>
          <a:lstStyle/>
          <a:p>
            <a:pPr algn="l"/>
            <a:r>
              <a:rPr sz="1800" b="1">
                <a:solidFill>
                  <a:srgbClr val="ED1B2F"/>
                </a:solidFill>
                <a:latin typeface="Calibri"/>
              </a:rPr>
              <a:t>Global mine objective</a:t>
            </a:r>
          </a:p>
        </p:txBody>
      </p:sp>
      <p:sp>
        <p:nvSpPr>
          <p:cNvPr id="45" name="TextBox 44"/>
          <p:cNvSpPr txBox="1"/>
          <p:nvPr/>
        </p:nvSpPr>
        <p:spPr>
          <a:xfrm>
            <a:off x="8046720" y="2039112"/>
            <a:ext cx="3428999" cy="2092881"/>
          </a:xfrm>
          <a:prstGeom prst="rect">
            <a:avLst/>
          </a:prstGeom>
          <a:noFill/>
        </p:spPr>
        <p:txBody>
          <a:bodyPr wrap="square" anchor="t">
            <a:spAutoFit/>
          </a:bodyPr>
          <a:lstStyle/>
          <a:p>
            <a:pPr algn="l"/>
            <a:r>
              <a:rPr sz="1600" b="0" dirty="0">
                <a:solidFill>
                  <a:srgbClr val="202020"/>
                </a:solidFill>
                <a:latin typeface="Calibri"/>
              </a:rPr>
              <a:t>Maximize:</a:t>
            </a:r>
            <a:br>
              <a:rPr dirty="0"/>
            </a:br>
            <a:r>
              <a:rPr sz="1600" b="0" dirty="0">
                <a:solidFill>
                  <a:srgbClr val="202020"/>
                </a:solidFill>
                <a:latin typeface="Calibri"/>
              </a:rPr>
              <a:t>• mine NPV / discounted value</a:t>
            </a:r>
            <a:br>
              <a:rPr dirty="0"/>
            </a:br>
            <a:r>
              <a:rPr sz="1600" b="0" dirty="0">
                <a:solidFill>
                  <a:srgbClr val="202020"/>
                </a:solidFill>
                <a:latin typeface="Calibri"/>
              </a:rPr>
              <a:t>• sustained downstream throughput</a:t>
            </a:r>
            <a:br>
              <a:rPr dirty="0"/>
            </a:br>
            <a:r>
              <a:rPr sz="1600" b="0" dirty="0">
                <a:solidFill>
                  <a:srgbClr val="202020"/>
                </a:solidFill>
                <a:latin typeface="Calibri"/>
              </a:rPr>
              <a:t>• access to future ore</a:t>
            </a:r>
            <a:br>
              <a:rPr dirty="0"/>
            </a:br>
            <a:r>
              <a:rPr sz="1600" b="0" dirty="0">
                <a:solidFill>
                  <a:srgbClr val="202020"/>
                </a:solidFill>
                <a:latin typeface="Calibri"/>
              </a:rPr>
              <a:t>• value over the planning horizon</a:t>
            </a:r>
            <a:br>
              <a:rPr dirty="0"/>
            </a:br>
            <a:br>
              <a:rPr dirty="0"/>
            </a:br>
            <a:r>
              <a:rPr sz="1600" b="0" dirty="0">
                <a:solidFill>
                  <a:srgbClr val="202020"/>
                </a:solidFill>
                <a:latin typeface="Calibri"/>
              </a:rPr>
              <a:t>The objective must account for </a:t>
            </a:r>
            <a:r>
              <a:rPr lang="en-CA" sz="1600" b="0" dirty="0">
                <a:solidFill>
                  <a:srgbClr val="202020"/>
                </a:solidFill>
                <a:latin typeface="Calibri"/>
              </a:rPr>
              <a:t>life of mine</a:t>
            </a:r>
            <a:endParaRPr sz="1600" b="0" dirty="0">
              <a:solidFill>
                <a:srgbClr val="202020"/>
              </a:solidFill>
              <a:latin typeface="Calibri"/>
            </a:endParaRPr>
          </a:p>
        </p:txBody>
      </p:sp>
      <p:sp>
        <p:nvSpPr>
          <p:cNvPr id="46" name="TextBox 45"/>
          <p:cNvSpPr txBox="1"/>
          <p:nvPr/>
        </p:nvSpPr>
        <p:spPr>
          <a:xfrm>
            <a:off x="5120640" y="2029968"/>
            <a:ext cx="1783080" cy="685800"/>
          </a:xfrm>
          <a:prstGeom prst="rect">
            <a:avLst/>
          </a:prstGeom>
          <a:noFill/>
        </p:spPr>
        <p:txBody>
          <a:bodyPr wrap="square" anchor="t">
            <a:spAutoFit/>
          </a:bodyPr>
          <a:lstStyle/>
          <a:p>
            <a:pPr algn="ctr"/>
            <a:r>
              <a:rPr sz="4400" b="1">
                <a:solidFill>
                  <a:srgbClr val="ED1B2F"/>
                </a:solidFill>
                <a:latin typeface="Calibri"/>
              </a:rPr>
              <a:t>≠</a:t>
            </a:r>
          </a:p>
        </p:txBody>
      </p:sp>
      <p:sp>
        <p:nvSpPr>
          <p:cNvPr id="47" name="TextBox 46"/>
          <p:cNvSpPr txBox="1"/>
          <p:nvPr/>
        </p:nvSpPr>
        <p:spPr>
          <a:xfrm>
            <a:off x="4572000" y="2816352"/>
            <a:ext cx="2880360" cy="914400"/>
          </a:xfrm>
          <a:prstGeom prst="rect">
            <a:avLst/>
          </a:prstGeom>
          <a:noFill/>
        </p:spPr>
        <p:txBody>
          <a:bodyPr wrap="square" anchor="t">
            <a:spAutoFit/>
          </a:bodyPr>
          <a:lstStyle/>
          <a:p>
            <a:pPr algn="ctr"/>
            <a:r>
              <a:rPr sz="1900" b="1" dirty="0">
                <a:solidFill>
                  <a:srgbClr val="202020"/>
                </a:solidFill>
                <a:latin typeface="Calibri"/>
              </a:rPr>
              <a:t>Locally optimal</a:t>
            </a:r>
            <a:br>
              <a:rPr dirty="0"/>
            </a:br>
            <a:r>
              <a:rPr sz="1900" b="1" dirty="0">
                <a:solidFill>
                  <a:srgbClr val="202020"/>
                </a:solidFill>
                <a:latin typeface="Calibri"/>
              </a:rPr>
              <a:t>may be globally suboptimal</a:t>
            </a:r>
          </a:p>
        </p:txBody>
      </p:sp>
    </p:spTree>
    <p:extLst>
      <p:ext uri="{BB962C8B-B14F-4D97-AF65-F5344CB8AC3E}">
        <p14:creationId xmlns:p14="http://schemas.microsoft.com/office/powerpoint/2010/main" val="395175471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0B944-D402-F462-1995-D94249E704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41FD57C-AD79-1D65-193B-08A29114FB14}"/>
              </a:ext>
            </a:extLst>
          </p:cNvPr>
          <p:cNvSpPr>
            <a:spLocks noGrp="1"/>
          </p:cNvSpPr>
          <p:nvPr>
            <p:ph type="ctrTitle"/>
          </p:nvPr>
        </p:nvSpPr>
        <p:spPr>
          <a:xfrm>
            <a:off x="1199686" y="759756"/>
            <a:ext cx="4620584" cy="4567137"/>
          </a:xfrm>
        </p:spPr>
        <p:txBody>
          <a:bodyPr wrap="square">
            <a:normAutofit/>
          </a:bodyPr>
          <a:lstStyle/>
          <a:p>
            <a:pPr algn="l">
              <a:lnSpc>
                <a:spcPct val="100000"/>
              </a:lnSpc>
            </a:pPr>
            <a:r>
              <a:rPr sz="2800" b="1">
                <a:solidFill>
                  <a:srgbClr val="202020"/>
                </a:solidFill>
                <a:latin typeface="Calibri"/>
              </a:rPr>
              <a:t>Decision Hierarchy and Hybrid DRS–DES Framework</a:t>
            </a:r>
          </a:p>
        </p:txBody>
      </p:sp>
      <p:pic>
        <p:nvPicPr>
          <p:cNvPr id="2050" name="Picture 2">
            <a:extLst>
              <a:ext uri="{FF2B5EF4-FFF2-40B4-BE49-F238E27FC236}">
                <a16:creationId xmlns:a16="http://schemas.microsoft.com/office/drawing/2014/main" id="{A2401344-ED55-710F-0F99-2216CABC04FC}"/>
              </a:ext>
            </a:extLst>
          </p:cNvPr>
          <p:cNvPicPr>
            <a:picLocks noChangeArrowheads="1"/>
          </p:cNvPicPr>
          <p:nvPr/>
        </p:nvPicPr>
        <p:blipFill rotWithShape="1">
          <a:blip r:embed="rId3"/>
          <a:srcRect l="-3318" r="23626"/>
          <a:stretch>
            <a:fillRect/>
          </a:stretch>
        </p:blipFill>
        <p:spPr bwMode="auto">
          <a:xfrm>
            <a:off x="6229215" y="10"/>
            <a:ext cx="5962785" cy="6904762"/>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EC90BBAC-AA62-C064-6120-917F17E17AB8}"/>
              </a:ext>
            </a:extLst>
          </p:cNvPr>
          <p:cNvSpPr>
            <a:spLocks noGrp="1"/>
          </p:cNvSpPr>
          <p:nvPr>
            <p:ph type="sldNum" sz="quarter" idx="12"/>
          </p:nvPr>
        </p:nvSpPr>
        <p:spPr>
          <a:xfrm>
            <a:off x="8610600" y="6356350"/>
            <a:ext cx="2743200" cy="365125"/>
          </a:xfrm>
        </p:spPr>
        <p:txBody>
          <a:bodyPr>
            <a:normAutofit/>
          </a:bodyPr>
          <a:lstStyle/>
          <a:p>
            <a:pPr algn="ctr"/>
            <a:r>
              <a:rPr sz="900">
                <a:solidFill>
                  <a:srgbClr val="5C5C5C"/>
                </a:solidFill>
                <a:latin typeface="Calibri"/>
              </a:rPr>
              <a:t>10</a:t>
            </a:r>
          </a:p>
        </p:txBody>
      </p:sp>
      <p:pic>
        <p:nvPicPr>
          <p:cNvPr id="8" name="Picture 7" descr="A red letter on a white background&#10;&#10;AI-generated content may be incorrect.">
            <a:extLst>
              <a:ext uri="{FF2B5EF4-FFF2-40B4-BE49-F238E27FC236}">
                <a16:creationId xmlns:a16="http://schemas.microsoft.com/office/drawing/2014/main" id="{27B9D7F7-34E2-6789-0523-F7E6F6B77BC0}"/>
              </a:ext>
            </a:extLst>
          </p:cNvPr>
          <p:cNvPicPr>
            <a:picLocks noChangeAspect="1"/>
          </p:cNvPicPr>
          <p:nvPr/>
        </p:nvPicPr>
        <p:blipFill>
          <a:blip r:embed="rId4"/>
          <a:stretch>
            <a:fillRect/>
          </a:stretch>
        </p:blipFill>
        <p:spPr>
          <a:xfrm>
            <a:off x="371265" y="6138312"/>
            <a:ext cx="2124075" cy="583163"/>
          </a:xfrm>
          <a:prstGeom prst="rect">
            <a:avLst/>
          </a:prstGeom>
        </p:spPr>
      </p:pic>
    </p:spTree>
    <p:extLst>
      <p:ext uri="{BB962C8B-B14F-4D97-AF65-F5344CB8AC3E}">
        <p14:creationId xmlns:p14="http://schemas.microsoft.com/office/powerpoint/2010/main" val="3010624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980A67-FD81-290A-A122-0F2FE37D4965}"/>
              </a:ext>
            </a:extLst>
          </p:cNvPr>
          <p:cNvPicPr>
            <a:picLocks noChangeAspect="1"/>
          </p:cNvPicPr>
          <p:nvPr/>
        </p:nvPicPr>
        <p:blipFill>
          <a:blip r:embed="rId2"/>
          <a:stretch>
            <a:fillRect/>
          </a:stretch>
        </p:blipFill>
        <p:spPr>
          <a:xfrm>
            <a:off x="9672112" y="153941"/>
            <a:ext cx="2519888" cy="691833"/>
          </a:xfrm>
          <a:prstGeom prst="rect">
            <a:avLst/>
          </a:prstGeom>
        </p:spPr>
      </p:pic>
      <p:sp>
        <p:nvSpPr>
          <p:cNvPr id="6" name="TextBox 5"/>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DECISION FRAMEWORK</a:t>
            </a:r>
          </a:p>
        </p:txBody>
      </p:sp>
      <p:sp>
        <p:nvSpPr>
          <p:cNvPr id="7" name="TextBox 6"/>
          <p:cNvSpPr txBox="1"/>
          <p:nvPr/>
        </p:nvSpPr>
        <p:spPr>
          <a:xfrm>
            <a:off x="530352" y="566928"/>
            <a:ext cx="9784080" cy="530352"/>
          </a:xfrm>
          <a:prstGeom prst="rect">
            <a:avLst/>
          </a:prstGeom>
          <a:noFill/>
        </p:spPr>
        <p:txBody>
          <a:bodyPr wrap="square" anchor="t">
            <a:spAutoFit/>
          </a:bodyPr>
          <a:lstStyle/>
          <a:p>
            <a:pPr algn="l"/>
            <a:r>
              <a:rPr sz="2600" b="1">
                <a:solidFill>
                  <a:srgbClr val="202020"/>
                </a:solidFill>
                <a:latin typeface="Calibri"/>
              </a:rPr>
              <a:t>Strategic–Tactical–Operational Decision Hierarchy</a:t>
            </a:r>
          </a:p>
        </p:txBody>
      </p:sp>
      <p:sp>
        <p:nvSpPr>
          <p:cNvPr id="9" name="TextBox 8"/>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11</a:t>
            </a:r>
          </a:p>
        </p:txBody>
      </p:sp>
      <p:sp>
        <p:nvSpPr>
          <p:cNvPr id="10" name="Rounded Rectangle 9"/>
          <p:cNvSpPr/>
          <p:nvPr/>
        </p:nvSpPr>
        <p:spPr>
          <a:xfrm>
            <a:off x="658368" y="1536192"/>
            <a:ext cx="3063240" cy="2971800"/>
          </a:xfrm>
          <a:prstGeom prst="roundRect">
            <a:avLst/>
          </a:prstGeom>
          <a:solidFill>
            <a:srgbClr val="FFFFFF"/>
          </a:solidFill>
          <a:ln w="15240">
            <a:solidFill>
              <a:srgbClr val="D4D7DC"/>
            </a:solidFill>
          </a:ln>
        </p:spPr>
        <p:style>
          <a:lnRef idx="1">
            <a:schemeClr val="accent1"/>
          </a:lnRef>
          <a:fillRef idx="3">
            <a:schemeClr val="accent1"/>
          </a:fillRef>
          <a:effectRef idx="2">
            <a:schemeClr val="accent1"/>
          </a:effectRef>
          <a:fontRef idx="minor">
            <a:schemeClr val="lt1"/>
          </a:fontRef>
        </p:style>
        <p:txBody>
          <a:bodyPr wrap="square" lIns="219456" tIns="146304" rIns="164592" bIns="91440" rtlCol="0" anchor="ctr"/>
          <a:lstStyle/>
          <a:p>
            <a:pPr algn="ctr">
              <a:spcBef>
                <a:spcPts val="0"/>
              </a:spcBef>
              <a:spcAft>
                <a:spcPts val="700"/>
              </a:spcAft>
            </a:pPr>
            <a:r>
              <a:rPr sz="1700" b="1" dirty="0">
                <a:solidFill>
                  <a:srgbClr val="ED1B2F"/>
                </a:solidFill>
                <a:latin typeface="Calibri"/>
              </a:rPr>
              <a:t>1  Strategic plan</a:t>
            </a:r>
          </a:p>
          <a:p>
            <a:pPr>
              <a:spcBef>
                <a:spcPts val="0"/>
              </a:spcBef>
              <a:spcAft>
                <a:spcPts val="300"/>
              </a:spcAft>
            </a:pPr>
            <a:r>
              <a:rPr sz="1400" b="0" dirty="0">
                <a:solidFill>
                  <a:srgbClr val="222222"/>
                </a:solidFill>
                <a:latin typeface="Calibri"/>
              </a:rPr>
              <a:t>Usually changes slowly unless major assumptions fail.</a:t>
            </a:r>
          </a:p>
          <a:p>
            <a:pPr>
              <a:spcBef>
                <a:spcPts val="0"/>
              </a:spcBef>
              <a:spcAft>
                <a:spcPts val="300"/>
              </a:spcAft>
            </a:pPr>
            <a:r>
              <a:rPr sz="1400" b="0" dirty="0">
                <a:solidFill>
                  <a:srgbClr val="222222"/>
                </a:solidFill>
                <a:latin typeface="Calibri"/>
              </a:rPr>
              <a:t>Objective: maximize mine NPV / value.</a:t>
            </a:r>
          </a:p>
          <a:p>
            <a:pPr>
              <a:spcBef>
                <a:spcPts val="0"/>
              </a:spcBef>
              <a:spcAft>
                <a:spcPts val="300"/>
              </a:spcAft>
            </a:pPr>
            <a:r>
              <a:rPr sz="1400" b="0" dirty="0">
                <a:solidFill>
                  <a:srgbClr val="222222"/>
                </a:solidFill>
                <a:latin typeface="Calibri"/>
              </a:rPr>
              <a:t>Defines long-term production–development priorities and future-access requirements.</a:t>
            </a:r>
          </a:p>
        </p:txBody>
      </p:sp>
      <p:sp>
        <p:nvSpPr>
          <p:cNvPr id="11" name="Rectangle 10"/>
          <p:cNvSpPr/>
          <p:nvPr/>
        </p:nvSpPr>
        <p:spPr>
          <a:xfrm>
            <a:off x="658368" y="1536192"/>
            <a:ext cx="54864" cy="297180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3822191" y="2651760"/>
            <a:ext cx="475488" cy="438912"/>
          </a:xfrm>
          <a:prstGeom prst="rightArrow">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370832" y="1536192"/>
            <a:ext cx="3063240" cy="2971800"/>
          </a:xfrm>
          <a:prstGeom prst="roundRect">
            <a:avLst/>
          </a:prstGeom>
          <a:solidFill>
            <a:srgbClr val="FFFFFF"/>
          </a:solidFill>
          <a:ln w="15240">
            <a:solidFill>
              <a:srgbClr val="D4D7DC"/>
            </a:solidFill>
          </a:ln>
        </p:spPr>
        <p:style>
          <a:lnRef idx="1">
            <a:schemeClr val="accent1"/>
          </a:lnRef>
          <a:fillRef idx="3">
            <a:schemeClr val="accent1"/>
          </a:fillRef>
          <a:effectRef idx="2">
            <a:schemeClr val="accent1"/>
          </a:effectRef>
          <a:fontRef idx="minor">
            <a:schemeClr val="lt1"/>
          </a:fontRef>
        </p:style>
        <p:txBody>
          <a:bodyPr wrap="square" lIns="164592" tIns="164592" rIns="146304" bIns="109728" rtlCol="0" anchor="t"/>
          <a:lstStyle/>
          <a:p>
            <a:pPr algn="l">
              <a:lnSpc>
                <a:spcPct val="100000"/>
              </a:lnSpc>
              <a:spcBef>
                <a:spcPts val="0"/>
              </a:spcBef>
              <a:spcAft>
                <a:spcPts val="700"/>
              </a:spcAft>
            </a:pPr>
            <a:r>
              <a:rPr sz="1800" b="1" dirty="0">
                <a:solidFill>
                  <a:srgbClr val="E69138"/>
                </a:solidFill>
                <a:latin typeface="Calibri"/>
              </a:rPr>
              <a:t>2  Tactical controller</a:t>
            </a:r>
          </a:p>
          <a:p>
            <a:pPr algn="l">
              <a:lnSpc>
                <a:spcPct val="100000"/>
              </a:lnSpc>
              <a:spcBef>
                <a:spcPts val="0"/>
              </a:spcBef>
              <a:spcAft>
                <a:spcPts val="800"/>
              </a:spcAft>
            </a:pPr>
            <a:r>
              <a:rPr sz="1500" b="0" dirty="0">
                <a:solidFill>
                  <a:srgbClr val="202020"/>
                </a:solidFill>
                <a:latin typeface="Calibri"/>
              </a:rPr>
              <a:t>Monitors Ore 1 / Ore 2 inventories, critical thresholds and development readiness.</a:t>
            </a:r>
          </a:p>
          <a:p>
            <a:pPr algn="l">
              <a:lnSpc>
                <a:spcPct val="100000"/>
              </a:lnSpc>
              <a:spcBef>
                <a:spcPts val="0"/>
              </a:spcBef>
              <a:spcAft>
                <a:spcPts val="800"/>
              </a:spcAft>
            </a:pPr>
            <a:r>
              <a:rPr sz="1500" b="0" dirty="0">
                <a:solidFill>
                  <a:srgbClr val="202020"/>
                </a:solidFill>
                <a:latin typeface="Calibri"/>
              </a:rPr>
              <a:t>At campaign decision points:</a:t>
            </a:r>
            <a:br>
              <a:rPr dirty="0"/>
            </a:br>
            <a:r>
              <a:rPr sz="1500" b="0" dirty="0">
                <a:solidFill>
                  <a:srgbClr val="202020"/>
                </a:solidFill>
                <a:latin typeface="Calibri"/>
              </a:rPr>
              <a:t>Mode A ↔ Mode B</a:t>
            </a:r>
          </a:p>
          <a:p>
            <a:pPr algn="l">
              <a:lnSpc>
                <a:spcPct val="100000"/>
              </a:lnSpc>
              <a:spcBef>
                <a:spcPts val="0"/>
              </a:spcBef>
              <a:spcAft>
                <a:spcPts val="0"/>
              </a:spcAft>
            </a:pPr>
            <a:r>
              <a:rPr sz="1500" b="0" dirty="0">
                <a:solidFill>
                  <a:srgbClr val="202020"/>
                </a:solidFill>
                <a:latin typeface="Calibri"/>
              </a:rPr>
              <a:t>Within the selected mode:</a:t>
            </a:r>
            <a:br>
              <a:rPr dirty="0"/>
            </a:br>
            <a:r>
              <a:rPr sz="1500" b="0" dirty="0">
                <a:solidFill>
                  <a:srgbClr val="202020"/>
                </a:solidFill>
                <a:latin typeface="Calibri"/>
              </a:rPr>
              <a:t>Regular / Contingency / Mine Surging</a:t>
            </a:r>
          </a:p>
        </p:txBody>
      </p:sp>
      <p:sp>
        <p:nvSpPr>
          <p:cNvPr id="14" name="Rectangle 13"/>
          <p:cNvSpPr/>
          <p:nvPr/>
        </p:nvSpPr>
        <p:spPr>
          <a:xfrm>
            <a:off x="4370832" y="1536192"/>
            <a:ext cx="54864" cy="2971800"/>
          </a:xfrm>
          <a:prstGeom prst="rect">
            <a:avLst/>
          </a:prstGeom>
          <a:solidFill>
            <a:srgbClr val="EE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7534656" y="2651760"/>
            <a:ext cx="475488" cy="438912"/>
          </a:xfrm>
          <a:prstGeom prst="rightArrow">
            <a:avLst/>
          </a:prstGeom>
          <a:solidFill>
            <a:srgbClr val="EE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83296" y="1536192"/>
            <a:ext cx="3456432" cy="2971800"/>
          </a:xfrm>
          <a:prstGeom prst="roundRect">
            <a:avLst/>
          </a:prstGeom>
          <a:solidFill>
            <a:srgbClr val="FFFFFF"/>
          </a:solidFill>
          <a:ln w="15240">
            <a:solidFill>
              <a:srgbClr val="D4D7DC"/>
            </a:solidFill>
          </a:ln>
        </p:spPr>
        <p:style>
          <a:lnRef idx="1">
            <a:schemeClr val="accent1"/>
          </a:lnRef>
          <a:fillRef idx="3">
            <a:schemeClr val="accent1"/>
          </a:fillRef>
          <a:effectRef idx="2">
            <a:schemeClr val="accent1"/>
          </a:effectRef>
          <a:fontRef idx="minor">
            <a:schemeClr val="lt1"/>
          </a:fontRef>
        </p:style>
        <p:txBody>
          <a:bodyPr wrap="square" lIns="219456" tIns="146304" rIns="164592" bIns="91440" rtlCol="0" anchor="ctr"/>
          <a:lstStyle/>
          <a:p>
            <a:pPr algn="ctr">
              <a:spcBef>
                <a:spcPts val="0"/>
              </a:spcBef>
              <a:spcAft>
                <a:spcPts val="700"/>
              </a:spcAft>
            </a:pPr>
            <a:r>
              <a:rPr sz="1700" b="1" dirty="0">
                <a:solidFill>
                  <a:srgbClr val="3E659A"/>
                </a:solidFill>
                <a:latin typeface="Calibri"/>
              </a:rPr>
              <a:t>3  Operational execution</a:t>
            </a:r>
          </a:p>
          <a:p>
            <a:pPr>
              <a:spcBef>
                <a:spcPts val="0"/>
              </a:spcBef>
              <a:spcAft>
                <a:spcPts val="300"/>
              </a:spcAft>
            </a:pPr>
            <a:r>
              <a:rPr sz="1400" b="0" dirty="0">
                <a:solidFill>
                  <a:srgbClr val="222222"/>
                </a:solidFill>
                <a:latin typeface="Calibri"/>
              </a:rPr>
              <a:t>Executes the selected tactical state each shift.</a:t>
            </a:r>
          </a:p>
          <a:p>
            <a:pPr>
              <a:spcBef>
                <a:spcPts val="0"/>
              </a:spcBef>
              <a:spcAft>
                <a:spcPts val="300"/>
              </a:spcAft>
            </a:pPr>
            <a:r>
              <a:rPr sz="1400" b="0" dirty="0">
                <a:solidFill>
                  <a:srgbClr val="222222"/>
                </a:solidFill>
                <a:latin typeface="Calibri"/>
              </a:rPr>
              <a:t>Allocates trucks/LHDs and routes ore / waste.</a:t>
            </a:r>
          </a:p>
          <a:p>
            <a:pPr>
              <a:spcBef>
                <a:spcPts val="0"/>
              </a:spcBef>
              <a:spcAft>
                <a:spcPts val="300"/>
              </a:spcAft>
            </a:pPr>
            <a:r>
              <a:rPr sz="1400" b="0" dirty="0">
                <a:solidFill>
                  <a:srgbClr val="222222"/>
                </a:solidFill>
                <a:latin typeface="Calibri"/>
              </a:rPr>
              <a:t>Represents cycle time, availability, queues and local bottlenecks at the required fidelity.</a:t>
            </a:r>
          </a:p>
        </p:txBody>
      </p:sp>
      <p:sp>
        <p:nvSpPr>
          <p:cNvPr id="17" name="Rectangle 16"/>
          <p:cNvSpPr/>
          <p:nvPr/>
        </p:nvSpPr>
        <p:spPr>
          <a:xfrm>
            <a:off x="8083296" y="1536192"/>
            <a:ext cx="54864" cy="2971800"/>
          </a:xfrm>
          <a:prstGeom prst="rect">
            <a:avLst/>
          </a:prstGeom>
          <a:solidFill>
            <a:srgbClr val="3E6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965960" y="4892040"/>
            <a:ext cx="8229600" cy="658368"/>
          </a:xfrm>
          <a:prstGeom prst="roundRect">
            <a:avLst/>
          </a:prstGeom>
          <a:solidFill>
            <a:srgbClr val="F3F7FC"/>
          </a:solidFill>
          <a:ln w="12700">
            <a:solidFill>
              <a:srgbClr val="3E6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48840" y="5010912"/>
            <a:ext cx="7863840" cy="347472"/>
          </a:xfrm>
          <a:prstGeom prst="rect">
            <a:avLst/>
          </a:prstGeom>
          <a:noFill/>
        </p:spPr>
        <p:txBody>
          <a:bodyPr wrap="square" lIns="0" tIns="0" rIns="0" bIns="0" anchor="ctr">
            <a:spAutoFit/>
          </a:bodyPr>
          <a:lstStyle/>
          <a:p>
            <a:pPr algn="ctr"/>
            <a:r>
              <a:rPr sz="1400" b="1" dirty="0">
                <a:solidFill>
                  <a:srgbClr val="3E659A"/>
                </a:solidFill>
                <a:latin typeface="Calibri"/>
              </a:rPr>
              <a:t>Operational results update stockpiles, development and readiness  →  state feedback to the tactical controller</a:t>
            </a:r>
          </a:p>
        </p:txBody>
      </p:sp>
    </p:spTree>
    <p:extLst>
      <p:ext uri="{BB962C8B-B14F-4D97-AF65-F5344CB8AC3E}">
        <p14:creationId xmlns:p14="http://schemas.microsoft.com/office/powerpoint/2010/main" val="3708514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AF2A861-061B-D730-E7A1-2CB9B0E94773}"/>
              </a:ext>
            </a:extLst>
          </p:cNvPr>
          <p:cNvPicPr>
            <a:picLocks noChangeAspect="1"/>
          </p:cNvPicPr>
          <p:nvPr/>
        </p:nvPicPr>
        <p:blipFill>
          <a:blip r:embed="rId2"/>
          <a:stretch>
            <a:fillRect/>
          </a:stretch>
        </p:blipFill>
        <p:spPr>
          <a:xfrm>
            <a:off x="9672112" y="153941"/>
            <a:ext cx="2519888" cy="691833"/>
          </a:xfrm>
          <a:prstGeom prst="rect">
            <a:avLst/>
          </a:prstGeom>
        </p:spPr>
      </p:pic>
      <p:sp>
        <p:nvSpPr>
          <p:cNvPr id="7" name="TextBox 6"/>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DRS FRAMEWORK</a:t>
            </a:r>
          </a:p>
        </p:txBody>
      </p:sp>
      <p:sp>
        <p:nvSpPr>
          <p:cNvPr id="8" name="TextBox 7"/>
          <p:cNvSpPr txBox="1"/>
          <p:nvPr/>
        </p:nvSpPr>
        <p:spPr>
          <a:xfrm>
            <a:off x="530352" y="566928"/>
            <a:ext cx="9784080" cy="492443"/>
          </a:xfrm>
          <a:prstGeom prst="rect">
            <a:avLst/>
          </a:prstGeom>
          <a:noFill/>
        </p:spPr>
        <p:txBody>
          <a:bodyPr wrap="square" anchor="t">
            <a:spAutoFit/>
          </a:bodyPr>
          <a:lstStyle/>
          <a:p>
            <a:pPr algn="l"/>
            <a:r>
              <a:rPr sz="2600" b="1" dirty="0">
                <a:solidFill>
                  <a:srgbClr val="202020"/>
                </a:solidFill>
                <a:latin typeface="Calibri"/>
              </a:rPr>
              <a:t>DRS </a:t>
            </a:r>
            <a:r>
              <a:rPr lang="en-CA" sz="2600" b="1" dirty="0">
                <a:solidFill>
                  <a:srgbClr val="202020"/>
                </a:solidFill>
                <a:latin typeface="Calibri"/>
              </a:rPr>
              <a:t>considerations</a:t>
            </a:r>
            <a:endParaRPr sz="2600" b="1" dirty="0">
              <a:solidFill>
                <a:srgbClr val="202020"/>
              </a:solidFill>
              <a:latin typeface="Calibri"/>
            </a:endParaRPr>
          </a:p>
        </p:txBody>
      </p:sp>
      <p:sp>
        <p:nvSpPr>
          <p:cNvPr id="9" name="Rectangle 8"/>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12</a:t>
            </a:r>
          </a:p>
        </p:txBody>
      </p:sp>
      <p:sp>
        <p:nvSpPr>
          <p:cNvPr id="11" name="TextBox 10"/>
          <p:cNvSpPr txBox="1"/>
          <p:nvPr/>
        </p:nvSpPr>
        <p:spPr>
          <a:xfrm>
            <a:off x="594360" y="1325880"/>
            <a:ext cx="10789920" cy="594360"/>
          </a:xfrm>
          <a:prstGeom prst="rect">
            <a:avLst/>
          </a:prstGeom>
          <a:noFill/>
        </p:spPr>
        <p:txBody>
          <a:bodyPr wrap="square" anchor="t">
            <a:spAutoFit/>
          </a:bodyPr>
          <a:lstStyle/>
          <a:p>
            <a:pPr algn="l"/>
            <a:r>
              <a:rPr sz="1900" b="0" dirty="0">
                <a:solidFill>
                  <a:srgbClr val="202020"/>
                </a:solidFill>
                <a:latin typeface="Calibri"/>
              </a:rPr>
              <a:t>DRS provides the mine-wide dynamic backbone; operational detail can be selectively increased only where it changes decisions.</a:t>
            </a:r>
          </a:p>
        </p:txBody>
      </p:sp>
      <p:sp>
        <p:nvSpPr>
          <p:cNvPr id="12" name="Rounded Rectangle 11"/>
          <p:cNvSpPr/>
          <p:nvPr/>
        </p:nvSpPr>
        <p:spPr>
          <a:xfrm>
            <a:off x="2808171" y="2326907"/>
            <a:ext cx="3429000" cy="233172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808171" y="2326907"/>
            <a:ext cx="73152" cy="233172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09339" y="2491499"/>
            <a:ext cx="3108960" cy="347472"/>
          </a:xfrm>
          <a:prstGeom prst="rect">
            <a:avLst/>
          </a:prstGeom>
          <a:noFill/>
        </p:spPr>
        <p:txBody>
          <a:bodyPr wrap="square" anchor="t">
            <a:spAutoFit/>
          </a:bodyPr>
          <a:lstStyle/>
          <a:p>
            <a:pPr algn="l"/>
            <a:r>
              <a:rPr sz="1800" b="1">
                <a:solidFill>
                  <a:srgbClr val="ED1B2F"/>
                </a:solidFill>
                <a:latin typeface="Calibri"/>
              </a:rPr>
              <a:t>Mine-wide state</a:t>
            </a:r>
          </a:p>
        </p:txBody>
      </p:sp>
      <p:sp>
        <p:nvSpPr>
          <p:cNvPr id="15" name="TextBox 14"/>
          <p:cNvSpPr txBox="1"/>
          <p:nvPr/>
        </p:nvSpPr>
        <p:spPr>
          <a:xfrm>
            <a:off x="3009339" y="2948699"/>
            <a:ext cx="3108960" cy="1581912"/>
          </a:xfrm>
          <a:prstGeom prst="rect">
            <a:avLst/>
          </a:prstGeom>
          <a:noFill/>
        </p:spPr>
        <p:txBody>
          <a:bodyPr wrap="square" anchor="t">
            <a:spAutoFit/>
          </a:bodyPr>
          <a:lstStyle/>
          <a:p>
            <a:pPr algn="l"/>
            <a:r>
              <a:rPr sz="1500" b="0" dirty="0">
                <a:solidFill>
                  <a:srgbClr val="202020"/>
                </a:solidFill>
                <a:latin typeface="Calibri"/>
              </a:rPr>
              <a:t>Continuously tracks stockpiles, production, development progress, face readiness, value and operating state.</a:t>
            </a:r>
          </a:p>
        </p:txBody>
      </p:sp>
      <p:sp>
        <p:nvSpPr>
          <p:cNvPr id="16" name="Rounded Rectangle 15"/>
          <p:cNvSpPr/>
          <p:nvPr/>
        </p:nvSpPr>
        <p:spPr>
          <a:xfrm>
            <a:off x="6584643" y="2326907"/>
            <a:ext cx="3429000" cy="233172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584643" y="2326907"/>
            <a:ext cx="73152" cy="2331720"/>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85811" y="2491499"/>
            <a:ext cx="3108960" cy="347472"/>
          </a:xfrm>
          <a:prstGeom prst="rect">
            <a:avLst/>
          </a:prstGeom>
          <a:noFill/>
        </p:spPr>
        <p:txBody>
          <a:bodyPr wrap="square" anchor="t">
            <a:spAutoFit/>
          </a:bodyPr>
          <a:lstStyle/>
          <a:p>
            <a:pPr algn="l"/>
            <a:r>
              <a:rPr sz="1800" b="1">
                <a:solidFill>
                  <a:srgbClr val="E69138"/>
                </a:solidFill>
                <a:latin typeface="Calibri"/>
              </a:rPr>
              <a:t>Tactical switching</a:t>
            </a:r>
          </a:p>
        </p:txBody>
      </p:sp>
      <p:sp>
        <p:nvSpPr>
          <p:cNvPr id="19" name="TextBox 18"/>
          <p:cNvSpPr txBox="1"/>
          <p:nvPr/>
        </p:nvSpPr>
        <p:spPr>
          <a:xfrm>
            <a:off x="6785811" y="2948699"/>
            <a:ext cx="3108960" cy="1581912"/>
          </a:xfrm>
          <a:prstGeom prst="rect">
            <a:avLst/>
          </a:prstGeom>
          <a:noFill/>
        </p:spPr>
        <p:txBody>
          <a:bodyPr wrap="square" anchor="t">
            <a:spAutoFit/>
          </a:bodyPr>
          <a:lstStyle/>
          <a:p>
            <a:pPr algn="l">
              <a:spcBef>
                <a:spcPts val="0"/>
              </a:spcBef>
              <a:spcAft>
                <a:spcPts val="200"/>
              </a:spcAft>
            </a:pPr>
            <a:r>
              <a:rPr sz="1400" b="0" dirty="0">
                <a:solidFill>
                  <a:srgbClr val="202020"/>
                </a:solidFill>
                <a:latin typeface="Calibri"/>
              </a:rPr>
              <a:t>Use stockpile thresholds and readiness / value conditions to maintain or switch a tactical configuration. Regular, contingency and surging conditions can emerge within the selected configuration.</a:t>
            </a:r>
          </a:p>
        </p:txBody>
      </p:sp>
      <p:sp>
        <p:nvSpPr>
          <p:cNvPr id="24" name="TextBox 23"/>
          <p:cNvSpPr txBox="1"/>
          <p:nvPr/>
        </p:nvSpPr>
        <p:spPr>
          <a:xfrm>
            <a:off x="594360" y="5074920"/>
            <a:ext cx="10789920" cy="548640"/>
          </a:xfrm>
          <a:prstGeom prst="rect">
            <a:avLst/>
          </a:prstGeom>
          <a:noFill/>
        </p:spPr>
        <p:txBody>
          <a:bodyPr wrap="square" anchor="t">
            <a:spAutoFit/>
          </a:bodyPr>
          <a:lstStyle/>
          <a:p>
            <a:pPr algn="l"/>
            <a:r>
              <a:rPr sz="1600" b="1" dirty="0">
                <a:solidFill>
                  <a:srgbClr val="5C5C5C"/>
                </a:solidFill>
                <a:latin typeface="Calibri"/>
              </a:rPr>
              <a:t>Key idea: detailed DES does not need to replace DRS everywhere—high-fidelity “islands” can be embedded inside the mine-wide DRS model.</a:t>
            </a:r>
          </a:p>
        </p:txBody>
      </p:sp>
    </p:spTree>
    <p:extLst>
      <p:ext uri="{BB962C8B-B14F-4D97-AF65-F5344CB8AC3E}">
        <p14:creationId xmlns:p14="http://schemas.microsoft.com/office/powerpoint/2010/main" val="1878827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9674352" y="155448"/>
            <a:ext cx="2523744" cy="694944"/>
          </a:xfrm>
          <a:prstGeom prst="rect">
            <a:avLst/>
          </a:prstGeom>
        </p:spPr>
      </p:pic>
      <p:sp>
        <p:nvSpPr>
          <p:cNvPr id="3" name="TextBox 2"/>
          <p:cNvSpPr txBox="1"/>
          <p:nvPr/>
        </p:nvSpPr>
        <p:spPr>
          <a:xfrm>
            <a:off x="530352" y="256032"/>
            <a:ext cx="2926080" cy="237744"/>
          </a:xfrm>
          <a:prstGeom prst="rect">
            <a:avLst/>
          </a:prstGeom>
          <a:noFill/>
        </p:spPr>
        <p:txBody>
          <a:bodyPr wrap="square">
            <a:spAutoFit/>
          </a:bodyPr>
          <a:lstStyle/>
          <a:p>
            <a:r>
              <a:rPr sz="1000" b="1">
                <a:solidFill>
                  <a:srgbClr val="ED1B2F"/>
                </a:solidFill>
                <a:latin typeface="Calibri"/>
              </a:rPr>
              <a:t>HYBRID ARCHITECTURE</a:t>
            </a:r>
          </a:p>
        </p:txBody>
      </p:sp>
      <p:sp>
        <p:nvSpPr>
          <p:cNvPr id="4" name="TextBox 3"/>
          <p:cNvSpPr txBox="1"/>
          <p:nvPr/>
        </p:nvSpPr>
        <p:spPr>
          <a:xfrm>
            <a:off x="530352" y="566928"/>
            <a:ext cx="9875520" cy="530352"/>
          </a:xfrm>
          <a:prstGeom prst="rect">
            <a:avLst/>
          </a:prstGeom>
          <a:noFill/>
        </p:spPr>
        <p:txBody>
          <a:bodyPr wrap="square">
            <a:spAutoFit/>
          </a:bodyPr>
          <a:lstStyle/>
          <a:p>
            <a:r>
              <a:rPr sz="2600" b="1">
                <a:solidFill>
                  <a:srgbClr val="202020"/>
                </a:solidFill>
                <a:latin typeface="Calibri"/>
              </a:rPr>
              <a:t>DES Islands in a Sea of DRS</a:t>
            </a:r>
          </a:p>
        </p:txBody>
      </p:sp>
      <p:sp>
        <p:nvSpPr>
          <p:cNvPr id="25" name="TextBox 24"/>
          <p:cNvSpPr txBox="1"/>
          <p:nvPr/>
        </p:nvSpPr>
        <p:spPr>
          <a:xfrm>
            <a:off x="11384280" y="6144768"/>
            <a:ext cx="320040" cy="182880"/>
          </a:xfrm>
          <a:prstGeom prst="rect">
            <a:avLst/>
          </a:prstGeom>
          <a:noFill/>
        </p:spPr>
        <p:txBody>
          <a:bodyPr wrap="square">
            <a:spAutoFit/>
          </a:bodyPr>
          <a:lstStyle/>
          <a:p>
            <a:pPr algn="ctr"/>
            <a:r>
              <a:rPr sz="900">
                <a:solidFill>
                  <a:srgbClr val="5C5C5C"/>
                </a:solidFill>
                <a:latin typeface="Calibri"/>
              </a:rPr>
              <a:t>13</a:t>
            </a:r>
          </a:p>
        </p:txBody>
      </p:sp>
      <p:sp>
        <p:nvSpPr>
          <p:cNvPr id="26" name="TextBox 25"/>
          <p:cNvSpPr txBox="1"/>
          <p:nvPr/>
        </p:nvSpPr>
        <p:spPr>
          <a:xfrm>
            <a:off x="594360" y="1188720"/>
            <a:ext cx="10881360" cy="457200"/>
          </a:xfrm>
          <a:prstGeom prst="rect">
            <a:avLst/>
          </a:prstGeom>
          <a:noFill/>
        </p:spPr>
        <p:txBody>
          <a:bodyPr wrap="square" lIns="54864" tIns="54864" rIns="54864" bIns="54864" anchor="ctr">
            <a:spAutoFit/>
          </a:bodyPr>
          <a:lstStyle/>
          <a:p>
            <a:pPr algn="l"/>
            <a:r>
              <a:rPr sz="1500" b="0" dirty="0">
                <a:solidFill>
                  <a:srgbClr val="222222"/>
                </a:solidFill>
                <a:latin typeface="Calibri"/>
              </a:rPr>
              <a:t>DRS is the default mine-wide representation. A selected operational subsystem can be refined with individual-equipment DES only when the added detail materially affects decisions.</a:t>
            </a:r>
          </a:p>
        </p:txBody>
      </p:sp>
      <p:sp>
        <p:nvSpPr>
          <p:cNvPr id="27" name="Rounded Rectangle 26"/>
          <p:cNvSpPr/>
          <p:nvPr/>
        </p:nvSpPr>
        <p:spPr>
          <a:xfrm>
            <a:off x="3822191" y="1737360"/>
            <a:ext cx="4553712" cy="658368"/>
          </a:xfrm>
          <a:prstGeom prst="roundRect">
            <a:avLst/>
          </a:prstGeom>
          <a:solidFill>
            <a:srgbClr val="FFFFFF"/>
          </a:solidFill>
          <a:ln w="12700">
            <a:solidFill>
              <a:srgbClr val="D4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822191" y="1737360"/>
            <a:ext cx="54864" cy="658368"/>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86783" y="1828800"/>
            <a:ext cx="4261104" cy="274320"/>
          </a:xfrm>
          <a:prstGeom prst="rect">
            <a:avLst/>
          </a:prstGeom>
          <a:noFill/>
        </p:spPr>
        <p:txBody>
          <a:bodyPr wrap="square" lIns="0" tIns="0" rIns="0" bIns="0" anchor="t">
            <a:spAutoFit/>
          </a:bodyPr>
          <a:lstStyle/>
          <a:p>
            <a:pPr algn="ctr"/>
            <a:r>
              <a:rPr sz="1550" b="1">
                <a:solidFill>
                  <a:srgbClr val="ED1B2F"/>
                </a:solidFill>
                <a:latin typeface="Calibri"/>
              </a:rPr>
              <a:t>Strategic objective / plan</a:t>
            </a:r>
          </a:p>
        </p:txBody>
      </p:sp>
      <p:sp>
        <p:nvSpPr>
          <p:cNvPr id="30" name="TextBox 29"/>
          <p:cNvSpPr txBox="1"/>
          <p:nvPr/>
        </p:nvSpPr>
        <p:spPr>
          <a:xfrm>
            <a:off x="3986783" y="2130552"/>
            <a:ext cx="4261104" cy="201167"/>
          </a:xfrm>
          <a:prstGeom prst="rect">
            <a:avLst/>
          </a:prstGeom>
          <a:noFill/>
        </p:spPr>
        <p:txBody>
          <a:bodyPr wrap="square" lIns="18288" tIns="18288" rIns="18288" bIns="18288" anchor="ctr">
            <a:spAutoFit/>
          </a:bodyPr>
          <a:lstStyle/>
          <a:p>
            <a:pPr algn="ctr"/>
            <a:r>
              <a:rPr sz="1250" b="0" dirty="0">
                <a:solidFill>
                  <a:srgbClr val="222222"/>
                </a:solidFill>
                <a:latin typeface="Calibri"/>
              </a:rPr>
              <a:t>Mine value / NPV  •  long-term priorities</a:t>
            </a:r>
          </a:p>
        </p:txBody>
      </p:sp>
      <p:sp>
        <p:nvSpPr>
          <p:cNvPr id="31" name="Down Arrow 30"/>
          <p:cNvSpPr/>
          <p:nvPr/>
        </p:nvSpPr>
        <p:spPr>
          <a:xfrm>
            <a:off x="5769864" y="2414016"/>
            <a:ext cx="658368" cy="310896"/>
          </a:xfrm>
          <a:prstGeom prst="downArrow">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40080" y="2761488"/>
            <a:ext cx="10899648" cy="3822192"/>
          </a:xfrm>
          <a:prstGeom prst="roundRect">
            <a:avLst/>
          </a:prstGeom>
          <a:solidFill>
            <a:srgbClr val="F3F7FC"/>
          </a:solidFill>
          <a:ln w="19050">
            <a:solidFill>
              <a:srgbClr val="3E6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78992" y="2921268"/>
            <a:ext cx="2468880" cy="161583"/>
          </a:xfrm>
          <a:prstGeom prst="rect">
            <a:avLst/>
          </a:prstGeom>
          <a:noFill/>
        </p:spPr>
        <p:txBody>
          <a:bodyPr wrap="square" lIns="0" tIns="0" rIns="0" bIns="0" anchor="t">
            <a:spAutoFit/>
          </a:bodyPr>
          <a:lstStyle/>
          <a:p>
            <a:pPr algn="l"/>
            <a:r>
              <a:rPr lang="en-CA" sz="1050" b="1" dirty="0">
                <a:solidFill>
                  <a:srgbClr val="3E659A"/>
                </a:solidFill>
                <a:latin typeface="Calibri"/>
              </a:rPr>
              <a:t>Mine wide</a:t>
            </a:r>
            <a:r>
              <a:rPr sz="1050" b="1" dirty="0">
                <a:solidFill>
                  <a:srgbClr val="3E659A"/>
                </a:solidFill>
                <a:latin typeface="Calibri"/>
              </a:rPr>
              <a:t> DRS</a:t>
            </a:r>
            <a:r>
              <a:rPr lang="en-CA" sz="1050" b="1" dirty="0">
                <a:solidFill>
                  <a:srgbClr val="3E659A"/>
                </a:solidFill>
                <a:latin typeface="Calibri"/>
              </a:rPr>
              <a:t> Frame</a:t>
            </a:r>
            <a:endParaRPr sz="1050" b="1" dirty="0">
              <a:solidFill>
                <a:srgbClr val="3E659A"/>
              </a:solidFill>
              <a:latin typeface="Calibri"/>
            </a:endParaRPr>
          </a:p>
        </p:txBody>
      </p:sp>
      <p:grpSp>
        <p:nvGrpSpPr>
          <p:cNvPr id="7" name="Group 6">
            <a:extLst>
              <a:ext uri="{FF2B5EF4-FFF2-40B4-BE49-F238E27FC236}">
                <a16:creationId xmlns:a16="http://schemas.microsoft.com/office/drawing/2014/main" id="{ADFAC4A1-79C5-ABE2-0E7E-35D3B351459A}"/>
              </a:ext>
            </a:extLst>
          </p:cNvPr>
          <p:cNvGrpSpPr/>
          <p:nvPr/>
        </p:nvGrpSpPr>
        <p:grpSpPr>
          <a:xfrm>
            <a:off x="3247564" y="2976131"/>
            <a:ext cx="4645152" cy="658368"/>
            <a:chOff x="3767328" y="3072384"/>
            <a:chExt cx="4645152" cy="658368"/>
          </a:xfrm>
        </p:grpSpPr>
        <p:sp>
          <p:nvSpPr>
            <p:cNvPr id="34" name="Rounded Rectangle 33"/>
            <p:cNvSpPr/>
            <p:nvPr/>
          </p:nvSpPr>
          <p:spPr>
            <a:xfrm>
              <a:off x="3767328" y="3072384"/>
              <a:ext cx="4645152" cy="658368"/>
            </a:xfrm>
            <a:prstGeom prst="roundRect">
              <a:avLst/>
            </a:prstGeom>
            <a:solidFill>
              <a:srgbClr val="FFFFFF"/>
            </a:solidFill>
            <a:ln w="12700">
              <a:solidFill>
                <a:srgbClr val="D4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767328" y="3072384"/>
              <a:ext cx="54864" cy="658368"/>
            </a:xfrm>
            <a:prstGeom prst="rect">
              <a:avLst/>
            </a:prstGeom>
            <a:solidFill>
              <a:srgbClr val="EE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931920" y="3163824"/>
              <a:ext cx="4352544" cy="274320"/>
            </a:xfrm>
            <a:prstGeom prst="rect">
              <a:avLst/>
            </a:prstGeom>
            <a:noFill/>
          </p:spPr>
          <p:txBody>
            <a:bodyPr wrap="square" lIns="0" tIns="0" rIns="0" bIns="0" anchor="t">
              <a:spAutoFit/>
            </a:bodyPr>
            <a:lstStyle/>
            <a:p>
              <a:pPr algn="ctr"/>
              <a:r>
                <a:rPr sz="1500" b="1" dirty="0">
                  <a:solidFill>
                    <a:srgbClr val="EE8B2D"/>
                  </a:solidFill>
                  <a:latin typeface="Calibri"/>
                </a:rPr>
                <a:t>Tactical controller</a:t>
              </a:r>
            </a:p>
          </p:txBody>
        </p:sp>
        <p:sp>
          <p:nvSpPr>
            <p:cNvPr id="37" name="TextBox 36"/>
            <p:cNvSpPr txBox="1"/>
            <p:nvPr/>
          </p:nvSpPr>
          <p:spPr>
            <a:xfrm>
              <a:off x="3931920" y="3465576"/>
              <a:ext cx="4352544" cy="201167"/>
            </a:xfrm>
            <a:prstGeom prst="rect">
              <a:avLst/>
            </a:prstGeom>
            <a:noFill/>
          </p:spPr>
          <p:txBody>
            <a:bodyPr wrap="square" lIns="18288" tIns="18288" rIns="18288" bIns="18288" anchor="ctr">
              <a:spAutoFit/>
            </a:bodyPr>
            <a:lstStyle/>
            <a:p>
              <a:pPr algn="ctr"/>
              <a:r>
                <a:rPr sz="1180" b="0" dirty="0">
                  <a:solidFill>
                    <a:srgbClr val="222222"/>
                  </a:solidFill>
                  <a:latin typeface="Calibri"/>
                </a:rPr>
                <a:t>Stockpiles + readiness + strategic risk  →  select / maintain operating configuration</a:t>
              </a:r>
            </a:p>
          </p:txBody>
        </p:sp>
      </p:grpSp>
      <p:sp>
        <p:nvSpPr>
          <p:cNvPr id="39" name="Rounded Rectangle 38"/>
          <p:cNvSpPr/>
          <p:nvPr/>
        </p:nvSpPr>
        <p:spPr>
          <a:xfrm>
            <a:off x="1170432" y="4059936"/>
            <a:ext cx="4160520" cy="804672"/>
          </a:xfrm>
          <a:prstGeom prst="roundRect">
            <a:avLst/>
          </a:prstGeom>
          <a:solidFill>
            <a:srgbClr val="FFFFFF"/>
          </a:solidFill>
          <a:ln w="12700">
            <a:solidFill>
              <a:srgbClr val="D4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170432" y="4059936"/>
            <a:ext cx="54864" cy="804672"/>
          </a:xfrm>
          <a:prstGeom prst="rect">
            <a:avLst/>
          </a:prstGeom>
          <a:solidFill>
            <a:srgbClr val="3E6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35024" y="4151376"/>
            <a:ext cx="3867911" cy="274320"/>
          </a:xfrm>
          <a:prstGeom prst="rect">
            <a:avLst/>
          </a:prstGeom>
          <a:noFill/>
        </p:spPr>
        <p:txBody>
          <a:bodyPr wrap="square" lIns="27432" tIns="0" rIns="27432" bIns="0" anchor="ctr">
            <a:spAutoFit/>
          </a:bodyPr>
          <a:lstStyle/>
          <a:p>
            <a:pPr algn="ctr"/>
            <a:r>
              <a:rPr sz="1350" b="1">
                <a:solidFill>
                  <a:srgbClr val="3E659A"/>
                </a:solidFill>
                <a:latin typeface="Calibri"/>
              </a:rPr>
              <a:t>Operational execution — aggregate DRS (default)</a:t>
            </a:r>
          </a:p>
        </p:txBody>
      </p:sp>
      <p:sp>
        <p:nvSpPr>
          <p:cNvPr id="42" name="TextBox 41"/>
          <p:cNvSpPr txBox="1"/>
          <p:nvPr/>
        </p:nvSpPr>
        <p:spPr>
          <a:xfrm>
            <a:off x="1335024" y="4453128"/>
            <a:ext cx="3867911" cy="347472"/>
          </a:xfrm>
          <a:prstGeom prst="rect">
            <a:avLst/>
          </a:prstGeom>
          <a:noFill/>
        </p:spPr>
        <p:txBody>
          <a:bodyPr wrap="square" lIns="18288" tIns="18288" rIns="18288" bIns="18288" anchor="ctr">
            <a:spAutoFit/>
          </a:bodyPr>
          <a:lstStyle/>
          <a:p>
            <a:pPr algn="ctr"/>
            <a:r>
              <a:rPr sz="1080" b="0">
                <a:solidFill>
                  <a:srgbClr val="222222"/>
                </a:solidFill>
                <a:latin typeface="Calibri"/>
              </a:rPr>
              <a:t>Fleet counts + cycle time + availability + match factor → achievable rates</a:t>
            </a:r>
          </a:p>
        </p:txBody>
      </p:sp>
      <p:sp>
        <p:nvSpPr>
          <p:cNvPr id="44" name="Rounded Rectangle 43"/>
          <p:cNvSpPr/>
          <p:nvPr/>
        </p:nvSpPr>
        <p:spPr>
          <a:xfrm>
            <a:off x="5943600" y="3977639"/>
            <a:ext cx="4526280" cy="960120"/>
          </a:xfrm>
          <a:prstGeom prst="roundRect">
            <a:avLst/>
          </a:prstGeom>
          <a:solidFill>
            <a:srgbClr val="FEF5F6"/>
          </a:solidFill>
          <a:ln w="19050">
            <a:solidFill>
              <a:srgbClr val="ED1B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144768" y="4096512"/>
            <a:ext cx="4133087" cy="237744"/>
          </a:xfrm>
          <a:prstGeom prst="rect">
            <a:avLst/>
          </a:prstGeom>
          <a:noFill/>
        </p:spPr>
        <p:txBody>
          <a:bodyPr wrap="square" lIns="27432" tIns="0" rIns="27432" bIns="0" anchor="ctr">
            <a:spAutoFit/>
          </a:bodyPr>
          <a:lstStyle/>
          <a:p>
            <a:pPr algn="ctr"/>
            <a:r>
              <a:rPr sz="1350" b="1" dirty="0">
                <a:solidFill>
                  <a:srgbClr val="ED1B2F"/>
                </a:solidFill>
                <a:latin typeface="Calibri"/>
              </a:rPr>
              <a:t>Optional truck-level DES refinement</a:t>
            </a:r>
          </a:p>
        </p:txBody>
      </p:sp>
      <p:sp>
        <p:nvSpPr>
          <p:cNvPr id="46" name="TextBox 45"/>
          <p:cNvSpPr txBox="1"/>
          <p:nvPr/>
        </p:nvSpPr>
        <p:spPr>
          <a:xfrm>
            <a:off x="6190488" y="4389120"/>
            <a:ext cx="4041648" cy="320040"/>
          </a:xfrm>
          <a:prstGeom prst="rect">
            <a:avLst/>
          </a:prstGeom>
          <a:noFill/>
        </p:spPr>
        <p:txBody>
          <a:bodyPr wrap="square" lIns="0" tIns="0" rIns="0" bIns="0" anchor="ctr">
            <a:spAutoFit/>
          </a:bodyPr>
          <a:lstStyle/>
          <a:p>
            <a:pPr algn="ctr"/>
            <a:r>
              <a:rPr sz="1019" b="0" dirty="0">
                <a:solidFill>
                  <a:srgbClr val="222222"/>
                </a:solidFill>
                <a:latin typeface="Calibri"/>
              </a:rPr>
              <a:t>Use only for selected subsystems where queues, traffic, failures or dispatch interactions matter</a:t>
            </a:r>
          </a:p>
        </p:txBody>
      </p:sp>
      <p:sp>
        <p:nvSpPr>
          <p:cNvPr id="47" name="TextBox 46"/>
          <p:cNvSpPr txBox="1"/>
          <p:nvPr/>
        </p:nvSpPr>
        <p:spPr>
          <a:xfrm>
            <a:off x="6190488" y="4709160"/>
            <a:ext cx="4041648" cy="146304"/>
          </a:xfrm>
          <a:prstGeom prst="rect">
            <a:avLst/>
          </a:prstGeom>
          <a:noFill/>
        </p:spPr>
        <p:txBody>
          <a:bodyPr wrap="square" lIns="0" tIns="0" rIns="0" bIns="0" anchor="ctr">
            <a:spAutoFit/>
          </a:bodyPr>
          <a:lstStyle/>
          <a:p>
            <a:pPr algn="ctr"/>
            <a:r>
              <a:rPr sz="890" b="1">
                <a:solidFill>
                  <a:srgbClr val="ED1B2F"/>
                </a:solidFill>
                <a:latin typeface="Calibri"/>
              </a:rPr>
              <a:t>Refines operational rates and delays; it does not replace the mine-wide DRS model</a:t>
            </a:r>
          </a:p>
        </p:txBody>
      </p:sp>
      <p:grpSp>
        <p:nvGrpSpPr>
          <p:cNvPr id="6" name="Group 5">
            <a:extLst>
              <a:ext uri="{FF2B5EF4-FFF2-40B4-BE49-F238E27FC236}">
                <a16:creationId xmlns:a16="http://schemas.microsoft.com/office/drawing/2014/main" id="{0B4DD95D-094E-FB6D-04A4-C711A84844C1}"/>
              </a:ext>
            </a:extLst>
          </p:cNvPr>
          <p:cNvGrpSpPr/>
          <p:nvPr/>
        </p:nvGrpSpPr>
        <p:grpSpPr>
          <a:xfrm>
            <a:off x="3295691" y="5552333"/>
            <a:ext cx="5096576" cy="676657"/>
            <a:chOff x="3671076" y="5677461"/>
            <a:chExt cx="5096576" cy="676657"/>
          </a:xfrm>
        </p:grpSpPr>
        <p:sp>
          <p:nvSpPr>
            <p:cNvPr id="50" name="Rectangle 49"/>
            <p:cNvSpPr/>
            <p:nvPr/>
          </p:nvSpPr>
          <p:spPr>
            <a:xfrm>
              <a:off x="3671076" y="5677461"/>
              <a:ext cx="54864" cy="676656"/>
            </a:xfrm>
            <a:prstGeom prst="rect">
              <a:avLst/>
            </a:prstGeom>
            <a:solidFill>
              <a:srgbClr val="4C91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 name="Group 4">
              <a:extLst>
                <a:ext uri="{FF2B5EF4-FFF2-40B4-BE49-F238E27FC236}">
                  <a16:creationId xmlns:a16="http://schemas.microsoft.com/office/drawing/2014/main" id="{D4F8554A-F2CC-42FF-B034-67A25329A50C}"/>
                </a:ext>
              </a:extLst>
            </p:cNvPr>
            <p:cNvGrpSpPr/>
            <p:nvPr/>
          </p:nvGrpSpPr>
          <p:grpSpPr>
            <a:xfrm>
              <a:off x="3738452" y="5677462"/>
              <a:ext cx="5029200" cy="676656"/>
              <a:chOff x="3584448" y="4965192"/>
              <a:chExt cx="5029200" cy="676656"/>
            </a:xfrm>
          </p:grpSpPr>
          <p:sp>
            <p:nvSpPr>
              <p:cNvPr id="49" name="Rounded Rectangle 48"/>
              <p:cNvSpPr/>
              <p:nvPr/>
            </p:nvSpPr>
            <p:spPr>
              <a:xfrm>
                <a:off x="3584448" y="4965192"/>
                <a:ext cx="5029200" cy="676656"/>
              </a:xfrm>
              <a:prstGeom prst="roundRect">
                <a:avLst/>
              </a:prstGeom>
              <a:solidFill>
                <a:srgbClr val="FFFFFF"/>
              </a:solidFill>
              <a:ln w="12700">
                <a:solidFill>
                  <a:srgbClr val="D4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749039" y="5047488"/>
                <a:ext cx="4736592" cy="256032"/>
              </a:xfrm>
              <a:prstGeom prst="rect">
                <a:avLst/>
              </a:prstGeom>
              <a:noFill/>
            </p:spPr>
            <p:txBody>
              <a:bodyPr wrap="square" lIns="0" tIns="0" rIns="0" bIns="0" anchor="ctr">
                <a:spAutoFit/>
              </a:bodyPr>
              <a:lstStyle/>
              <a:p>
                <a:pPr algn="ctr"/>
                <a:r>
                  <a:rPr sz="1300" b="1" dirty="0">
                    <a:solidFill>
                      <a:srgbClr val="4C9162"/>
                    </a:solidFill>
                    <a:latin typeface="Calibri"/>
                  </a:rPr>
                  <a:t>Mine-system DRS backbone — state update</a:t>
                </a:r>
              </a:p>
            </p:txBody>
          </p:sp>
          <p:sp>
            <p:nvSpPr>
              <p:cNvPr id="52" name="TextBox 51"/>
              <p:cNvSpPr txBox="1"/>
              <p:nvPr/>
            </p:nvSpPr>
            <p:spPr>
              <a:xfrm>
                <a:off x="3794760" y="5330952"/>
                <a:ext cx="4617720" cy="182880"/>
              </a:xfrm>
              <a:prstGeom prst="rect">
                <a:avLst/>
              </a:prstGeom>
              <a:noFill/>
            </p:spPr>
            <p:txBody>
              <a:bodyPr wrap="none" lIns="18288" tIns="18288" rIns="18288" bIns="18288" anchor="ctr">
                <a:spAutoFit/>
              </a:bodyPr>
              <a:lstStyle/>
              <a:p>
                <a:pPr algn="ctr"/>
                <a:r>
                  <a:rPr sz="1000" b="0">
                    <a:solidFill>
                      <a:srgbClr val="222222"/>
                    </a:solidFill>
                    <a:latin typeface="Calibri"/>
                  </a:rPr>
                  <a:t>rates • stockpiles • development readiness • throughput • value</a:t>
                </a:r>
              </a:p>
            </p:txBody>
          </p:sp>
        </p:grpSp>
      </p:grpSp>
      <p:sp>
        <p:nvSpPr>
          <p:cNvPr id="53" name="Up Arrow 52"/>
          <p:cNvSpPr/>
          <p:nvPr/>
        </p:nvSpPr>
        <p:spPr>
          <a:xfrm>
            <a:off x="763283" y="4107581"/>
            <a:ext cx="329184" cy="658368"/>
          </a:xfrm>
          <a:prstGeom prst="upArrow">
            <a:avLst/>
          </a:prstGeom>
          <a:solidFill>
            <a:srgbClr val="3E6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69816" y="4871827"/>
            <a:ext cx="749808" cy="310896"/>
          </a:xfrm>
          <a:prstGeom prst="rect">
            <a:avLst/>
          </a:prstGeom>
          <a:noFill/>
        </p:spPr>
        <p:txBody>
          <a:bodyPr wrap="square" lIns="0" tIns="0" rIns="0" bIns="0" anchor="t">
            <a:spAutoFit/>
          </a:bodyPr>
          <a:lstStyle/>
          <a:p>
            <a:pPr algn="ctr"/>
            <a:r>
              <a:rPr sz="980" b="1" dirty="0">
                <a:solidFill>
                  <a:srgbClr val="3E659A"/>
                </a:solidFill>
                <a:latin typeface="Calibri"/>
              </a:rPr>
              <a:t>state feedback</a:t>
            </a:r>
          </a:p>
        </p:txBody>
      </p:sp>
      <p:sp>
        <p:nvSpPr>
          <p:cNvPr id="57" name="Down Arrow 56"/>
          <p:cNvSpPr/>
          <p:nvPr/>
        </p:nvSpPr>
        <p:spPr>
          <a:xfrm>
            <a:off x="3724977" y="4931503"/>
            <a:ext cx="502920" cy="612648"/>
          </a:xfrm>
          <a:prstGeom prst="downArrow">
            <a:avLst/>
          </a:prstGeom>
          <a:solidFill>
            <a:srgbClr val="3E6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Down Arrow 57"/>
          <p:cNvSpPr/>
          <p:nvPr/>
        </p:nvSpPr>
        <p:spPr>
          <a:xfrm>
            <a:off x="6472989" y="4976260"/>
            <a:ext cx="502920" cy="519765"/>
          </a:xfrm>
          <a:prstGeom prst="downArrow">
            <a:avLst/>
          </a:prstGeom>
          <a:solidFill>
            <a:srgbClr val="3E6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Down Arrow 58"/>
          <p:cNvSpPr/>
          <p:nvPr/>
        </p:nvSpPr>
        <p:spPr>
          <a:xfrm>
            <a:off x="4140307" y="3740377"/>
            <a:ext cx="384048" cy="237744"/>
          </a:xfrm>
          <a:prstGeom prst="downArrow">
            <a:avLst/>
          </a:prstGeom>
          <a:solidFill>
            <a:srgbClr val="EE8B2D"/>
          </a:solidFill>
          <a:ln>
            <a:solidFill>
              <a:srgbClr val="EE8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20277" y="3761132"/>
            <a:ext cx="2153653" cy="249171"/>
          </a:xfrm>
          <a:prstGeom prst="rect">
            <a:avLst/>
          </a:prstGeom>
          <a:solidFill>
            <a:srgbClr val="F4F7FB"/>
          </a:solidFill>
          <a:ln>
            <a:noFill/>
          </a:ln>
        </p:spPr>
        <p:txBody>
          <a:bodyPr wrap="square" anchor="ctr">
            <a:spAutoFit/>
          </a:bodyPr>
          <a:lstStyle/>
          <a:p>
            <a:pPr algn="ctr"/>
            <a:r>
              <a:rPr sz="1019" b="1">
                <a:solidFill>
                  <a:srgbClr val="3E659A"/>
                </a:solidFill>
                <a:latin typeface="Calibri"/>
              </a:rPr>
              <a:t>Operational execution layer</a:t>
            </a:r>
          </a:p>
        </p:txBody>
      </p:sp>
      <p:sp>
        <p:nvSpPr>
          <p:cNvPr id="61" name="Right Arrow 60"/>
          <p:cNvSpPr/>
          <p:nvPr/>
        </p:nvSpPr>
        <p:spPr>
          <a:xfrm>
            <a:off x="5385816" y="4361688"/>
            <a:ext cx="475488" cy="182880"/>
          </a:xfrm>
          <a:prstGeom prst="rightArrow">
            <a:avLst/>
          </a:prstGeom>
          <a:solidFill>
            <a:srgbClr val="5F5F5F"/>
          </a:solidFill>
          <a:ln>
            <a:solidFill>
              <a:srgbClr val="5F5F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275607" y="3990369"/>
            <a:ext cx="701682" cy="320088"/>
          </a:xfrm>
          <a:prstGeom prst="rect">
            <a:avLst/>
          </a:prstGeom>
          <a:noFill/>
          <a:ln>
            <a:noFill/>
          </a:ln>
        </p:spPr>
        <p:txBody>
          <a:bodyPr wrap="square" anchor="ctr">
            <a:spAutoFit/>
          </a:bodyPr>
          <a:lstStyle/>
          <a:p>
            <a:pPr algn="ctr"/>
            <a:r>
              <a:rPr sz="740" b="1" dirty="0">
                <a:solidFill>
                  <a:srgbClr val="5F5F5F"/>
                </a:solidFill>
                <a:latin typeface="Calibri"/>
              </a:rPr>
              <a:t>refine if needed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68C030-C466-B6C8-5C51-3A112E7363D2}"/>
              </a:ext>
            </a:extLst>
          </p:cNvPr>
          <p:cNvPicPr>
            <a:picLocks noChangeAspect="1"/>
          </p:cNvPicPr>
          <p:nvPr/>
        </p:nvPicPr>
        <p:blipFill>
          <a:blip r:embed="rId2"/>
          <a:stretch>
            <a:fillRect/>
          </a:stretch>
        </p:blipFill>
        <p:spPr>
          <a:xfrm>
            <a:off x="9672112" y="153941"/>
            <a:ext cx="2519888" cy="691833"/>
          </a:xfrm>
          <a:prstGeom prst="rect">
            <a:avLst/>
          </a:prstGeom>
        </p:spPr>
      </p:pic>
      <p:sp>
        <p:nvSpPr>
          <p:cNvPr id="7" name="TextBox 6"/>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RESEARCH QUESTIONS</a:t>
            </a:r>
          </a:p>
        </p:txBody>
      </p:sp>
      <p:sp>
        <p:nvSpPr>
          <p:cNvPr id="8" name="TextBox 7"/>
          <p:cNvSpPr txBox="1"/>
          <p:nvPr/>
        </p:nvSpPr>
        <p:spPr>
          <a:xfrm>
            <a:off x="530352" y="566928"/>
            <a:ext cx="9784080" cy="492443"/>
          </a:xfrm>
          <a:prstGeom prst="rect">
            <a:avLst/>
          </a:prstGeom>
          <a:noFill/>
        </p:spPr>
        <p:txBody>
          <a:bodyPr wrap="square" anchor="t">
            <a:spAutoFit/>
          </a:bodyPr>
          <a:lstStyle/>
          <a:p>
            <a:pPr algn="l"/>
            <a:r>
              <a:rPr sz="2600" b="1" dirty="0">
                <a:solidFill>
                  <a:srgbClr val="202020"/>
                </a:solidFill>
                <a:latin typeface="Calibri"/>
              </a:rPr>
              <a:t>Research Question and Working Hypothesis</a:t>
            </a:r>
          </a:p>
        </p:txBody>
      </p:sp>
      <p:sp>
        <p:nvSpPr>
          <p:cNvPr id="9" name="Rectangle 8"/>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14</a:t>
            </a:r>
          </a:p>
        </p:txBody>
      </p:sp>
      <p:sp>
        <p:nvSpPr>
          <p:cNvPr id="11" name="Rounded Rectangle 10"/>
          <p:cNvSpPr/>
          <p:nvPr/>
        </p:nvSpPr>
        <p:spPr>
          <a:xfrm>
            <a:off x="594360" y="1417320"/>
            <a:ext cx="10972800" cy="141732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1417320"/>
            <a:ext cx="73152" cy="141732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8" y="1581912"/>
            <a:ext cx="10652760" cy="347472"/>
          </a:xfrm>
          <a:prstGeom prst="rect">
            <a:avLst/>
          </a:prstGeom>
          <a:noFill/>
        </p:spPr>
        <p:txBody>
          <a:bodyPr wrap="square" anchor="t">
            <a:spAutoFit/>
          </a:bodyPr>
          <a:lstStyle/>
          <a:p>
            <a:pPr algn="l"/>
            <a:r>
              <a:rPr sz="1800" b="1" dirty="0">
                <a:solidFill>
                  <a:srgbClr val="ED1B2F"/>
                </a:solidFill>
                <a:latin typeface="Calibri"/>
              </a:rPr>
              <a:t>Primary research question</a:t>
            </a:r>
          </a:p>
        </p:txBody>
      </p:sp>
      <p:sp>
        <p:nvSpPr>
          <p:cNvPr id="14" name="TextBox 13"/>
          <p:cNvSpPr txBox="1"/>
          <p:nvPr/>
        </p:nvSpPr>
        <p:spPr>
          <a:xfrm>
            <a:off x="795528" y="2039112"/>
            <a:ext cx="10652760" cy="667512"/>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800" b="0" dirty="0">
                <a:solidFill>
                  <a:srgbClr val="202020"/>
                </a:solidFill>
                <a:latin typeface="Calibri"/>
              </a:rPr>
              <a:t>How can strategic mine-value objectives be translated into stockpile- and readiness-aware tactical switching between Mode A and Mode B, and then into operational resource-allocation decisions within a DRS framework?</a:t>
            </a:r>
          </a:p>
        </p:txBody>
      </p:sp>
      <p:sp>
        <p:nvSpPr>
          <p:cNvPr id="19" name="Rounded Rectangle 18"/>
          <p:cNvSpPr/>
          <p:nvPr/>
        </p:nvSpPr>
        <p:spPr>
          <a:xfrm>
            <a:off x="3190774" y="3426593"/>
            <a:ext cx="5257800" cy="19659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190774" y="3426593"/>
            <a:ext cx="73152" cy="1965960"/>
          </a:xfrm>
          <a:prstGeom prst="rect">
            <a:avLst/>
          </a:prstGeom>
          <a:solidFill>
            <a:srgbClr val="43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91942" y="3591185"/>
            <a:ext cx="4937760" cy="347472"/>
          </a:xfrm>
          <a:prstGeom prst="rect">
            <a:avLst/>
          </a:prstGeom>
          <a:noFill/>
        </p:spPr>
        <p:txBody>
          <a:bodyPr wrap="square" anchor="t">
            <a:spAutoFit/>
          </a:bodyPr>
          <a:lstStyle/>
          <a:p>
            <a:pPr algn="l"/>
            <a:r>
              <a:rPr sz="1700" b="1">
                <a:solidFill>
                  <a:srgbClr val="438B5B"/>
                </a:solidFill>
                <a:latin typeface="Calibri"/>
              </a:rPr>
              <a:t>Working hypothesis</a:t>
            </a:r>
          </a:p>
        </p:txBody>
      </p:sp>
      <p:sp>
        <p:nvSpPr>
          <p:cNvPr id="22" name="TextBox 21"/>
          <p:cNvSpPr txBox="1"/>
          <p:nvPr/>
        </p:nvSpPr>
        <p:spPr>
          <a:xfrm>
            <a:off x="3391942" y="4048385"/>
            <a:ext cx="4937760" cy="1216152"/>
          </a:xfrm>
          <a:prstGeom prst="rect">
            <a:avLst/>
          </a:prstGeom>
          <a:noFill/>
        </p:spPr>
        <p:txBody>
          <a:bodyPr wrap="square" anchor="t">
            <a:spAutoFit/>
          </a:bodyPr>
          <a:lstStyle/>
          <a:p>
            <a:pPr algn="l"/>
            <a:r>
              <a:rPr sz="1600" b="0">
                <a:solidFill>
                  <a:srgbClr val="202020"/>
                </a:solidFill>
                <a:latin typeface="Calibri"/>
              </a:rPr>
              <a:t>A policy that sacrifices some short-term production for timely development can sustain future throughput and outperform a locally optimized policy on discounted mine value.</a:t>
            </a:r>
          </a:p>
        </p:txBody>
      </p:sp>
    </p:spTree>
    <p:extLst>
      <p:ext uri="{BB962C8B-B14F-4D97-AF65-F5344CB8AC3E}">
        <p14:creationId xmlns:p14="http://schemas.microsoft.com/office/powerpoint/2010/main" val="2585544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2830F-2E4F-6C7D-FFED-4870FAE91F8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B86F4F-0A49-A749-0DF5-66A06C222878}"/>
              </a:ext>
            </a:extLst>
          </p:cNvPr>
          <p:cNvSpPr>
            <a:spLocks noGrp="1"/>
          </p:cNvSpPr>
          <p:nvPr>
            <p:ph type="ctrTitle"/>
          </p:nvPr>
        </p:nvSpPr>
        <p:spPr>
          <a:xfrm>
            <a:off x="1199686" y="759756"/>
            <a:ext cx="4620584" cy="4567137"/>
          </a:xfrm>
        </p:spPr>
        <p:txBody>
          <a:bodyPr wrap="square">
            <a:normAutofit/>
          </a:bodyPr>
          <a:lstStyle/>
          <a:p>
            <a:pPr algn="l">
              <a:lnSpc>
                <a:spcPct val="100000"/>
              </a:lnSpc>
            </a:pPr>
            <a:r>
              <a:rPr sz="2400" b="0">
                <a:solidFill>
                  <a:srgbClr val="202020"/>
                </a:solidFill>
                <a:latin typeface="Calibri"/>
              </a:rPr>
              <a:t>Illustrative Mining Case</a:t>
            </a:r>
          </a:p>
        </p:txBody>
      </p:sp>
      <p:pic>
        <p:nvPicPr>
          <p:cNvPr id="2050" name="Picture 2">
            <a:extLst>
              <a:ext uri="{FF2B5EF4-FFF2-40B4-BE49-F238E27FC236}">
                <a16:creationId xmlns:a16="http://schemas.microsoft.com/office/drawing/2014/main" id="{E9142ED3-C466-DA7B-C7A5-2D93575B6292}"/>
              </a:ext>
            </a:extLst>
          </p:cNvPr>
          <p:cNvPicPr>
            <a:picLocks noChangeArrowheads="1"/>
          </p:cNvPicPr>
          <p:nvPr/>
        </p:nvPicPr>
        <p:blipFill rotWithShape="1">
          <a:blip r:embed="rId3"/>
          <a:srcRect l="-3318" r="23626"/>
          <a:stretch>
            <a:fillRect/>
          </a:stretch>
        </p:blipFill>
        <p:spPr bwMode="auto">
          <a:xfrm>
            <a:off x="6229215" y="10"/>
            <a:ext cx="5962785" cy="6904762"/>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98E46162-7D55-780B-2BC5-E06D53C5B47B}"/>
              </a:ext>
            </a:extLst>
          </p:cNvPr>
          <p:cNvSpPr>
            <a:spLocks noGrp="1"/>
          </p:cNvSpPr>
          <p:nvPr>
            <p:ph type="sldNum" sz="quarter" idx="12"/>
          </p:nvPr>
        </p:nvSpPr>
        <p:spPr>
          <a:xfrm>
            <a:off x="8610600" y="6356350"/>
            <a:ext cx="2743200" cy="365125"/>
          </a:xfrm>
        </p:spPr>
        <p:txBody>
          <a:bodyPr>
            <a:normAutofit/>
          </a:bodyPr>
          <a:lstStyle/>
          <a:p>
            <a:pPr algn="ctr"/>
            <a:r>
              <a:rPr sz="900">
                <a:solidFill>
                  <a:srgbClr val="5C5C5C"/>
                </a:solidFill>
                <a:latin typeface="Calibri"/>
              </a:rPr>
              <a:t>15</a:t>
            </a:r>
          </a:p>
        </p:txBody>
      </p:sp>
      <p:pic>
        <p:nvPicPr>
          <p:cNvPr id="8" name="Picture 7" descr="A red letter on a white background&#10;&#10;AI-generated content may be incorrect.">
            <a:extLst>
              <a:ext uri="{FF2B5EF4-FFF2-40B4-BE49-F238E27FC236}">
                <a16:creationId xmlns:a16="http://schemas.microsoft.com/office/drawing/2014/main" id="{90F33EF8-A2B5-CDC4-DBFF-BD48FE4C934F}"/>
              </a:ext>
            </a:extLst>
          </p:cNvPr>
          <p:cNvPicPr>
            <a:picLocks noChangeAspect="1"/>
          </p:cNvPicPr>
          <p:nvPr/>
        </p:nvPicPr>
        <p:blipFill>
          <a:blip r:embed="rId4"/>
          <a:stretch>
            <a:fillRect/>
          </a:stretch>
        </p:blipFill>
        <p:spPr>
          <a:xfrm>
            <a:off x="371265" y="6138312"/>
            <a:ext cx="2124075" cy="583163"/>
          </a:xfrm>
          <a:prstGeom prst="rect">
            <a:avLst/>
          </a:prstGeom>
        </p:spPr>
      </p:pic>
    </p:spTree>
    <p:extLst>
      <p:ext uri="{BB962C8B-B14F-4D97-AF65-F5344CB8AC3E}">
        <p14:creationId xmlns:p14="http://schemas.microsoft.com/office/powerpoint/2010/main" val="3311354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label"/>
          <p:cNvSpPr txBox="1"/>
          <p:nvPr/>
        </p:nvSpPr>
        <p:spPr>
          <a:xfrm>
            <a:off x="530352" y="310896"/>
            <a:ext cx="2926080" cy="256032"/>
          </a:xfrm>
          <a:prstGeom prst="rect">
            <a:avLst/>
          </a:prstGeom>
          <a:noFill/>
        </p:spPr>
        <p:txBody>
          <a:bodyPr wrap="square" lIns="27432" tIns="18288" rIns="27432" bIns="18288" anchor="t">
            <a:spAutoFit/>
          </a:bodyPr>
          <a:lstStyle/>
          <a:p>
            <a:pPr algn="l"/>
            <a:r>
              <a:rPr sz="1000" b="1">
                <a:solidFill>
                  <a:srgbClr val="ED1B2F"/>
                </a:solidFill>
                <a:latin typeface="Calibri"/>
              </a:rPr>
              <a:t>ILLUSTRATIVE TACTICAL CONTEXT</a:t>
            </a:r>
          </a:p>
        </p:txBody>
      </p:sp>
      <p:sp>
        <p:nvSpPr>
          <p:cNvPr id="4" name="TextBox 3"/>
          <p:cNvSpPr txBox="1"/>
          <p:nvPr/>
        </p:nvSpPr>
        <p:spPr>
          <a:xfrm>
            <a:off x="530352" y="713232"/>
            <a:ext cx="10328148" cy="467820"/>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2400" b="1" dirty="0">
                <a:solidFill>
                  <a:srgbClr val="202020"/>
                </a:solidFill>
                <a:latin typeface="Calibri"/>
              </a:rPr>
              <a:t>Why the Tactical Controller Needs Both Mode A and Mode B</a:t>
            </a:r>
          </a:p>
        </p:txBody>
      </p:sp>
      <p:sp>
        <p:nvSpPr>
          <p:cNvPr id="27" name="TextBox 26"/>
          <p:cNvSpPr txBox="1"/>
          <p:nvPr/>
        </p:nvSpPr>
        <p:spPr>
          <a:xfrm>
            <a:off x="11292840" y="6419088"/>
            <a:ext cx="411480" cy="219456"/>
          </a:xfrm>
          <a:prstGeom prst="rect">
            <a:avLst/>
          </a:prstGeom>
          <a:noFill/>
        </p:spPr>
        <p:txBody>
          <a:bodyPr wrap="square" lIns="27432" tIns="18288" rIns="27432" bIns="18288" anchor="t">
            <a:spAutoFit/>
          </a:bodyPr>
          <a:lstStyle/>
          <a:p>
            <a:pPr algn="ctr"/>
            <a:r>
              <a:rPr sz="900">
                <a:solidFill>
                  <a:srgbClr val="5C5C5C"/>
                </a:solidFill>
                <a:latin typeface="Calibri"/>
              </a:rPr>
              <a:t>16</a:t>
            </a:r>
          </a:p>
        </p:txBody>
      </p:sp>
      <p:pic>
        <p:nvPicPr>
          <p:cNvPr id="30" name="Picture 29">
            <a:extLst>
              <a:ext uri="{FF2B5EF4-FFF2-40B4-BE49-F238E27FC236}">
                <a16:creationId xmlns:a16="http://schemas.microsoft.com/office/drawing/2014/main" id="{77634BB3-BB96-5073-DAA9-59C498B65D20}"/>
              </a:ext>
            </a:extLst>
          </p:cNvPr>
          <p:cNvPicPr>
            <a:picLocks noChangeAspect="1"/>
          </p:cNvPicPr>
          <p:nvPr/>
        </p:nvPicPr>
        <p:blipFill>
          <a:blip r:embed="rId3"/>
          <a:stretch>
            <a:fillRect/>
          </a:stretch>
        </p:blipFill>
        <p:spPr>
          <a:xfrm>
            <a:off x="9801224" y="153941"/>
            <a:ext cx="2390775" cy="656385"/>
          </a:xfrm>
          <a:prstGeom prst="rect">
            <a:avLst/>
          </a:prstGeom>
        </p:spPr>
      </p:pic>
      <p:cxnSp>
        <p:nvCxnSpPr>
          <p:cNvPr id="32" name="Straight Connector 31">
            <a:extLst>
              <a:ext uri="{FF2B5EF4-FFF2-40B4-BE49-F238E27FC236}">
                <a16:creationId xmlns:a16="http://schemas.microsoft.com/office/drawing/2014/main" id="{FE08964A-4422-CDDF-D3B5-AEC149BD92C0}"/>
              </a:ext>
            </a:extLst>
          </p:cNvPr>
          <p:cNvCxnSpPr/>
          <p:nvPr/>
        </p:nvCxnSpPr>
        <p:spPr>
          <a:xfrm>
            <a:off x="419100" y="1295128"/>
            <a:ext cx="6781800" cy="0"/>
          </a:xfrm>
          <a:prstGeom prst="line">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33" name="TextBox 32"/>
          <p:cNvSpPr txBox="1"/>
          <p:nvPr/>
        </p:nvSpPr>
        <p:spPr>
          <a:xfrm>
            <a:off x="417736" y="1274385"/>
            <a:ext cx="4800600" cy="256032"/>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500" b="1" dirty="0">
                <a:solidFill>
                  <a:srgbClr val="5E6C7A"/>
                </a:solidFill>
                <a:latin typeface="Calibri"/>
              </a:rPr>
              <a:t>Ore balance explains the need for tactical switching</a:t>
            </a:r>
          </a:p>
        </p:txBody>
      </p:sp>
      <p:sp>
        <p:nvSpPr>
          <p:cNvPr id="34" name="TextBox 33"/>
          <p:cNvSpPr txBox="1"/>
          <p:nvPr/>
        </p:nvSpPr>
        <p:spPr>
          <a:xfrm>
            <a:off x="749808" y="1618487"/>
            <a:ext cx="4315968" cy="201168"/>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300" b="1" dirty="0">
                <a:solidFill>
                  <a:srgbClr val="5E6C7A"/>
                </a:solidFill>
                <a:latin typeface="Calibri"/>
              </a:rPr>
              <a:t>Average deposit supply</a:t>
            </a:r>
          </a:p>
        </p:txBody>
      </p:sp>
      <p:sp>
        <p:nvSpPr>
          <p:cNvPr id="35" name="Rectangle 34"/>
          <p:cNvSpPr/>
          <p:nvPr/>
        </p:nvSpPr>
        <p:spPr>
          <a:xfrm>
            <a:off x="749808" y="1874519"/>
            <a:ext cx="3021177" cy="530352"/>
          </a:xfrm>
          <a:prstGeom prst="rect">
            <a:avLst/>
          </a:prstGeom>
          <a:solidFill>
            <a:srgbClr val="3670B5"/>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770985" y="1874519"/>
            <a:ext cx="1294790" cy="530352"/>
          </a:xfrm>
          <a:prstGeom prst="rect">
            <a:avLst/>
          </a:prstGeom>
          <a:solidFill>
            <a:srgbClr val="C66B35"/>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59" y="1947672"/>
            <a:ext cx="2874873" cy="420623"/>
          </a:xfrm>
          <a:prstGeom prst="rect">
            <a:avLst/>
          </a:prstGeom>
          <a:noFill/>
        </p:spPr>
        <p:txBody>
          <a:bodyPr wrap="square" lIns="73152" tIns="54864" rIns="73152" bIns="54864" anchor="ctr">
            <a:spAutoFit/>
          </a:bodyPr>
          <a:lstStyle/>
          <a:p>
            <a:pPr algn="ctr">
              <a:lnSpc>
                <a:spcPct val="100000"/>
              </a:lnSpc>
              <a:spcBef>
                <a:spcPts val="0"/>
              </a:spcBef>
              <a:spcAft>
                <a:spcPts val="0"/>
              </a:spcAft>
            </a:pPr>
            <a:r>
              <a:rPr sz="1200" b="1">
                <a:solidFill>
                  <a:srgbClr val="FFFFFF"/>
                </a:solidFill>
                <a:latin typeface="Calibri"/>
              </a:rPr>
              <a:t>Ore 1</a:t>
            </a:r>
            <a:br/>
            <a:r>
              <a:rPr sz="1200" b="1">
                <a:solidFill>
                  <a:srgbClr val="FFFFFF"/>
                </a:solidFill>
                <a:latin typeface="Calibri"/>
              </a:rPr>
              <a:t>70%</a:t>
            </a:r>
          </a:p>
        </p:txBody>
      </p:sp>
      <p:sp>
        <p:nvSpPr>
          <p:cNvPr id="38" name="TextBox 37"/>
          <p:cNvSpPr txBox="1"/>
          <p:nvPr/>
        </p:nvSpPr>
        <p:spPr>
          <a:xfrm>
            <a:off x="3816705" y="1947672"/>
            <a:ext cx="1203350" cy="420623"/>
          </a:xfrm>
          <a:prstGeom prst="rect">
            <a:avLst/>
          </a:prstGeom>
          <a:noFill/>
        </p:spPr>
        <p:txBody>
          <a:bodyPr wrap="square" lIns="73152" tIns="54864" rIns="73152" bIns="54864" anchor="ctr">
            <a:spAutoFit/>
          </a:bodyPr>
          <a:lstStyle/>
          <a:p>
            <a:pPr algn="ctr">
              <a:lnSpc>
                <a:spcPct val="100000"/>
              </a:lnSpc>
              <a:spcBef>
                <a:spcPts val="0"/>
              </a:spcBef>
              <a:spcAft>
                <a:spcPts val="0"/>
              </a:spcAft>
            </a:pPr>
            <a:r>
              <a:rPr sz="1200" b="1">
                <a:solidFill>
                  <a:srgbClr val="FFFFFF"/>
                </a:solidFill>
                <a:latin typeface="Calibri"/>
              </a:rPr>
              <a:t>Ore 2</a:t>
            </a:r>
            <a:br/>
            <a:r>
              <a:rPr sz="1200" b="1">
                <a:solidFill>
                  <a:srgbClr val="FFFFFF"/>
                </a:solidFill>
                <a:latin typeface="Calibri"/>
              </a:rPr>
              <a:t>30%</a:t>
            </a:r>
          </a:p>
        </p:txBody>
      </p:sp>
      <p:sp>
        <p:nvSpPr>
          <p:cNvPr id="39" name="TextBox 38"/>
          <p:cNvSpPr txBox="1"/>
          <p:nvPr/>
        </p:nvSpPr>
        <p:spPr>
          <a:xfrm>
            <a:off x="749808" y="2651760"/>
            <a:ext cx="4315968" cy="201168"/>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300" b="1" dirty="0">
                <a:solidFill>
                  <a:srgbClr val="5E6C7A"/>
                </a:solidFill>
                <a:latin typeface="Calibri"/>
              </a:rPr>
              <a:t>Mode A — Productive configuration</a:t>
            </a:r>
          </a:p>
        </p:txBody>
      </p:sp>
      <p:sp>
        <p:nvSpPr>
          <p:cNvPr id="40" name="Rectangle 39"/>
          <p:cNvSpPr/>
          <p:nvPr/>
        </p:nvSpPr>
        <p:spPr>
          <a:xfrm>
            <a:off x="749808" y="2907792"/>
            <a:ext cx="2589580" cy="530352"/>
          </a:xfrm>
          <a:prstGeom prst="rect">
            <a:avLst/>
          </a:prstGeom>
          <a:solidFill>
            <a:srgbClr val="3670B5"/>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339388" y="2907792"/>
            <a:ext cx="1726387" cy="530352"/>
          </a:xfrm>
          <a:prstGeom prst="rect">
            <a:avLst/>
          </a:prstGeom>
          <a:solidFill>
            <a:srgbClr val="C66B35"/>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2959" y="2980944"/>
            <a:ext cx="2443276" cy="420623"/>
          </a:xfrm>
          <a:prstGeom prst="rect">
            <a:avLst/>
          </a:prstGeom>
          <a:noFill/>
        </p:spPr>
        <p:txBody>
          <a:bodyPr wrap="square" lIns="73152" tIns="54864" rIns="73152" bIns="54864" anchor="ctr">
            <a:spAutoFit/>
          </a:bodyPr>
          <a:lstStyle/>
          <a:p>
            <a:pPr algn="ctr">
              <a:lnSpc>
                <a:spcPct val="100000"/>
              </a:lnSpc>
              <a:spcBef>
                <a:spcPts val="0"/>
              </a:spcBef>
              <a:spcAft>
                <a:spcPts val="0"/>
              </a:spcAft>
            </a:pPr>
            <a:r>
              <a:rPr sz="1200" b="1">
                <a:solidFill>
                  <a:srgbClr val="FFFFFF"/>
                </a:solidFill>
                <a:latin typeface="Calibri"/>
              </a:rPr>
              <a:t>Ore 1</a:t>
            </a:r>
            <a:br/>
            <a:r>
              <a:rPr sz="1200" b="1">
                <a:solidFill>
                  <a:srgbClr val="FFFFFF"/>
                </a:solidFill>
                <a:latin typeface="Calibri"/>
              </a:rPr>
              <a:t>60%</a:t>
            </a:r>
          </a:p>
        </p:txBody>
      </p:sp>
      <p:sp>
        <p:nvSpPr>
          <p:cNvPr id="43" name="TextBox 42"/>
          <p:cNvSpPr txBox="1"/>
          <p:nvPr/>
        </p:nvSpPr>
        <p:spPr>
          <a:xfrm>
            <a:off x="3385108" y="2980944"/>
            <a:ext cx="1634947" cy="420623"/>
          </a:xfrm>
          <a:prstGeom prst="rect">
            <a:avLst/>
          </a:prstGeom>
          <a:noFill/>
        </p:spPr>
        <p:txBody>
          <a:bodyPr wrap="square" lIns="73152" tIns="54864" rIns="73152" bIns="54864" anchor="ctr">
            <a:spAutoFit/>
          </a:bodyPr>
          <a:lstStyle/>
          <a:p>
            <a:pPr algn="ctr">
              <a:lnSpc>
                <a:spcPct val="100000"/>
              </a:lnSpc>
              <a:spcBef>
                <a:spcPts val="0"/>
              </a:spcBef>
              <a:spcAft>
                <a:spcPts val="0"/>
              </a:spcAft>
            </a:pPr>
            <a:r>
              <a:rPr sz="1200" b="1">
                <a:solidFill>
                  <a:srgbClr val="FFFFFF"/>
                </a:solidFill>
                <a:latin typeface="Calibri"/>
              </a:rPr>
              <a:t>Ore 2</a:t>
            </a:r>
            <a:br/>
            <a:r>
              <a:rPr sz="1200" b="1">
                <a:solidFill>
                  <a:srgbClr val="FFFFFF"/>
                </a:solidFill>
                <a:latin typeface="Calibri"/>
              </a:rPr>
              <a:t>40%</a:t>
            </a:r>
          </a:p>
        </p:txBody>
      </p:sp>
      <p:sp>
        <p:nvSpPr>
          <p:cNvPr id="44" name="TextBox 43"/>
          <p:cNvSpPr txBox="1"/>
          <p:nvPr/>
        </p:nvSpPr>
        <p:spPr>
          <a:xfrm>
            <a:off x="5138928" y="2889504"/>
            <a:ext cx="932688" cy="566928"/>
          </a:xfrm>
          <a:prstGeom prst="rect">
            <a:avLst/>
          </a:prstGeom>
          <a:noFill/>
        </p:spPr>
        <p:txBody>
          <a:bodyPr wrap="square" lIns="73152" tIns="54864" rIns="73152" bIns="54864" anchor="ctr">
            <a:spAutoFit/>
          </a:bodyPr>
          <a:lstStyle/>
          <a:p>
            <a:pPr algn="ctr">
              <a:lnSpc>
                <a:spcPct val="100000"/>
              </a:lnSpc>
              <a:spcBef>
                <a:spcPts val="0"/>
              </a:spcBef>
              <a:spcAft>
                <a:spcPts val="0"/>
              </a:spcAft>
            </a:pPr>
            <a:r>
              <a:rPr sz="1700" b="1">
                <a:solidFill>
                  <a:srgbClr val="3F6291"/>
                </a:solidFill>
                <a:latin typeface="Calibri"/>
              </a:rPr>
              <a:t>250 t/h</a:t>
            </a:r>
          </a:p>
        </p:txBody>
      </p:sp>
      <p:sp>
        <p:nvSpPr>
          <p:cNvPr id="45" name="TextBox 44"/>
          <p:cNvSpPr txBox="1"/>
          <p:nvPr/>
        </p:nvSpPr>
        <p:spPr>
          <a:xfrm>
            <a:off x="749808" y="3685031"/>
            <a:ext cx="4315968" cy="201168"/>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300" b="1" dirty="0">
                <a:solidFill>
                  <a:srgbClr val="5E6C7A"/>
                </a:solidFill>
                <a:latin typeface="Calibri"/>
              </a:rPr>
              <a:t>Mode B — Recuperative configuration</a:t>
            </a:r>
          </a:p>
        </p:txBody>
      </p:sp>
      <p:sp>
        <p:nvSpPr>
          <p:cNvPr id="46" name="Rectangle 45"/>
          <p:cNvSpPr/>
          <p:nvPr/>
        </p:nvSpPr>
        <p:spPr>
          <a:xfrm>
            <a:off x="749808" y="3941063"/>
            <a:ext cx="3668572" cy="530352"/>
          </a:xfrm>
          <a:prstGeom prst="rect">
            <a:avLst/>
          </a:prstGeom>
          <a:solidFill>
            <a:srgbClr val="3670B5"/>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18380" y="3941063"/>
            <a:ext cx="647395" cy="530352"/>
          </a:xfrm>
          <a:prstGeom prst="rect">
            <a:avLst/>
          </a:prstGeom>
          <a:solidFill>
            <a:srgbClr val="C66B35"/>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59" y="4014215"/>
            <a:ext cx="3522268" cy="420623"/>
          </a:xfrm>
          <a:prstGeom prst="rect">
            <a:avLst/>
          </a:prstGeom>
          <a:noFill/>
        </p:spPr>
        <p:txBody>
          <a:bodyPr wrap="square" lIns="73152" tIns="54864" rIns="73152" bIns="54864" anchor="ctr">
            <a:spAutoFit/>
          </a:bodyPr>
          <a:lstStyle/>
          <a:p>
            <a:pPr algn="ctr">
              <a:lnSpc>
                <a:spcPct val="100000"/>
              </a:lnSpc>
              <a:spcBef>
                <a:spcPts val="0"/>
              </a:spcBef>
              <a:spcAft>
                <a:spcPts val="0"/>
              </a:spcAft>
            </a:pPr>
            <a:r>
              <a:rPr sz="1200" b="1">
                <a:solidFill>
                  <a:srgbClr val="FFFFFF"/>
                </a:solidFill>
                <a:latin typeface="Calibri"/>
              </a:rPr>
              <a:t>Ore 1</a:t>
            </a:r>
            <a:br/>
            <a:r>
              <a:rPr sz="1200" b="1">
                <a:solidFill>
                  <a:srgbClr val="FFFFFF"/>
                </a:solidFill>
                <a:latin typeface="Calibri"/>
              </a:rPr>
              <a:t>85%</a:t>
            </a:r>
          </a:p>
        </p:txBody>
      </p:sp>
      <p:sp>
        <p:nvSpPr>
          <p:cNvPr id="49" name="TextBox 48"/>
          <p:cNvSpPr txBox="1"/>
          <p:nvPr/>
        </p:nvSpPr>
        <p:spPr>
          <a:xfrm>
            <a:off x="4464100" y="4014215"/>
            <a:ext cx="555955" cy="420623"/>
          </a:xfrm>
          <a:prstGeom prst="rect">
            <a:avLst/>
          </a:prstGeom>
          <a:noFill/>
        </p:spPr>
        <p:txBody>
          <a:bodyPr wrap="square" lIns="73152" tIns="54864" rIns="73152" bIns="54864" anchor="ctr">
            <a:spAutoFit/>
          </a:bodyPr>
          <a:lstStyle/>
          <a:p>
            <a:pPr algn="ctr">
              <a:lnSpc>
                <a:spcPct val="100000"/>
              </a:lnSpc>
              <a:spcBef>
                <a:spcPts val="0"/>
              </a:spcBef>
              <a:spcAft>
                <a:spcPts val="0"/>
              </a:spcAft>
            </a:pPr>
            <a:r>
              <a:rPr sz="1200" b="1">
                <a:solidFill>
                  <a:srgbClr val="FFFFFF"/>
                </a:solidFill>
                <a:latin typeface="Calibri"/>
              </a:rPr>
              <a:t>Ore 2</a:t>
            </a:r>
            <a:br/>
            <a:r>
              <a:rPr sz="1200" b="1">
                <a:solidFill>
                  <a:srgbClr val="FFFFFF"/>
                </a:solidFill>
                <a:latin typeface="Calibri"/>
              </a:rPr>
              <a:t>15%</a:t>
            </a:r>
          </a:p>
        </p:txBody>
      </p:sp>
      <p:sp>
        <p:nvSpPr>
          <p:cNvPr id="50" name="TextBox 49"/>
          <p:cNvSpPr txBox="1"/>
          <p:nvPr/>
        </p:nvSpPr>
        <p:spPr>
          <a:xfrm>
            <a:off x="5138928" y="3922776"/>
            <a:ext cx="932688" cy="566928"/>
          </a:xfrm>
          <a:prstGeom prst="rect">
            <a:avLst/>
          </a:prstGeom>
          <a:noFill/>
        </p:spPr>
        <p:txBody>
          <a:bodyPr wrap="square" lIns="73152" tIns="54864" rIns="73152" bIns="54864" anchor="ctr">
            <a:spAutoFit/>
          </a:bodyPr>
          <a:lstStyle/>
          <a:p>
            <a:pPr algn="ctr">
              <a:lnSpc>
                <a:spcPct val="100000"/>
              </a:lnSpc>
              <a:spcBef>
                <a:spcPts val="0"/>
              </a:spcBef>
              <a:spcAft>
                <a:spcPts val="0"/>
              </a:spcAft>
            </a:pPr>
            <a:r>
              <a:rPr sz="1700" b="1">
                <a:solidFill>
                  <a:srgbClr val="438B5B"/>
                </a:solidFill>
                <a:latin typeface="Calibri"/>
              </a:rPr>
              <a:t>225 t/h</a:t>
            </a:r>
          </a:p>
        </p:txBody>
      </p:sp>
      <p:sp>
        <p:nvSpPr>
          <p:cNvPr id="51" name="Rounded Rectangle 50"/>
          <p:cNvSpPr/>
          <p:nvPr/>
        </p:nvSpPr>
        <p:spPr>
          <a:xfrm>
            <a:off x="6382512" y="1444752"/>
            <a:ext cx="4818888" cy="1261872"/>
          </a:xfrm>
          <a:prstGeom prst="roundRect">
            <a:avLst/>
          </a:prstGeom>
          <a:solidFill>
            <a:srgbClr val="FFFFFF"/>
          </a:solidFill>
          <a:ln w="12700">
            <a:solidFill>
              <a:srgbClr val="D0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20256" y="1609344"/>
            <a:ext cx="4315968" cy="274320"/>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700" b="1">
                <a:solidFill>
                  <a:srgbClr val="3F6291"/>
                </a:solidFill>
                <a:latin typeface="Calibri"/>
              </a:rPr>
              <a:t>Mode A: higher throughput, Ore 2 is depleted</a:t>
            </a:r>
          </a:p>
        </p:txBody>
      </p:sp>
      <p:sp>
        <p:nvSpPr>
          <p:cNvPr id="53" name="TextBox 52"/>
          <p:cNvSpPr txBox="1"/>
          <p:nvPr/>
        </p:nvSpPr>
        <p:spPr>
          <a:xfrm>
            <a:off x="6620256" y="1954891"/>
            <a:ext cx="4315968" cy="521207"/>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500" b="0" dirty="0">
                <a:solidFill>
                  <a:srgbClr val="202020"/>
                </a:solidFill>
                <a:latin typeface="Calibri"/>
              </a:rPr>
              <a:t>A requires 40% Ore 2 while the average deposit supplies 30%. Staying in A indefinitely creates Ore 2 stockout risk.</a:t>
            </a:r>
          </a:p>
        </p:txBody>
      </p:sp>
      <p:sp>
        <p:nvSpPr>
          <p:cNvPr id="54" name="Rounded Rectangle 53"/>
          <p:cNvSpPr/>
          <p:nvPr/>
        </p:nvSpPr>
        <p:spPr>
          <a:xfrm>
            <a:off x="6382512" y="2880360"/>
            <a:ext cx="4818888" cy="1261872"/>
          </a:xfrm>
          <a:prstGeom prst="roundRect">
            <a:avLst/>
          </a:prstGeom>
          <a:solidFill>
            <a:srgbClr val="FFFFFF"/>
          </a:solidFill>
          <a:ln w="12700">
            <a:solidFill>
              <a:srgbClr val="D0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620256" y="3044952"/>
            <a:ext cx="4315968" cy="274320"/>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700" b="1">
                <a:solidFill>
                  <a:srgbClr val="438B5B"/>
                </a:solidFill>
                <a:latin typeface="Calibri"/>
              </a:rPr>
              <a:t>Mode B: lower throughput, Ore 2 can recover</a:t>
            </a:r>
          </a:p>
        </p:txBody>
      </p:sp>
      <p:sp>
        <p:nvSpPr>
          <p:cNvPr id="56" name="TextBox 55"/>
          <p:cNvSpPr txBox="1"/>
          <p:nvPr/>
        </p:nvSpPr>
        <p:spPr>
          <a:xfrm>
            <a:off x="6620256" y="3429000"/>
            <a:ext cx="4315968" cy="521207"/>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500" b="0">
                <a:solidFill>
                  <a:srgbClr val="202020"/>
                </a:solidFill>
                <a:latin typeface="Calibri"/>
              </a:rPr>
              <a:t>B uses only 15% Ore 2 while the deposit supplies about 30%, allowing the vulnerable Ore 2 stockpile to rebuild.</a:t>
            </a:r>
          </a:p>
        </p:txBody>
      </p:sp>
      <p:sp>
        <p:nvSpPr>
          <p:cNvPr id="57" name="Rounded Rectangle 56"/>
          <p:cNvSpPr/>
          <p:nvPr/>
        </p:nvSpPr>
        <p:spPr>
          <a:xfrm>
            <a:off x="6382512" y="4325112"/>
            <a:ext cx="4818888" cy="1298448"/>
          </a:xfrm>
          <a:prstGeom prst="roundRect">
            <a:avLst/>
          </a:prstGeom>
          <a:solidFill>
            <a:srgbClr val="F7F8FA"/>
          </a:solidFill>
          <a:ln w="12700">
            <a:solidFill>
              <a:srgbClr val="B7C0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620256" y="4489704"/>
            <a:ext cx="4315968" cy="256032"/>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700" b="1">
                <a:solidFill>
                  <a:srgbClr val="E69138"/>
                </a:solidFill>
                <a:latin typeface="Calibri"/>
              </a:rPr>
              <a:t>A ↔ B is the tactical decision</a:t>
            </a:r>
          </a:p>
        </p:txBody>
      </p:sp>
      <p:sp>
        <p:nvSpPr>
          <p:cNvPr id="59" name="TextBox 58"/>
          <p:cNvSpPr txBox="1"/>
          <p:nvPr/>
        </p:nvSpPr>
        <p:spPr>
          <a:xfrm>
            <a:off x="6620256" y="4837176"/>
            <a:ext cx="4315968" cy="621792"/>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400" b="0" dirty="0">
                <a:solidFill>
                  <a:srgbClr val="202020"/>
                </a:solidFill>
                <a:latin typeface="Calibri"/>
              </a:rPr>
              <a:t>Stay in A while Ore 2 is sufficiently protected. At an allowed decision point, switch to B when Ore 2 approaches the critical level Y; return to A after recovery.</a:t>
            </a:r>
          </a:p>
        </p:txBody>
      </p:sp>
      <p:sp>
        <p:nvSpPr>
          <p:cNvPr id="60" name="TextBox 59"/>
          <p:cNvSpPr txBox="1"/>
          <p:nvPr/>
        </p:nvSpPr>
        <p:spPr>
          <a:xfrm>
            <a:off x="682431" y="4872790"/>
            <a:ext cx="5285232" cy="621792"/>
          </a:xfrm>
          <a:prstGeom prst="rect">
            <a:avLst/>
          </a:prstGeom>
          <a:noFill/>
        </p:spPr>
        <p:txBody>
          <a:bodyPr wrap="square" lIns="73152" tIns="54864" rIns="73152" bIns="54864" anchor="ctr">
            <a:spAutoFit/>
          </a:bodyPr>
          <a:lstStyle/>
          <a:p>
            <a:pPr algn="ctr">
              <a:lnSpc>
                <a:spcPct val="100000"/>
              </a:lnSpc>
              <a:spcBef>
                <a:spcPts val="0"/>
              </a:spcBef>
              <a:spcAft>
                <a:spcPts val="0"/>
              </a:spcAft>
            </a:pPr>
            <a:r>
              <a:rPr sz="1400" b="1">
                <a:solidFill>
                  <a:srgbClr val="5C5C5C"/>
                </a:solidFill>
                <a:latin typeface="Calibri"/>
              </a:rPr>
              <a:t>Regular / Contingency / Mine Surging are operating conditions within the selected tactical mode—not separate tactical configurations.</a:t>
            </a:r>
          </a:p>
        </p:txBody>
      </p:sp>
      <p:sp>
        <p:nvSpPr>
          <p:cNvPr id="61" name="TextBox 60"/>
          <p:cNvSpPr txBox="1"/>
          <p:nvPr/>
        </p:nvSpPr>
        <p:spPr>
          <a:xfrm>
            <a:off x="8211312" y="5788152"/>
            <a:ext cx="2423160" cy="182880"/>
          </a:xfrm>
          <a:prstGeom prst="rect">
            <a:avLst/>
          </a:prstGeom>
          <a:noFill/>
        </p:spPr>
        <p:txBody>
          <a:bodyPr wrap="square" lIns="73152" tIns="54864" rIns="73152" bIns="54864" anchor="t">
            <a:spAutoFit/>
          </a:bodyPr>
          <a:lstStyle/>
          <a:p>
            <a:pPr algn="r">
              <a:lnSpc>
                <a:spcPct val="100000"/>
              </a:lnSpc>
              <a:spcBef>
                <a:spcPts val="0"/>
              </a:spcBef>
              <a:spcAft>
                <a:spcPts val="0"/>
              </a:spcAft>
            </a:pPr>
            <a:r>
              <a:rPr sz="1000" b="0">
                <a:solidFill>
                  <a:srgbClr val="5C5C5C"/>
                </a:solidFill>
                <a:latin typeface="Calibri"/>
              </a:rPr>
              <a:t>Source: Navarra et al. (2019), Table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D468FC92-1C8A-1957-188F-43CCD6C9996D}"/>
              </a:ext>
            </a:extLst>
          </p:cNvPr>
          <p:cNvPicPr>
            <a:picLocks noChangeAspect="1"/>
          </p:cNvPicPr>
          <p:nvPr/>
        </p:nvPicPr>
        <p:blipFill>
          <a:blip r:embed="rId2"/>
          <a:stretch>
            <a:fillRect/>
          </a:stretch>
        </p:blipFill>
        <p:spPr>
          <a:xfrm>
            <a:off x="9672112" y="153941"/>
            <a:ext cx="2519888" cy="691833"/>
          </a:xfrm>
          <a:prstGeom prst="rect">
            <a:avLst/>
          </a:prstGeom>
        </p:spPr>
      </p:pic>
      <p:sp>
        <p:nvSpPr>
          <p:cNvPr id="29" name="TextBox 28"/>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LINKING THE LEVELS</a:t>
            </a:r>
          </a:p>
        </p:txBody>
      </p:sp>
      <p:sp>
        <p:nvSpPr>
          <p:cNvPr id="30" name="TextBox 29"/>
          <p:cNvSpPr txBox="1"/>
          <p:nvPr/>
        </p:nvSpPr>
        <p:spPr>
          <a:xfrm>
            <a:off x="530352" y="566928"/>
            <a:ext cx="9784080" cy="530352"/>
          </a:xfrm>
          <a:prstGeom prst="rect">
            <a:avLst/>
          </a:prstGeom>
          <a:noFill/>
        </p:spPr>
        <p:txBody>
          <a:bodyPr wrap="square" anchor="t">
            <a:spAutoFit/>
          </a:bodyPr>
          <a:lstStyle/>
          <a:p>
            <a:pPr algn="l"/>
            <a:r>
              <a:rPr sz="2600" b="1" dirty="0">
                <a:solidFill>
                  <a:srgbClr val="202020"/>
                </a:solidFill>
                <a:latin typeface="Calibri"/>
              </a:rPr>
              <a:t>From Strategic Objective to Operational Action</a:t>
            </a:r>
          </a:p>
        </p:txBody>
      </p:sp>
      <p:sp>
        <p:nvSpPr>
          <p:cNvPr id="32" name="TextBox 31"/>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17</a:t>
            </a:r>
          </a:p>
        </p:txBody>
      </p:sp>
      <p:sp>
        <p:nvSpPr>
          <p:cNvPr id="33" name="Rounded Rectangle 32"/>
          <p:cNvSpPr/>
          <p:nvPr/>
        </p:nvSpPr>
        <p:spPr>
          <a:xfrm>
            <a:off x="658368" y="1554480"/>
            <a:ext cx="3108960" cy="3108960"/>
          </a:xfrm>
          <a:prstGeom prst="roundRect">
            <a:avLst/>
          </a:prstGeom>
          <a:solidFill>
            <a:srgbClr val="FFFFFF"/>
          </a:solidFill>
          <a:ln w="15240">
            <a:solidFill>
              <a:srgbClr val="D4D7DC"/>
            </a:solidFill>
          </a:ln>
        </p:spPr>
        <p:style>
          <a:lnRef idx="1">
            <a:schemeClr val="accent1"/>
          </a:lnRef>
          <a:fillRef idx="3">
            <a:schemeClr val="accent1"/>
          </a:fillRef>
          <a:effectRef idx="2">
            <a:schemeClr val="accent1"/>
          </a:effectRef>
          <a:fontRef idx="minor">
            <a:schemeClr val="lt1"/>
          </a:fontRef>
        </p:style>
        <p:txBody>
          <a:bodyPr wrap="square" lIns="219456" tIns="146304" rIns="164592" bIns="91440" rtlCol="0" anchor="ctr"/>
          <a:lstStyle/>
          <a:p>
            <a:pPr algn="ctr">
              <a:spcBef>
                <a:spcPts val="0"/>
              </a:spcBef>
              <a:spcAft>
                <a:spcPts val="700"/>
              </a:spcAft>
            </a:pPr>
            <a:r>
              <a:rPr sz="1700" b="1" dirty="0">
                <a:solidFill>
                  <a:srgbClr val="ED1B2F"/>
                </a:solidFill>
                <a:latin typeface="Calibri"/>
              </a:rPr>
              <a:t>Strategic objective</a:t>
            </a:r>
          </a:p>
          <a:p>
            <a:pPr>
              <a:spcBef>
                <a:spcPts val="0"/>
              </a:spcBef>
              <a:spcAft>
                <a:spcPts val="300"/>
              </a:spcAft>
            </a:pPr>
            <a:r>
              <a:rPr sz="1400" b="0" dirty="0">
                <a:solidFill>
                  <a:srgbClr val="222222"/>
                </a:solidFill>
                <a:latin typeface="Calibri"/>
              </a:rPr>
              <a:t>Maximize discounted mine value.</a:t>
            </a:r>
          </a:p>
          <a:p>
            <a:pPr>
              <a:spcBef>
                <a:spcPts val="0"/>
              </a:spcBef>
              <a:spcAft>
                <a:spcPts val="300"/>
              </a:spcAft>
            </a:pPr>
            <a:r>
              <a:rPr sz="1400" b="0" dirty="0">
                <a:solidFill>
                  <a:srgbClr val="222222"/>
                </a:solidFill>
                <a:latin typeface="Calibri"/>
              </a:rPr>
              <a:t>Defines future-access requirements, production timing, development priorities and economic trade-offs.</a:t>
            </a:r>
          </a:p>
        </p:txBody>
      </p:sp>
      <p:sp>
        <p:nvSpPr>
          <p:cNvPr id="34" name="Rectangle 33"/>
          <p:cNvSpPr/>
          <p:nvPr/>
        </p:nvSpPr>
        <p:spPr>
          <a:xfrm>
            <a:off x="658368" y="1554480"/>
            <a:ext cx="54864" cy="31089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ight Arrow 34"/>
          <p:cNvSpPr/>
          <p:nvPr/>
        </p:nvSpPr>
        <p:spPr>
          <a:xfrm>
            <a:off x="3840480" y="2697480"/>
            <a:ext cx="438912" cy="420624"/>
          </a:xfrm>
          <a:prstGeom prst="rightArrow">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4352544" y="1554480"/>
            <a:ext cx="3246120" cy="3108960"/>
          </a:xfrm>
          <a:prstGeom prst="roundRect">
            <a:avLst/>
          </a:prstGeom>
          <a:solidFill>
            <a:srgbClr val="FFFFFF"/>
          </a:solidFill>
          <a:ln w="15240">
            <a:solidFill>
              <a:srgbClr val="D4D7DC"/>
            </a:solidFill>
          </a:ln>
        </p:spPr>
        <p:style>
          <a:lnRef idx="1">
            <a:schemeClr val="accent1"/>
          </a:lnRef>
          <a:fillRef idx="3">
            <a:schemeClr val="accent1"/>
          </a:fillRef>
          <a:effectRef idx="2">
            <a:schemeClr val="accent1"/>
          </a:effectRef>
          <a:fontRef idx="minor">
            <a:schemeClr val="lt1"/>
          </a:fontRef>
        </p:style>
        <p:txBody>
          <a:bodyPr wrap="square" lIns="164592" tIns="164592" rIns="146304" bIns="109728" rtlCol="0" anchor="t"/>
          <a:lstStyle/>
          <a:p>
            <a:pPr algn="l">
              <a:lnSpc>
                <a:spcPct val="100000"/>
              </a:lnSpc>
              <a:spcBef>
                <a:spcPts val="0"/>
              </a:spcBef>
              <a:spcAft>
                <a:spcPts val="700"/>
              </a:spcAft>
            </a:pPr>
            <a:r>
              <a:rPr sz="1800" b="1" dirty="0">
                <a:solidFill>
                  <a:srgbClr val="E69138"/>
                </a:solidFill>
                <a:latin typeface="Calibri"/>
              </a:rPr>
              <a:t>Tactical controller</a:t>
            </a:r>
          </a:p>
          <a:p>
            <a:pPr algn="l">
              <a:lnSpc>
                <a:spcPct val="100000"/>
              </a:lnSpc>
              <a:spcBef>
                <a:spcPts val="0"/>
              </a:spcBef>
              <a:spcAft>
                <a:spcPts val="800"/>
              </a:spcAft>
            </a:pPr>
            <a:r>
              <a:rPr sz="1450" b="0" dirty="0">
                <a:solidFill>
                  <a:srgbClr val="202020"/>
                </a:solidFill>
                <a:latin typeface="Calibri"/>
              </a:rPr>
              <a:t>Observes Ore 1 / Ore 2 stockpiles, target X, critical Ore 2 level Y and future readiness.</a:t>
            </a:r>
          </a:p>
          <a:p>
            <a:pPr algn="l">
              <a:lnSpc>
                <a:spcPct val="100000"/>
              </a:lnSpc>
              <a:spcBef>
                <a:spcPts val="0"/>
              </a:spcBef>
              <a:spcAft>
                <a:spcPts val="800"/>
              </a:spcAft>
            </a:pPr>
            <a:r>
              <a:rPr sz="1450" b="0" dirty="0">
                <a:solidFill>
                  <a:srgbClr val="202020"/>
                </a:solidFill>
                <a:latin typeface="Calibri"/>
              </a:rPr>
              <a:t>At allowable decision points:</a:t>
            </a:r>
            <a:br>
              <a:rPr dirty="0"/>
            </a:br>
            <a:r>
              <a:rPr sz="1450" b="0" dirty="0">
                <a:solidFill>
                  <a:srgbClr val="202020"/>
                </a:solidFill>
                <a:latin typeface="Calibri"/>
              </a:rPr>
              <a:t>Mode A (productive) ↔ Mode B (recuperative)</a:t>
            </a:r>
          </a:p>
          <a:p>
            <a:pPr algn="l">
              <a:lnSpc>
                <a:spcPct val="100000"/>
              </a:lnSpc>
              <a:spcBef>
                <a:spcPts val="0"/>
              </a:spcBef>
              <a:spcAft>
                <a:spcPts val="0"/>
              </a:spcAft>
            </a:pPr>
            <a:r>
              <a:rPr sz="1450" b="0" dirty="0">
                <a:solidFill>
                  <a:srgbClr val="202020"/>
                </a:solidFill>
                <a:latin typeface="Calibri"/>
              </a:rPr>
              <a:t>Within the selected mode:</a:t>
            </a:r>
            <a:br>
              <a:rPr dirty="0"/>
            </a:br>
            <a:r>
              <a:rPr sz="1450" b="0" dirty="0">
                <a:solidFill>
                  <a:srgbClr val="202020"/>
                </a:solidFill>
                <a:latin typeface="Calibri"/>
              </a:rPr>
              <a:t>Regular / Contingency / Mine Surging</a:t>
            </a:r>
          </a:p>
        </p:txBody>
      </p:sp>
      <p:sp>
        <p:nvSpPr>
          <p:cNvPr id="37" name="Rectangle 36"/>
          <p:cNvSpPr/>
          <p:nvPr/>
        </p:nvSpPr>
        <p:spPr>
          <a:xfrm>
            <a:off x="4352544" y="1554480"/>
            <a:ext cx="54864" cy="3108960"/>
          </a:xfrm>
          <a:prstGeom prst="rect">
            <a:avLst/>
          </a:prstGeom>
          <a:solidFill>
            <a:srgbClr val="EE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ight Arrow 37"/>
          <p:cNvSpPr/>
          <p:nvPr/>
        </p:nvSpPr>
        <p:spPr>
          <a:xfrm>
            <a:off x="7671816" y="2697480"/>
            <a:ext cx="438912" cy="420624"/>
          </a:xfrm>
          <a:prstGeom prst="rightArrow">
            <a:avLst/>
          </a:prstGeom>
          <a:solidFill>
            <a:srgbClr val="EE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8183879" y="1554480"/>
            <a:ext cx="3364992" cy="3108960"/>
          </a:xfrm>
          <a:prstGeom prst="roundRect">
            <a:avLst/>
          </a:prstGeom>
          <a:solidFill>
            <a:srgbClr val="FFFFFF"/>
          </a:solidFill>
          <a:ln w="15240">
            <a:solidFill>
              <a:srgbClr val="D4D7DC"/>
            </a:solidFill>
          </a:ln>
        </p:spPr>
        <p:style>
          <a:lnRef idx="1">
            <a:schemeClr val="accent1"/>
          </a:lnRef>
          <a:fillRef idx="3">
            <a:schemeClr val="accent1"/>
          </a:fillRef>
          <a:effectRef idx="2">
            <a:schemeClr val="accent1"/>
          </a:effectRef>
          <a:fontRef idx="minor">
            <a:schemeClr val="lt1"/>
          </a:fontRef>
        </p:style>
        <p:txBody>
          <a:bodyPr wrap="square" lIns="219456" tIns="146304" rIns="164592" bIns="91440" rtlCol="0" anchor="ctr"/>
          <a:lstStyle/>
          <a:p>
            <a:pPr algn="ctr">
              <a:spcBef>
                <a:spcPts val="0"/>
              </a:spcBef>
              <a:spcAft>
                <a:spcPts val="700"/>
              </a:spcAft>
            </a:pPr>
            <a:r>
              <a:rPr sz="1700" b="1" dirty="0">
                <a:solidFill>
                  <a:srgbClr val="3E659A"/>
                </a:solidFill>
                <a:latin typeface="Calibri"/>
              </a:rPr>
              <a:t>Operational execution</a:t>
            </a:r>
          </a:p>
          <a:p>
            <a:pPr>
              <a:spcBef>
                <a:spcPts val="0"/>
              </a:spcBef>
              <a:spcAft>
                <a:spcPts val="300"/>
              </a:spcAft>
            </a:pPr>
            <a:r>
              <a:rPr sz="1350" b="0" dirty="0">
                <a:solidFill>
                  <a:srgbClr val="222222"/>
                </a:solidFill>
                <a:latin typeface="Calibri"/>
              </a:rPr>
              <a:t>Turns the selected tactical state into resource priorities and achievable production / development rates.</a:t>
            </a:r>
          </a:p>
          <a:p>
            <a:pPr>
              <a:spcBef>
                <a:spcPts val="0"/>
              </a:spcBef>
              <a:spcAft>
                <a:spcPts val="300"/>
              </a:spcAft>
            </a:pPr>
            <a:r>
              <a:rPr sz="1350" b="0" dirty="0">
                <a:solidFill>
                  <a:srgbClr val="222222"/>
                </a:solidFill>
                <a:latin typeface="Calibri"/>
              </a:rPr>
              <a:t>Use aggregate DRS by default; use a DES island when individual-equipment interactions materially change the result.</a:t>
            </a:r>
          </a:p>
        </p:txBody>
      </p:sp>
      <p:sp>
        <p:nvSpPr>
          <p:cNvPr id="40" name="Rectangle 39"/>
          <p:cNvSpPr/>
          <p:nvPr/>
        </p:nvSpPr>
        <p:spPr>
          <a:xfrm>
            <a:off x="8183879" y="1554480"/>
            <a:ext cx="54864" cy="3108960"/>
          </a:xfrm>
          <a:prstGeom prst="rect">
            <a:avLst/>
          </a:prstGeom>
          <a:solidFill>
            <a:srgbClr val="3E6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22731" y="5584106"/>
            <a:ext cx="5038826" cy="794064"/>
          </a:xfrm>
          <a:prstGeom prst="rect">
            <a:avLst/>
          </a:prstGeom>
          <a:noFill/>
        </p:spPr>
        <p:txBody>
          <a:bodyPr wrap="square" lIns="73152" tIns="73152" rIns="73152" bIns="73152" anchor="ctr">
            <a:spAutoFit/>
          </a:bodyPr>
          <a:lstStyle/>
          <a:p>
            <a:pPr algn="l"/>
            <a:r>
              <a:rPr lang="en-CA" sz="1400" dirty="0">
                <a:solidFill>
                  <a:schemeClr val="tx2"/>
                </a:solidFill>
                <a:latin typeface="Calibri"/>
              </a:rPr>
              <a:t>O</a:t>
            </a:r>
            <a:r>
              <a:rPr sz="1400" dirty="0" err="1">
                <a:solidFill>
                  <a:schemeClr val="tx2"/>
                </a:solidFill>
                <a:latin typeface="Calibri"/>
              </a:rPr>
              <a:t>perational</a:t>
            </a:r>
            <a:r>
              <a:rPr sz="1400" dirty="0">
                <a:solidFill>
                  <a:schemeClr val="tx2"/>
                </a:solidFill>
                <a:latin typeface="Calibri"/>
              </a:rPr>
              <a:t> outcomes update stockpiles and development readiness, allowing tactical decisions to respond not only to process inventory risk but also to future mine-value risk.</a:t>
            </a:r>
          </a:p>
        </p:txBody>
      </p:sp>
      <p:sp>
        <p:nvSpPr>
          <p:cNvPr id="3" name="Right Arrow 37">
            <a:extLst>
              <a:ext uri="{FF2B5EF4-FFF2-40B4-BE49-F238E27FC236}">
                <a16:creationId xmlns:a16="http://schemas.microsoft.com/office/drawing/2014/main" id="{259746E1-3F5D-B8E7-5DA9-03F0E29EAEB8}"/>
              </a:ext>
            </a:extLst>
          </p:cNvPr>
          <p:cNvSpPr/>
          <p:nvPr/>
        </p:nvSpPr>
        <p:spPr>
          <a:xfrm flipH="1">
            <a:off x="6535554" y="5054066"/>
            <a:ext cx="3204089" cy="420624"/>
          </a:xfrm>
          <a:prstGeom prst="rightArrow">
            <a:avLst>
              <a:gd name="adj1" fmla="val 31693"/>
              <a:gd name="adj2" fmla="val 50000"/>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03AFB9D-C8B5-1EB1-C489-4EED3E3C9F77}"/>
              </a:ext>
            </a:extLst>
          </p:cNvPr>
          <p:cNvPicPr>
            <a:picLocks noChangeAspect="1"/>
          </p:cNvPicPr>
          <p:nvPr/>
        </p:nvPicPr>
        <p:blipFill>
          <a:blip r:embed="rId2"/>
          <a:stretch>
            <a:fillRect/>
          </a:stretch>
        </p:blipFill>
        <p:spPr>
          <a:xfrm>
            <a:off x="9672112" y="153941"/>
            <a:ext cx="2519888" cy="691833"/>
          </a:xfrm>
          <a:prstGeom prst="rect">
            <a:avLst/>
          </a:prstGeom>
        </p:spPr>
      </p:pic>
      <p:sp>
        <p:nvSpPr>
          <p:cNvPr id="27" name="TextBox 26"/>
          <p:cNvSpPr txBox="1"/>
          <p:nvPr/>
        </p:nvSpPr>
        <p:spPr>
          <a:xfrm>
            <a:off x="530352" y="256032"/>
            <a:ext cx="2743200" cy="237744"/>
          </a:xfrm>
          <a:prstGeom prst="rect">
            <a:avLst/>
          </a:prstGeom>
          <a:noFill/>
        </p:spPr>
        <p:txBody>
          <a:bodyPr wrap="square" anchor="t">
            <a:spAutoFit/>
          </a:bodyPr>
          <a:lstStyle/>
          <a:p>
            <a:pPr algn="l">
              <a:spcBef>
                <a:spcPts val="0"/>
              </a:spcBef>
              <a:spcAft>
                <a:spcPts val="200"/>
              </a:spcAft>
            </a:pPr>
            <a:r>
              <a:rPr sz="1000" b="1">
                <a:solidFill>
                  <a:srgbClr val="ED1B2F"/>
                </a:solidFill>
                <a:latin typeface="Calibri"/>
              </a:rPr>
              <a:t>TACTICAL CONTROL</a:t>
            </a:r>
          </a:p>
        </p:txBody>
      </p:sp>
      <p:sp>
        <p:nvSpPr>
          <p:cNvPr id="28" name="TextBox 27"/>
          <p:cNvSpPr txBox="1"/>
          <p:nvPr/>
        </p:nvSpPr>
        <p:spPr>
          <a:xfrm>
            <a:off x="530352" y="566928"/>
            <a:ext cx="9784080" cy="530352"/>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2500" b="1">
                <a:solidFill>
                  <a:srgbClr val="202020"/>
                </a:solidFill>
                <a:latin typeface="Calibri"/>
              </a:rPr>
              <a:t>Current-Case Tactical Logic: Mode A ↔ Mode B</a:t>
            </a:r>
          </a:p>
        </p:txBody>
      </p:sp>
      <p:sp>
        <p:nvSpPr>
          <p:cNvPr id="29" name="Rectangle 28"/>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18</a:t>
            </a:r>
          </a:p>
        </p:txBody>
      </p:sp>
      <p:sp>
        <p:nvSpPr>
          <p:cNvPr id="31" name="Rounded Rectangle 30"/>
          <p:cNvSpPr/>
          <p:nvPr/>
        </p:nvSpPr>
        <p:spPr>
          <a:xfrm>
            <a:off x="594360" y="1417320"/>
            <a:ext cx="2606040" cy="33375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94360" y="1417320"/>
            <a:ext cx="73152" cy="33375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95528" y="1581912"/>
            <a:ext cx="2286000" cy="347472"/>
          </a:xfrm>
          <a:prstGeom prst="rect">
            <a:avLst/>
          </a:prstGeom>
          <a:noFill/>
        </p:spPr>
        <p:txBody>
          <a:bodyPr wrap="square" anchor="t">
            <a:spAutoFit/>
          </a:bodyPr>
          <a:lstStyle/>
          <a:p>
            <a:pPr algn="l">
              <a:spcAft>
                <a:spcPts val="0"/>
              </a:spcAft>
            </a:pPr>
            <a:r>
              <a:rPr sz="1700" b="1">
                <a:solidFill>
                  <a:srgbClr val="ED1B2F"/>
                </a:solidFill>
                <a:latin typeface="Calibri"/>
              </a:rPr>
              <a:t>1  Monitor</a:t>
            </a:r>
          </a:p>
          <a:p>
            <a:pPr>
              <a:spcAft>
                <a:spcPts val="0"/>
              </a:spcAft>
            </a:pPr>
            <a:r>
              <a:rPr sz="1700" b="1">
                <a:solidFill>
                  <a:srgbClr val="ED1B2F"/>
                </a:solidFill>
                <a:latin typeface="Calibri"/>
              </a:rPr>
              <a:t>inventory state</a:t>
            </a:r>
          </a:p>
        </p:txBody>
      </p:sp>
      <p:sp>
        <p:nvSpPr>
          <p:cNvPr id="34" name="TextBox 33"/>
          <p:cNvSpPr txBox="1"/>
          <p:nvPr/>
        </p:nvSpPr>
        <p:spPr>
          <a:xfrm>
            <a:off x="805153" y="2116114"/>
            <a:ext cx="2286000" cy="2587752"/>
          </a:xfrm>
          <a:prstGeom prst="rect">
            <a:avLst/>
          </a:prstGeom>
          <a:noFill/>
        </p:spPr>
        <p:txBody>
          <a:bodyPr wrap="square" anchor="t">
            <a:spAutoFit/>
          </a:bodyPr>
          <a:lstStyle/>
          <a:p>
            <a:pPr algn="l">
              <a:spcBef>
                <a:spcPts val="0"/>
              </a:spcBef>
              <a:spcAft>
                <a:spcPts val="200"/>
              </a:spcAft>
            </a:pPr>
            <a:r>
              <a:rPr sz="1320" b="0" dirty="0">
                <a:solidFill>
                  <a:srgbClr val="202020"/>
                </a:solidFill>
                <a:latin typeface="Calibri"/>
              </a:rPr>
              <a:t>Ore 1 level</a:t>
            </a:r>
          </a:p>
          <a:p>
            <a:pPr>
              <a:spcBef>
                <a:spcPts val="0"/>
              </a:spcBef>
              <a:spcAft>
                <a:spcPts val="200"/>
              </a:spcAft>
            </a:pPr>
            <a:r>
              <a:rPr sz="1320" b="0" dirty="0">
                <a:solidFill>
                  <a:srgbClr val="202020"/>
                </a:solidFill>
                <a:latin typeface="Calibri"/>
              </a:rPr>
              <a:t>Ore 2 level</a:t>
            </a:r>
          </a:p>
          <a:p>
            <a:pPr>
              <a:spcBef>
                <a:spcPts val="0"/>
              </a:spcBef>
              <a:spcAft>
                <a:spcPts val="200"/>
              </a:spcAft>
            </a:pPr>
            <a:r>
              <a:rPr sz="1320" b="0" dirty="0">
                <a:solidFill>
                  <a:srgbClr val="202020"/>
                </a:solidFill>
                <a:latin typeface="Calibri"/>
              </a:rPr>
              <a:t>Total stockpile target X</a:t>
            </a:r>
          </a:p>
          <a:p>
            <a:pPr>
              <a:spcBef>
                <a:spcPts val="0"/>
              </a:spcBef>
              <a:spcAft>
                <a:spcPts val="200"/>
              </a:spcAft>
            </a:pPr>
            <a:r>
              <a:rPr sz="1320" b="0" dirty="0">
                <a:solidFill>
                  <a:srgbClr val="202020"/>
                </a:solidFill>
                <a:latin typeface="Calibri"/>
              </a:rPr>
              <a:t>Critical Ore 2 level Y</a:t>
            </a:r>
          </a:p>
          <a:p>
            <a:pPr>
              <a:spcBef>
                <a:spcPts val="0"/>
              </a:spcBef>
              <a:spcAft>
                <a:spcPts val="200"/>
              </a:spcAft>
            </a:pPr>
            <a:endParaRPr sz="1320" b="0" dirty="0">
              <a:solidFill>
                <a:srgbClr val="202020"/>
              </a:solidFill>
              <a:latin typeface="Calibri"/>
            </a:endParaRPr>
          </a:p>
          <a:p>
            <a:pPr>
              <a:spcBef>
                <a:spcPts val="0"/>
              </a:spcBef>
              <a:spcAft>
                <a:spcPts val="200"/>
              </a:spcAft>
            </a:pPr>
            <a:r>
              <a:rPr sz="1320" b="0" dirty="0">
                <a:solidFill>
                  <a:srgbClr val="202020"/>
                </a:solidFill>
                <a:latin typeface="Calibri"/>
              </a:rPr>
              <a:t>Y is often tested as a fraction of X, but absolute inventory levels still matter.</a:t>
            </a:r>
          </a:p>
        </p:txBody>
      </p:sp>
      <p:sp>
        <p:nvSpPr>
          <p:cNvPr id="35" name="Rounded Rectangle 34"/>
          <p:cNvSpPr/>
          <p:nvPr/>
        </p:nvSpPr>
        <p:spPr>
          <a:xfrm>
            <a:off x="3383280" y="1417320"/>
            <a:ext cx="2606040" cy="33375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383280" y="1417320"/>
            <a:ext cx="73152" cy="3337560"/>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584448" y="1581912"/>
            <a:ext cx="2286000" cy="347472"/>
          </a:xfrm>
          <a:prstGeom prst="rect">
            <a:avLst/>
          </a:prstGeom>
          <a:noFill/>
        </p:spPr>
        <p:txBody>
          <a:bodyPr wrap="square" anchor="t">
            <a:spAutoFit/>
          </a:bodyPr>
          <a:lstStyle/>
          <a:p>
            <a:pPr algn="l">
              <a:spcAft>
                <a:spcPts val="0"/>
              </a:spcAft>
            </a:pPr>
            <a:r>
              <a:rPr sz="1700" b="1">
                <a:solidFill>
                  <a:srgbClr val="E69138"/>
                </a:solidFill>
                <a:latin typeface="Calibri"/>
              </a:rPr>
              <a:t>2  Campaign</a:t>
            </a:r>
          </a:p>
          <a:p>
            <a:pPr>
              <a:spcAft>
                <a:spcPts val="0"/>
              </a:spcAft>
            </a:pPr>
            <a:r>
              <a:rPr sz="1700" b="1">
                <a:solidFill>
                  <a:srgbClr val="E69138"/>
                </a:solidFill>
                <a:latin typeface="Calibri"/>
              </a:rPr>
              <a:t>decision point</a:t>
            </a:r>
          </a:p>
        </p:txBody>
      </p:sp>
      <p:sp>
        <p:nvSpPr>
          <p:cNvPr id="38" name="TextBox 37"/>
          <p:cNvSpPr txBox="1"/>
          <p:nvPr/>
        </p:nvSpPr>
        <p:spPr>
          <a:xfrm>
            <a:off x="3584448" y="2039112"/>
            <a:ext cx="2286000" cy="2587752"/>
          </a:xfrm>
          <a:prstGeom prst="rect">
            <a:avLst/>
          </a:prstGeom>
          <a:noFill/>
        </p:spPr>
        <p:txBody>
          <a:bodyPr wrap="square" anchor="t">
            <a:spAutoFit/>
          </a:bodyPr>
          <a:lstStyle/>
          <a:p>
            <a:pPr algn="l">
              <a:spcBef>
                <a:spcPts val="0"/>
              </a:spcBef>
              <a:spcAft>
                <a:spcPts val="200"/>
              </a:spcAft>
            </a:pPr>
            <a:r>
              <a:rPr sz="1320" b="0" dirty="0">
                <a:solidFill>
                  <a:srgbClr val="202020"/>
                </a:solidFill>
                <a:latin typeface="Calibri"/>
              </a:rPr>
              <a:t>At an allowed reconfiguration point (e.g., scheduled shutdown):</a:t>
            </a:r>
          </a:p>
          <a:p>
            <a:pPr>
              <a:spcBef>
                <a:spcPts val="0"/>
              </a:spcBef>
              <a:spcAft>
                <a:spcPts val="200"/>
              </a:spcAft>
            </a:pPr>
            <a:endParaRPr sz="1320" b="0" dirty="0">
              <a:solidFill>
                <a:srgbClr val="202020"/>
              </a:solidFill>
              <a:latin typeface="Calibri"/>
            </a:endParaRPr>
          </a:p>
          <a:p>
            <a:pPr>
              <a:spcBef>
                <a:spcPts val="0"/>
              </a:spcBef>
              <a:spcAft>
                <a:spcPts val="200"/>
              </a:spcAft>
            </a:pPr>
            <a:r>
              <a:rPr sz="1320" b="0" dirty="0">
                <a:solidFill>
                  <a:srgbClr val="202020"/>
                </a:solidFill>
                <a:latin typeface="Calibri"/>
              </a:rPr>
              <a:t>Ore 2 &gt; Y</a:t>
            </a:r>
          </a:p>
          <a:p>
            <a:pPr>
              <a:spcBef>
                <a:spcPts val="0"/>
              </a:spcBef>
              <a:spcAft>
                <a:spcPts val="200"/>
              </a:spcAft>
            </a:pPr>
            <a:r>
              <a:rPr sz="1320" b="0" dirty="0">
                <a:solidFill>
                  <a:srgbClr val="202020"/>
                </a:solidFill>
                <a:latin typeface="Calibri"/>
              </a:rPr>
              <a:t>→ maintain productive configuration</a:t>
            </a:r>
          </a:p>
          <a:p>
            <a:pPr>
              <a:spcBef>
                <a:spcPts val="0"/>
              </a:spcBef>
              <a:spcAft>
                <a:spcPts val="200"/>
              </a:spcAft>
            </a:pPr>
            <a:endParaRPr sz="1320" b="0" dirty="0">
              <a:solidFill>
                <a:srgbClr val="202020"/>
              </a:solidFill>
              <a:latin typeface="Calibri"/>
            </a:endParaRPr>
          </a:p>
          <a:p>
            <a:pPr>
              <a:spcBef>
                <a:spcPts val="0"/>
              </a:spcBef>
              <a:spcAft>
                <a:spcPts val="200"/>
              </a:spcAft>
            </a:pPr>
            <a:r>
              <a:rPr sz="1320" b="0" dirty="0">
                <a:solidFill>
                  <a:srgbClr val="202020"/>
                </a:solidFill>
                <a:latin typeface="Calibri"/>
              </a:rPr>
              <a:t>Ore 2 ≤ Y</a:t>
            </a:r>
          </a:p>
          <a:p>
            <a:pPr>
              <a:spcBef>
                <a:spcPts val="0"/>
              </a:spcBef>
              <a:spcAft>
                <a:spcPts val="200"/>
              </a:spcAft>
            </a:pPr>
            <a:r>
              <a:rPr sz="1320" b="0" dirty="0">
                <a:solidFill>
                  <a:srgbClr val="202020"/>
                </a:solidFill>
                <a:latin typeface="Calibri"/>
              </a:rPr>
              <a:t>→ switch to recuperative configuration</a:t>
            </a:r>
          </a:p>
        </p:txBody>
      </p:sp>
      <p:sp>
        <p:nvSpPr>
          <p:cNvPr id="39" name="Rounded Rectangle 38"/>
          <p:cNvSpPr/>
          <p:nvPr/>
        </p:nvSpPr>
        <p:spPr>
          <a:xfrm>
            <a:off x="6172200" y="1417320"/>
            <a:ext cx="2606040" cy="33375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172200" y="1417320"/>
            <a:ext cx="73152" cy="3337560"/>
          </a:xfrm>
          <a:prstGeom prst="rect">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73368" y="1581912"/>
            <a:ext cx="2286000" cy="347472"/>
          </a:xfrm>
          <a:prstGeom prst="rect">
            <a:avLst/>
          </a:prstGeom>
          <a:noFill/>
        </p:spPr>
        <p:txBody>
          <a:bodyPr wrap="square" anchor="t">
            <a:spAutoFit/>
          </a:bodyPr>
          <a:lstStyle/>
          <a:p>
            <a:pPr algn="l">
              <a:spcAft>
                <a:spcPts val="0"/>
              </a:spcAft>
            </a:pPr>
            <a:r>
              <a:rPr sz="1700" b="1" dirty="0">
                <a:solidFill>
                  <a:srgbClr val="3F6291"/>
                </a:solidFill>
                <a:latin typeface="Calibri"/>
              </a:rPr>
              <a:t>3  Select</a:t>
            </a:r>
          </a:p>
          <a:p>
            <a:pPr>
              <a:spcAft>
                <a:spcPts val="0"/>
              </a:spcAft>
            </a:pPr>
            <a:r>
              <a:rPr sz="1700" b="1" dirty="0">
                <a:solidFill>
                  <a:srgbClr val="3F6291"/>
                </a:solidFill>
                <a:latin typeface="Calibri"/>
              </a:rPr>
              <a:t>configuration</a:t>
            </a:r>
          </a:p>
        </p:txBody>
      </p:sp>
      <p:sp>
        <p:nvSpPr>
          <p:cNvPr id="42" name="TextBox 41"/>
          <p:cNvSpPr txBox="1"/>
          <p:nvPr/>
        </p:nvSpPr>
        <p:spPr>
          <a:xfrm>
            <a:off x="6373368" y="2144990"/>
            <a:ext cx="2286000" cy="2587752"/>
          </a:xfrm>
          <a:prstGeom prst="rect">
            <a:avLst/>
          </a:prstGeom>
          <a:noFill/>
        </p:spPr>
        <p:txBody>
          <a:bodyPr wrap="square" lIns="109728" tIns="91440" rIns="109728" bIns="91440" anchor="t">
            <a:spAutoFit/>
          </a:bodyPr>
          <a:lstStyle/>
          <a:p>
            <a:pPr algn="l">
              <a:lnSpc>
                <a:spcPct val="100000"/>
              </a:lnSpc>
              <a:spcBef>
                <a:spcPts val="0"/>
              </a:spcBef>
              <a:spcAft>
                <a:spcPts val="400"/>
              </a:spcAft>
            </a:pPr>
            <a:r>
              <a:rPr sz="1650" b="1" dirty="0">
                <a:solidFill>
                  <a:srgbClr val="3F6291"/>
                </a:solidFill>
                <a:latin typeface="Calibri"/>
              </a:rPr>
              <a:t>Mode A — Productive</a:t>
            </a:r>
          </a:p>
          <a:p>
            <a:pPr algn="l">
              <a:lnSpc>
                <a:spcPct val="100000"/>
              </a:lnSpc>
              <a:spcBef>
                <a:spcPts val="0"/>
              </a:spcBef>
              <a:spcAft>
                <a:spcPts val="1000"/>
              </a:spcAft>
            </a:pPr>
            <a:r>
              <a:rPr sz="1450" b="0" dirty="0">
                <a:solidFill>
                  <a:srgbClr val="202020"/>
                </a:solidFill>
                <a:latin typeface="Calibri"/>
              </a:rPr>
              <a:t>Higher throughput; draws more heavily on vulnerable Ore 2.</a:t>
            </a:r>
          </a:p>
          <a:p>
            <a:pPr algn="l">
              <a:lnSpc>
                <a:spcPct val="100000"/>
              </a:lnSpc>
              <a:spcBef>
                <a:spcPts val="0"/>
              </a:spcBef>
              <a:spcAft>
                <a:spcPts val="400"/>
              </a:spcAft>
            </a:pPr>
            <a:r>
              <a:rPr sz="1650" b="1" dirty="0">
                <a:solidFill>
                  <a:srgbClr val="3F6291"/>
                </a:solidFill>
                <a:latin typeface="Calibri"/>
              </a:rPr>
              <a:t>Mode B — Recuperative</a:t>
            </a:r>
          </a:p>
          <a:p>
            <a:pPr algn="l">
              <a:lnSpc>
                <a:spcPct val="100000"/>
              </a:lnSpc>
              <a:spcBef>
                <a:spcPts val="0"/>
              </a:spcBef>
              <a:spcAft>
                <a:spcPts val="0"/>
              </a:spcAft>
            </a:pPr>
            <a:r>
              <a:rPr sz="1450" b="0" dirty="0">
                <a:solidFill>
                  <a:srgbClr val="202020"/>
                </a:solidFill>
                <a:latin typeface="Calibri"/>
              </a:rPr>
              <a:t>Lower throughput; changes the blend so Ore 2 can rebuild.</a:t>
            </a:r>
          </a:p>
        </p:txBody>
      </p:sp>
      <p:sp>
        <p:nvSpPr>
          <p:cNvPr id="43" name="Rounded Rectangle 42"/>
          <p:cNvSpPr/>
          <p:nvPr/>
        </p:nvSpPr>
        <p:spPr>
          <a:xfrm>
            <a:off x="8961120" y="1417320"/>
            <a:ext cx="2954956" cy="33375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961120" y="1417320"/>
            <a:ext cx="73152" cy="3337560"/>
          </a:xfrm>
          <a:prstGeom prst="rect">
            <a:avLst/>
          </a:prstGeom>
          <a:solidFill>
            <a:srgbClr val="43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62288" y="1581912"/>
            <a:ext cx="2286000" cy="347472"/>
          </a:xfrm>
          <a:prstGeom prst="rect">
            <a:avLst/>
          </a:prstGeom>
          <a:noFill/>
        </p:spPr>
        <p:txBody>
          <a:bodyPr wrap="square" anchor="t">
            <a:spAutoFit/>
          </a:bodyPr>
          <a:lstStyle/>
          <a:p>
            <a:pPr algn="l">
              <a:spcAft>
                <a:spcPts val="0"/>
              </a:spcAft>
            </a:pPr>
            <a:r>
              <a:rPr sz="1700" b="1" dirty="0">
                <a:solidFill>
                  <a:srgbClr val="438B5B"/>
                </a:solidFill>
                <a:latin typeface="Calibri"/>
              </a:rPr>
              <a:t>4  Operating</a:t>
            </a:r>
          </a:p>
          <a:p>
            <a:pPr>
              <a:spcAft>
                <a:spcPts val="0"/>
              </a:spcAft>
            </a:pPr>
            <a:r>
              <a:rPr sz="1700" b="1" dirty="0">
                <a:solidFill>
                  <a:srgbClr val="438B5B"/>
                </a:solidFill>
                <a:latin typeface="Calibri"/>
              </a:rPr>
              <a:t>condition</a:t>
            </a:r>
          </a:p>
        </p:txBody>
      </p:sp>
      <p:sp>
        <p:nvSpPr>
          <p:cNvPr id="46" name="TextBox 45"/>
          <p:cNvSpPr txBox="1"/>
          <p:nvPr/>
        </p:nvSpPr>
        <p:spPr>
          <a:xfrm>
            <a:off x="9152663" y="2250868"/>
            <a:ext cx="2590158" cy="1616853"/>
          </a:xfrm>
          <a:prstGeom prst="rect">
            <a:avLst/>
          </a:prstGeom>
          <a:noFill/>
        </p:spPr>
        <p:txBody>
          <a:bodyPr wrap="square" anchor="t">
            <a:spAutoFit/>
          </a:bodyPr>
          <a:lstStyle/>
          <a:p>
            <a:pPr algn="l">
              <a:spcBef>
                <a:spcPts val="0"/>
              </a:spcBef>
              <a:spcAft>
                <a:spcPts val="200"/>
              </a:spcAft>
            </a:pPr>
            <a:r>
              <a:rPr sz="1320" b="0" dirty="0">
                <a:solidFill>
                  <a:srgbClr val="202020"/>
                </a:solidFill>
                <a:latin typeface="Calibri"/>
              </a:rPr>
              <a:t>Within the selected configuration:</a:t>
            </a:r>
          </a:p>
          <a:p>
            <a:pPr>
              <a:spcBef>
                <a:spcPts val="0"/>
              </a:spcBef>
              <a:spcAft>
                <a:spcPts val="200"/>
              </a:spcAft>
            </a:pPr>
            <a:endParaRPr sz="1320" b="0" dirty="0">
              <a:solidFill>
                <a:srgbClr val="202020"/>
              </a:solidFill>
              <a:latin typeface="Calibri"/>
            </a:endParaRPr>
          </a:p>
          <a:p>
            <a:pPr marL="285750" indent="-285750">
              <a:spcBef>
                <a:spcPts val="0"/>
              </a:spcBef>
              <a:spcAft>
                <a:spcPts val="200"/>
              </a:spcAft>
              <a:buFont typeface="Arial" panose="020B0604020202020204" pitchFamily="34" charset="0"/>
              <a:buChar char="•"/>
            </a:pPr>
            <a:r>
              <a:rPr sz="1320" b="0" dirty="0">
                <a:solidFill>
                  <a:srgbClr val="202020"/>
                </a:solidFill>
                <a:latin typeface="Calibri"/>
              </a:rPr>
              <a:t>Regular</a:t>
            </a:r>
          </a:p>
          <a:p>
            <a:pPr marL="285750" indent="-285750">
              <a:spcBef>
                <a:spcPts val="0"/>
              </a:spcBef>
              <a:spcAft>
                <a:spcPts val="200"/>
              </a:spcAft>
              <a:buFont typeface="Arial" panose="020B0604020202020204" pitchFamily="34" charset="0"/>
              <a:buChar char="•"/>
            </a:pPr>
            <a:r>
              <a:rPr sz="1320" b="0" dirty="0">
                <a:solidFill>
                  <a:srgbClr val="202020"/>
                </a:solidFill>
                <a:latin typeface="Calibri"/>
              </a:rPr>
              <a:t>Contingency — likely stockout</a:t>
            </a:r>
          </a:p>
          <a:p>
            <a:pPr marL="285750" indent="-285750">
              <a:spcBef>
                <a:spcPts val="0"/>
              </a:spcBef>
              <a:spcAft>
                <a:spcPts val="200"/>
              </a:spcAft>
              <a:buFont typeface="Arial" panose="020B0604020202020204" pitchFamily="34" charset="0"/>
              <a:buChar char="•"/>
            </a:pPr>
            <a:r>
              <a:rPr sz="1320" b="0" dirty="0">
                <a:solidFill>
                  <a:srgbClr val="202020"/>
                </a:solidFill>
                <a:latin typeface="Calibri"/>
              </a:rPr>
              <a:t>Mine surging — less-likely stockout / increased mine-side response</a:t>
            </a:r>
          </a:p>
        </p:txBody>
      </p:sp>
      <p:sp>
        <p:nvSpPr>
          <p:cNvPr id="47" name="TextBox 46"/>
          <p:cNvSpPr txBox="1"/>
          <p:nvPr/>
        </p:nvSpPr>
        <p:spPr>
          <a:xfrm>
            <a:off x="536609" y="5419024"/>
            <a:ext cx="10927080" cy="498598"/>
          </a:xfrm>
          <a:prstGeom prst="rect">
            <a:avLst/>
          </a:prstGeom>
          <a:noFill/>
        </p:spPr>
        <p:txBody>
          <a:bodyPr wrap="square" lIns="73152" tIns="54864" rIns="73152" bIns="54864" anchor="t">
            <a:spAutoFit/>
          </a:bodyPr>
          <a:lstStyle/>
          <a:p>
            <a:r>
              <a:rPr lang="en-CA" sz="1260" b="1" dirty="0">
                <a:solidFill>
                  <a:srgbClr val="5C5C5C"/>
                </a:solidFill>
              </a:rPr>
              <a:t>Compared with </a:t>
            </a:r>
            <a:r>
              <a:rPr lang="en-CA" sz="1260" b="1" dirty="0" err="1">
                <a:solidFill>
                  <a:srgbClr val="5C5C5C"/>
                </a:solidFill>
              </a:rPr>
              <a:t>Órdenes</a:t>
            </a:r>
            <a:r>
              <a:rPr lang="en-CA" sz="1260" b="1" dirty="0">
                <a:solidFill>
                  <a:srgbClr val="5C5C5C"/>
                </a:solidFill>
              </a:rPr>
              <a:t> et al. (2026) generalizes the same configuration logic across A/B and C/D, we </a:t>
            </a:r>
            <a:r>
              <a:rPr sz="1260" b="1" dirty="0">
                <a:solidFill>
                  <a:srgbClr val="5C5C5C"/>
                </a:solidFill>
                <a:latin typeface="Calibri"/>
              </a:rPr>
              <a:t>add development readiness and mine-value risk to the tactical state; Mode A / B plus the operating condition then sets priorities for operational resource allocation.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63D96A58-5577-66A7-BDC6-53F837D94040}"/>
              </a:ext>
            </a:extLst>
          </p:cNvPr>
          <p:cNvPicPr>
            <a:picLocks noChangeAspect="1"/>
          </p:cNvPicPr>
          <p:nvPr/>
        </p:nvPicPr>
        <p:blipFill>
          <a:blip r:embed="rId2"/>
          <a:stretch>
            <a:fillRect/>
          </a:stretch>
        </p:blipFill>
        <p:spPr>
          <a:xfrm>
            <a:off x="9672112" y="153941"/>
            <a:ext cx="2519888" cy="691833"/>
          </a:xfrm>
          <a:prstGeom prst="rect">
            <a:avLst/>
          </a:prstGeom>
        </p:spPr>
      </p:pic>
      <p:sp>
        <p:nvSpPr>
          <p:cNvPr id="34" name="TextBox 33"/>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SYSTEM STRUCTURE</a:t>
            </a:r>
          </a:p>
        </p:txBody>
      </p:sp>
      <p:sp>
        <p:nvSpPr>
          <p:cNvPr id="35" name="TextBox 34"/>
          <p:cNvSpPr txBox="1"/>
          <p:nvPr/>
        </p:nvSpPr>
        <p:spPr>
          <a:xfrm>
            <a:off x="530352" y="566928"/>
            <a:ext cx="9784080" cy="530352"/>
          </a:xfrm>
          <a:prstGeom prst="rect">
            <a:avLst/>
          </a:prstGeom>
          <a:noFill/>
        </p:spPr>
        <p:txBody>
          <a:bodyPr wrap="square" anchor="t">
            <a:spAutoFit/>
          </a:bodyPr>
          <a:lstStyle/>
          <a:p>
            <a:pPr algn="l"/>
            <a:r>
              <a:rPr sz="2600" b="1">
                <a:solidFill>
                  <a:srgbClr val="202020"/>
                </a:solidFill>
                <a:latin typeface="Calibri"/>
              </a:rPr>
              <a:t>Two-Area Production–Development Case</a:t>
            </a:r>
          </a:p>
        </p:txBody>
      </p:sp>
      <p:sp>
        <p:nvSpPr>
          <p:cNvPr id="36" name="Rectangle 35"/>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19</a:t>
            </a:r>
          </a:p>
        </p:txBody>
      </p:sp>
      <p:sp>
        <p:nvSpPr>
          <p:cNvPr id="38" name="Rounded Rectangle 37"/>
          <p:cNvSpPr/>
          <p:nvPr/>
        </p:nvSpPr>
        <p:spPr>
          <a:xfrm>
            <a:off x="594360" y="1417320"/>
            <a:ext cx="3337560" cy="35661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94360" y="1417320"/>
            <a:ext cx="73152" cy="35661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5528" y="1581912"/>
            <a:ext cx="3017520" cy="347472"/>
          </a:xfrm>
          <a:prstGeom prst="rect">
            <a:avLst/>
          </a:prstGeom>
          <a:noFill/>
        </p:spPr>
        <p:txBody>
          <a:bodyPr wrap="square" anchor="t">
            <a:spAutoFit/>
          </a:bodyPr>
          <a:lstStyle/>
          <a:p>
            <a:pPr algn="l"/>
            <a:r>
              <a:rPr sz="1800" b="1" dirty="0">
                <a:solidFill>
                  <a:srgbClr val="ED1B2F"/>
                </a:solidFill>
                <a:latin typeface="Calibri"/>
              </a:rPr>
              <a:t>Area 1 — Current Production</a:t>
            </a:r>
          </a:p>
        </p:txBody>
      </p:sp>
      <p:sp>
        <p:nvSpPr>
          <p:cNvPr id="41" name="TextBox 40"/>
          <p:cNvSpPr txBox="1"/>
          <p:nvPr/>
        </p:nvSpPr>
        <p:spPr>
          <a:xfrm>
            <a:off x="795528" y="2039112"/>
            <a:ext cx="3017520" cy="2816352"/>
          </a:xfrm>
          <a:prstGeom prst="rect">
            <a:avLst/>
          </a:prstGeom>
          <a:noFill/>
        </p:spPr>
        <p:txBody>
          <a:bodyPr wrap="square" anchor="t">
            <a:spAutoFit/>
          </a:bodyPr>
          <a:lstStyle/>
          <a:p>
            <a:pPr algn="l"/>
            <a:r>
              <a:rPr sz="1600" b="0" dirty="0">
                <a:solidFill>
                  <a:srgbClr val="202020"/>
                </a:solidFill>
                <a:latin typeface="Calibri"/>
              </a:rPr>
              <a:t>Developed at simulation start</a:t>
            </a:r>
            <a:br>
              <a:rPr dirty="0"/>
            </a:br>
            <a:br>
              <a:rPr dirty="0"/>
            </a:br>
            <a:r>
              <a:rPr sz="1600" b="0" dirty="0">
                <a:solidFill>
                  <a:srgbClr val="202020"/>
                </a:solidFill>
                <a:latin typeface="Calibri"/>
              </a:rPr>
              <a:t>Production switch: ON</a:t>
            </a:r>
            <a:br>
              <a:rPr dirty="0"/>
            </a:br>
            <a:br>
              <a:rPr dirty="0"/>
            </a:br>
            <a:r>
              <a:rPr sz="1600" b="0" dirty="0">
                <a:solidFill>
                  <a:srgbClr val="202020"/>
                </a:solidFill>
                <a:latin typeface="Calibri"/>
              </a:rPr>
              <a:t>Creates immediate ore and cash flow</a:t>
            </a:r>
            <a:br>
              <a:rPr dirty="0"/>
            </a:br>
            <a:br>
              <a:rPr dirty="0"/>
            </a:br>
            <a:r>
              <a:rPr sz="1600" b="0" dirty="0">
                <a:solidFill>
                  <a:srgbClr val="202020"/>
                </a:solidFill>
                <a:latin typeface="Calibri"/>
              </a:rPr>
              <a:t>Operational question: how much fleet stays here?</a:t>
            </a:r>
          </a:p>
        </p:txBody>
      </p:sp>
      <p:sp>
        <p:nvSpPr>
          <p:cNvPr id="42" name="Rounded Rectangle 41"/>
          <p:cNvSpPr/>
          <p:nvPr/>
        </p:nvSpPr>
        <p:spPr>
          <a:xfrm>
            <a:off x="4434840" y="1417320"/>
            <a:ext cx="3337560" cy="35661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434840" y="1417320"/>
            <a:ext cx="73152" cy="3566160"/>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636007" y="1581912"/>
            <a:ext cx="3017520" cy="347472"/>
          </a:xfrm>
          <a:prstGeom prst="rect">
            <a:avLst/>
          </a:prstGeom>
          <a:noFill/>
        </p:spPr>
        <p:txBody>
          <a:bodyPr wrap="square" anchor="t">
            <a:spAutoFit/>
          </a:bodyPr>
          <a:lstStyle/>
          <a:p>
            <a:pPr algn="l"/>
            <a:r>
              <a:rPr sz="1800" b="1" dirty="0">
                <a:solidFill>
                  <a:srgbClr val="E69138"/>
                </a:solidFill>
                <a:latin typeface="Calibri"/>
              </a:rPr>
              <a:t>Area 2 — Future Production</a:t>
            </a:r>
          </a:p>
        </p:txBody>
      </p:sp>
      <p:sp>
        <p:nvSpPr>
          <p:cNvPr id="45" name="TextBox 44"/>
          <p:cNvSpPr txBox="1"/>
          <p:nvPr/>
        </p:nvSpPr>
        <p:spPr>
          <a:xfrm>
            <a:off x="4636007" y="2039112"/>
            <a:ext cx="3017520" cy="2400657"/>
          </a:xfrm>
          <a:prstGeom prst="rect">
            <a:avLst/>
          </a:prstGeom>
          <a:noFill/>
        </p:spPr>
        <p:txBody>
          <a:bodyPr wrap="square" anchor="t">
            <a:spAutoFit/>
          </a:bodyPr>
          <a:lstStyle/>
          <a:p>
            <a:pPr algn="l"/>
            <a:r>
              <a:rPr sz="1600" b="0" dirty="0">
                <a:solidFill>
                  <a:srgbClr val="202020"/>
                </a:solidFill>
                <a:latin typeface="Calibri"/>
              </a:rPr>
              <a:t>Initially requires development</a:t>
            </a:r>
            <a:br>
              <a:rPr dirty="0"/>
            </a:br>
            <a:br>
              <a:rPr dirty="0"/>
            </a:br>
            <a:r>
              <a:rPr sz="1600" b="0" dirty="0">
                <a:solidFill>
                  <a:srgbClr val="202020"/>
                </a:solidFill>
                <a:latin typeface="Calibri"/>
              </a:rPr>
              <a:t>Production switch: OFF</a:t>
            </a:r>
            <a:br>
              <a:rPr dirty="0"/>
            </a:br>
            <a:br>
              <a:rPr dirty="0"/>
            </a:br>
            <a:r>
              <a:rPr sz="1600" b="0" dirty="0">
                <a:solidFill>
                  <a:srgbClr val="202020"/>
                </a:solidFill>
                <a:latin typeface="Calibri"/>
              </a:rPr>
              <a:t>Development progress unlocks a future face</a:t>
            </a:r>
            <a:br>
              <a:rPr dirty="0"/>
            </a:br>
            <a:br>
              <a:rPr dirty="0"/>
            </a:br>
            <a:r>
              <a:rPr sz="1600" b="0" dirty="0">
                <a:solidFill>
                  <a:srgbClr val="202020"/>
                </a:solidFill>
                <a:latin typeface="Calibri"/>
              </a:rPr>
              <a:t>Operational question: how much fleet is </a:t>
            </a:r>
            <a:r>
              <a:rPr lang="en-CA" sz="1600" b="0" dirty="0">
                <a:solidFill>
                  <a:srgbClr val="202020"/>
                </a:solidFill>
                <a:latin typeface="Calibri"/>
              </a:rPr>
              <a:t>allocated</a:t>
            </a:r>
            <a:r>
              <a:rPr sz="1600" b="0" dirty="0">
                <a:solidFill>
                  <a:srgbClr val="202020"/>
                </a:solidFill>
                <a:latin typeface="Calibri"/>
              </a:rPr>
              <a:t> now?</a:t>
            </a:r>
          </a:p>
        </p:txBody>
      </p:sp>
      <p:sp>
        <p:nvSpPr>
          <p:cNvPr id="46" name="Rounded Rectangle 45"/>
          <p:cNvSpPr/>
          <p:nvPr/>
        </p:nvSpPr>
        <p:spPr>
          <a:xfrm>
            <a:off x="8275320" y="1417320"/>
            <a:ext cx="3291840" cy="15087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275320" y="1417320"/>
            <a:ext cx="73152" cy="1508760"/>
          </a:xfrm>
          <a:prstGeom prst="rect">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76488" y="1581912"/>
            <a:ext cx="2971800" cy="347472"/>
          </a:xfrm>
          <a:prstGeom prst="rect">
            <a:avLst/>
          </a:prstGeom>
          <a:noFill/>
        </p:spPr>
        <p:txBody>
          <a:bodyPr wrap="square" anchor="t">
            <a:spAutoFit/>
          </a:bodyPr>
          <a:lstStyle/>
          <a:p>
            <a:pPr algn="l"/>
            <a:r>
              <a:rPr sz="1700" b="1" dirty="0">
                <a:solidFill>
                  <a:srgbClr val="3F6291"/>
                </a:solidFill>
                <a:latin typeface="Calibri"/>
              </a:rPr>
              <a:t>Downstream system</a:t>
            </a:r>
          </a:p>
        </p:txBody>
      </p:sp>
      <p:sp>
        <p:nvSpPr>
          <p:cNvPr id="49" name="TextBox 48"/>
          <p:cNvSpPr txBox="1"/>
          <p:nvPr/>
        </p:nvSpPr>
        <p:spPr>
          <a:xfrm>
            <a:off x="8476488" y="2039112"/>
            <a:ext cx="2971800" cy="758952"/>
          </a:xfrm>
          <a:prstGeom prst="rect">
            <a:avLst/>
          </a:prstGeom>
          <a:noFill/>
        </p:spPr>
        <p:txBody>
          <a:bodyPr wrap="square" anchor="t">
            <a:spAutoFit/>
          </a:bodyPr>
          <a:lstStyle/>
          <a:p>
            <a:pPr algn="l"/>
            <a:r>
              <a:rPr sz="1600" b="0" dirty="0">
                <a:solidFill>
                  <a:srgbClr val="202020"/>
                </a:solidFill>
                <a:latin typeface="Calibri"/>
              </a:rPr>
              <a:t>Ore stockpiles → concentrator → throughput/value</a:t>
            </a:r>
          </a:p>
        </p:txBody>
      </p:sp>
      <p:sp>
        <p:nvSpPr>
          <p:cNvPr id="50" name="Rounded Rectangle 49"/>
          <p:cNvSpPr/>
          <p:nvPr/>
        </p:nvSpPr>
        <p:spPr>
          <a:xfrm>
            <a:off x="8275320" y="3246120"/>
            <a:ext cx="3291840" cy="173736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8275320" y="3246120"/>
            <a:ext cx="73152" cy="1737360"/>
          </a:xfrm>
          <a:prstGeom prst="rect">
            <a:avLst/>
          </a:prstGeom>
          <a:solidFill>
            <a:srgbClr val="43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476488" y="3410712"/>
            <a:ext cx="2971800" cy="347472"/>
          </a:xfrm>
          <a:prstGeom prst="rect">
            <a:avLst/>
          </a:prstGeom>
          <a:noFill/>
        </p:spPr>
        <p:txBody>
          <a:bodyPr wrap="square" anchor="t">
            <a:spAutoFit/>
          </a:bodyPr>
          <a:lstStyle/>
          <a:p>
            <a:pPr algn="l"/>
            <a:r>
              <a:rPr sz="1700" b="1">
                <a:solidFill>
                  <a:srgbClr val="438B5B"/>
                </a:solidFill>
                <a:latin typeface="Calibri"/>
              </a:rPr>
              <a:t>Strategic consequence</a:t>
            </a:r>
          </a:p>
        </p:txBody>
      </p:sp>
      <p:sp>
        <p:nvSpPr>
          <p:cNvPr id="53" name="TextBox 52"/>
          <p:cNvSpPr txBox="1"/>
          <p:nvPr/>
        </p:nvSpPr>
        <p:spPr>
          <a:xfrm>
            <a:off x="8476488" y="3867911"/>
            <a:ext cx="2971800" cy="987552"/>
          </a:xfrm>
          <a:prstGeom prst="rect">
            <a:avLst/>
          </a:prstGeom>
          <a:noFill/>
        </p:spPr>
        <p:txBody>
          <a:bodyPr wrap="square" anchor="t">
            <a:spAutoFit/>
          </a:bodyPr>
          <a:lstStyle/>
          <a:p>
            <a:pPr algn="l"/>
            <a:r>
              <a:rPr sz="1500" b="0" dirty="0">
                <a:solidFill>
                  <a:srgbClr val="202020"/>
                </a:solidFill>
                <a:latin typeface="Calibri"/>
              </a:rPr>
              <a:t>Insufficient development today can make Area 2 unavailable when the future production plan needs it.</a:t>
            </a:r>
          </a:p>
        </p:txBody>
      </p:sp>
      <p:sp>
        <p:nvSpPr>
          <p:cNvPr id="56" name="TextBox 55"/>
          <p:cNvSpPr txBox="1"/>
          <p:nvPr/>
        </p:nvSpPr>
        <p:spPr>
          <a:xfrm>
            <a:off x="4908884" y="5105240"/>
            <a:ext cx="2184935" cy="954107"/>
          </a:xfrm>
          <a:prstGeom prst="rect">
            <a:avLst/>
          </a:prstGeom>
          <a:noFill/>
        </p:spPr>
        <p:txBody>
          <a:bodyPr wrap="square" anchor="t">
            <a:spAutoFit/>
          </a:bodyPr>
          <a:lstStyle/>
          <a:p>
            <a:pPr algn="ctr"/>
            <a:r>
              <a:rPr sz="1400" b="1" dirty="0">
                <a:solidFill>
                  <a:srgbClr val="202020"/>
                </a:solidFill>
                <a:latin typeface="Calibri"/>
              </a:rPr>
              <a:t>Area 2 unlock condition: </a:t>
            </a:r>
            <a:r>
              <a:rPr sz="1400" dirty="0">
                <a:solidFill>
                  <a:srgbClr val="202020"/>
                </a:solidFill>
                <a:latin typeface="Calibri"/>
              </a:rPr>
              <a:t>development progress </a:t>
            </a:r>
            <a:endParaRPr lang="en-CA" sz="1400" dirty="0">
              <a:solidFill>
                <a:srgbClr val="202020"/>
              </a:solidFill>
              <a:latin typeface="Calibri"/>
            </a:endParaRPr>
          </a:p>
          <a:p>
            <a:pPr algn="ctr"/>
            <a:r>
              <a:rPr sz="1400" dirty="0">
                <a:solidFill>
                  <a:srgbClr val="202020"/>
                </a:solidFill>
                <a:latin typeface="Calibri"/>
              </a:rPr>
              <a:t>≥ </a:t>
            </a:r>
            <a:endParaRPr lang="en-CA" sz="1400" dirty="0">
              <a:solidFill>
                <a:srgbClr val="202020"/>
              </a:solidFill>
              <a:latin typeface="Calibri"/>
            </a:endParaRPr>
          </a:p>
          <a:p>
            <a:pPr algn="ctr"/>
            <a:r>
              <a:rPr sz="1400" dirty="0">
                <a:solidFill>
                  <a:srgbClr val="202020"/>
                </a:solidFill>
                <a:latin typeface="Calibri"/>
              </a:rPr>
              <a:t>required threshold.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label"/>
          <p:cNvSpPr txBox="1"/>
          <p:nvPr/>
        </p:nvSpPr>
        <p:spPr>
          <a:xfrm>
            <a:off x="530352" y="310896"/>
            <a:ext cx="2926080" cy="256032"/>
          </a:xfrm>
          <a:prstGeom prst="rect">
            <a:avLst/>
          </a:prstGeom>
          <a:noFill/>
        </p:spPr>
        <p:txBody>
          <a:bodyPr wrap="square" lIns="27432" tIns="18288" rIns="27432" bIns="18288" anchor="t">
            <a:spAutoFit/>
          </a:bodyPr>
          <a:lstStyle/>
          <a:p>
            <a:pPr algn="l"/>
            <a:r>
              <a:rPr sz="1000" b="1" dirty="0">
                <a:solidFill>
                  <a:srgbClr val="ED1B2F"/>
                </a:solidFill>
                <a:latin typeface="Calibri"/>
              </a:rPr>
              <a:t>PRODUCTION–DEVELOPMENT TRADE-OFF</a:t>
            </a:r>
          </a:p>
        </p:txBody>
      </p:sp>
      <p:sp>
        <p:nvSpPr>
          <p:cNvPr id="3" name="kicker-marker"/>
          <p:cNvSpPr/>
          <p:nvPr/>
        </p:nvSpPr>
        <p:spPr>
          <a:xfrm>
            <a:off x="530352" y="621792"/>
            <a:ext cx="411480" cy="36576"/>
          </a:xfrm>
          <a:prstGeom prst="rect">
            <a:avLst/>
          </a:prstGeom>
          <a:solidFill>
            <a:srgbClr val="BE6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713232"/>
            <a:ext cx="8138160" cy="344710"/>
          </a:xfrm>
          <a:prstGeom prst="rect">
            <a:avLst/>
          </a:prstGeom>
          <a:noFill/>
        </p:spPr>
        <p:txBody>
          <a:bodyPr wrap="square" lIns="27432" tIns="18288" rIns="27432" bIns="18288" anchor="t">
            <a:spAutoFit/>
          </a:bodyPr>
          <a:lstStyle/>
          <a:p>
            <a:pPr algn="l"/>
            <a:r>
              <a:rPr sz="2000" b="1" dirty="0">
                <a:solidFill>
                  <a:srgbClr val="202020"/>
                </a:solidFill>
                <a:latin typeface="Calibri"/>
              </a:rPr>
              <a:t>Development consumes resources </a:t>
            </a:r>
            <a:r>
              <a:rPr lang="en-CA" sz="2000" b="1" dirty="0">
                <a:solidFill>
                  <a:srgbClr val="202020"/>
                </a:solidFill>
                <a:latin typeface="Calibri"/>
              </a:rPr>
              <a:t>but unlocks future production area  </a:t>
            </a:r>
            <a:endParaRPr sz="2000" b="1" dirty="0">
              <a:solidFill>
                <a:srgbClr val="202020"/>
              </a:solidFill>
              <a:latin typeface="Calibri"/>
            </a:endParaRPr>
          </a:p>
        </p:txBody>
      </p:sp>
      <p:sp>
        <p:nvSpPr>
          <p:cNvPr id="5" name="TextBox 4"/>
          <p:cNvSpPr txBox="1"/>
          <p:nvPr/>
        </p:nvSpPr>
        <p:spPr>
          <a:xfrm>
            <a:off x="1314450" y="2218942"/>
            <a:ext cx="2011680" cy="301752"/>
          </a:xfrm>
          <a:prstGeom prst="rect">
            <a:avLst/>
          </a:prstGeom>
          <a:noFill/>
        </p:spPr>
        <p:txBody>
          <a:bodyPr wrap="square" lIns="27432" tIns="18288" rIns="27432" bIns="18288" anchor="t">
            <a:spAutoFit/>
          </a:bodyPr>
          <a:lstStyle/>
          <a:p>
            <a:pPr algn="l"/>
            <a:r>
              <a:rPr sz="1400" b="1">
                <a:solidFill>
                  <a:srgbClr val="BE6736"/>
                </a:solidFill>
                <a:latin typeface="Aptos"/>
              </a:rPr>
              <a:t>Short term</a:t>
            </a:r>
          </a:p>
        </p:txBody>
      </p:sp>
      <p:sp>
        <p:nvSpPr>
          <p:cNvPr id="6" name="TextBox 5"/>
          <p:cNvSpPr txBox="1"/>
          <p:nvPr/>
        </p:nvSpPr>
        <p:spPr>
          <a:xfrm>
            <a:off x="8394192" y="2176271"/>
            <a:ext cx="2011680" cy="301752"/>
          </a:xfrm>
          <a:prstGeom prst="rect">
            <a:avLst/>
          </a:prstGeom>
          <a:noFill/>
        </p:spPr>
        <p:txBody>
          <a:bodyPr wrap="square" lIns="27432" tIns="18288" rIns="27432" bIns="18288" anchor="t">
            <a:spAutoFit/>
          </a:bodyPr>
          <a:lstStyle/>
          <a:p>
            <a:pPr algn="r"/>
            <a:r>
              <a:rPr sz="1400" b="1">
                <a:solidFill>
                  <a:srgbClr val="278B61"/>
                </a:solidFill>
                <a:latin typeface="Aptos"/>
              </a:rPr>
              <a:t>Long term</a:t>
            </a:r>
          </a:p>
        </p:txBody>
      </p:sp>
      <p:sp>
        <p:nvSpPr>
          <p:cNvPr id="7" name="Rectangle 6"/>
          <p:cNvSpPr/>
          <p:nvPr/>
        </p:nvSpPr>
        <p:spPr>
          <a:xfrm>
            <a:off x="914400" y="2560320"/>
            <a:ext cx="1874519" cy="1024128"/>
          </a:xfrm>
          <a:prstGeom prst="rect">
            <a:avLst/>
          </a:prstGeom>
          <a:solidFill>
            <a:srgbClr val="FFFFFF"/>
          </a:solidFill>
          <a:ln w="12700">
            <a:solidFill>
              <a:srgbClr val="727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42416" y="2834640"/>
            <a:ext cx="1618488" cy="438912"/>
          </a:xfrm>
          <a:prstGeom prst="rect">
            <a:avLst/>
          </a:prstGeom>
          <a:noFill/>
        </p:spPr>
        <p:txBody>
          <a:bodyPr wrap="square" lIns="27432" tIns="18288" rIns="27432" bIns="18288" anchor="ctr">
            <a:spAutoFit/>
          </a:bodyPr>
          <a:lstStyle/>
          <a:p>
            <a:pPr algn="ctr"/>
            <a:r>
              <a:rPr sz="1400" b="1" dirty="0">
                <a:solidFill>
                  <a:srgbClr val="1D2630"/>
                </a:solidFill>
                <a:latin typeface="Aptos"/>
              </a:rPr>
              <a:t>Fleet assigned
to development</a:t>
            </a:r>
          </a:p>
        </p:txBody>
      </p:sp>
      <p:sp>
        <p:nvSpPr>
          <p:cNvPr id="9" name="Right Arrow 8"/>
          <p:cNvSpPr/>
          <p:nvPr/>
        </p:nvSpPr>
        <p:spPr>
          <a:xfrm>
            <a:off x="2999232" y="2953512"/>
            <a:ext cx="585216" cy="201168"/>
          </a:xfrm>
          <a:prstGeom prst="rightArrow">
            <a:avLst/>
          </a:prstGeom>
          <a:solidFill>
            <a:srgbClr val="CD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11880" y="2560320"/>
            <a:ext cx="1874519" cy="1024128"/>
          </a:xfrm>
          <a:prstGeom prst="rect">
            <a:avLst/>
          </a:prstGeom>
          <a:solidFill>
            <a:srgbClr val="FFFFFF"/>
          </a:solidFill>
          <a:ln w="12700">
            <a:solidFill>
              <a:srgbClr val="727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39896" y="2834640"/>
            <a:ext cx="1618488" cy="438912"/>
          </a:xfrm>
          <a:prstGeom prst="rect">
            <a:avLst/>
          </a:prstGeom>
          <a:noFill/>
        </p:spPr>
        <p:txBody>
          <a:bodyPr wrap="square" lIns="27432" tIns="18288" rIns="27432" bIns="18288" anchor="ctr">
            <a:spAutoFit/>
          </a:bodyPr>
          <a:lstStyle/>
          <a:p>
            <a:pPr algn="ctr"/>
            <a:r>
              <a:rPr sz="1400" b="1" dirty="0">
                <a:solidFill>
                  <a:srgbClr val="1D2630"/>
                </a:solidFill>
                <a:latin typeface="Aptos"/>
              </a:rPr>
              <a:t>Waste hauled
(no plant feed)</a:t>
            </a:r>
          </a:p>
        </p:txBody>
      </p:sp>
      <p:sp>
        <p:nvSpPr>
          <p:cNvPr id="12" name="Right Arrow 11"/>
          <p:cNvSpPr/>
          <p:nvPr/>
        </p:nvSpPr>
        <p:spPr>
          <a:xfrm>
            <a:off x="5696712" y="2953512"/>
            <a:ext cx="585216" cy="201168"/>
          </a:xfrm>
          <a:prstGeom prst="rightArrow">
            <a:avLst/>
          </a:prstGeom>
          <a:solidFill>
            <a:srgbClr val="CD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2560320"/>
            <a:ext cx="1874519" cy="1024128"/>
          </a:xfrm>
          <a:prstGeom prst="rect">
            <a:avLst/>
          </a:prstGeom>
          <a:solidFill>
            <a:srgbClr val="FFFFFF"/>
          </a:solidFill>
          <a:ln w="12700">
            <a:solidFill>
              <a:srgbClr val="E6A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37376" y="2834640"/>
            <a:ext cx="1618488" cy="438912"/>
          </a:xfrm>
          <a:prstGeom prst="rect">
            <a:avLst/>
          </a:prstGeom>
          <a:noFill/>
        </p:spPr>
        <p:txBody>
          <a:bodyPr wrap="square" lIns="27432" tIns="18288" rIns="27432" bIns="18288" anchor="ctr">
            <a:spAutoFit/>
          </a:bodyPr>
          <a:lstStyle/>
          <a:p>
            <a:pPr algn="ctr"/>
            <a:r>
              <a:rPr sz="1400" b="1" dirty="0">
                <a:solidFill>
                  <a:srgbClr val="1D2630"/>
                </a:solidFill>
                <a:latin typeface="Aptos"/>
              </a:rPr>
              <a:t>Ore access
is advanced</a:t>
            </a:r>
          </a:p>
        </p:txBody>
      </p:sp>
      <p:sp>
        <p:nvSpPr>
          <p:cNvPr id="15" name="Right Arrow 14"/>
          <p:cNvSpPr/>
          <p:nvPr/>
        </p:nvSpPr>
        <p:spPr>
          <a:xfrm>
            <a:off x="8394192" y="2953512"/>
            <a:ext cx="585216" cy="201168"/>
          </a:xfrm>
          <a:prstGeom prst="rightArrow">
            <a:avLst/>
          </a:prstGeom>
          <a:solidFill>
            <a:srgbClr val="CD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006840" y="2560320"/>
            <a:ext cx="1874519" cy="1024128"/>
          </a:xfrm>
          <a:prstGeom prst="rect">
            <a:avLst/>
          </a:prstGeom>
          <a:solidFill>
            <a:srgbClr val="FFFFFF"/>
          </a:solidFill>
          <a:ln w="12700">
            <a:solidFill>
              <a:srgbClr val="BE67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34856" y="2834640"/>
            <a:ext cx="1618488" cy="438912"/>
          </a:xfrm>
          <a:prstGeom prst="rect">
            <a:avLst/>
          </a:prstGeom>
          <a:noFill/>
        </p:spPr>
        <p:txBody>
          <a:bodyPr wrap="square" lIns="27432" tIns="18288" rIns="27432" bIns="18288" anchor="ctr">
            <a:spAutoFit/>
          </a:bodyPr>
          <a:lstStyle/>
          <a:p>
            <a:pPr algn="ctr"/>
            <a:r>
              <a:rPr sz="1400" b="1" dirty="0">
                <a:solidFill>
                  <a:srgbClr val="1D2630"/>
                </a:solidFill>
                <a:latin typeface="Aptos"/>
              </a:rPr>
              <a:t>Future Ore 2
production unlocked</a:t>
            </a:r>
          </a:p>
        </p:txBody>
      </p:sp>
      <p:sp>
        <p:nvSpPr>
          <p:cNvPr id="18" name="Rectangle 17"/>
          <p:cNvSpPr/>
          <p:nvPr/>
        </p:nvSpPr>
        <p:spPr>
          <a:xfrm>
            <a:off x="1005840" y="4709160"/>
            <a:ext cx="4206240" cy="868680"/>
          </a:xfrm>
          <a:prstGeom prst="rect">
            <a:avLst/>
          </a:prstGeom>
          <a:solidFill>
            <a:srgbClr val="FFFFFF"/>
          </a:solidFill>
          <a:ln w="12700">
            <a:solidFill>
              <a:srgbClr val="C44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0061" y="4877602"/>
            <a:ext cx="3703320" cy="256032"/>
          </a:xfrm>
          <a:prstGeom prst="rect">
            <a:avLst/>
          </a:prstGeom>
          <a:noFill/>
        </p:spPr>
        <p:txBody>
          <a:bodyPr wrap="square" lIns="27432" tIns="18288" rIns="27432" bIns="18288" anchor="t">
            <a:spAutoFit/>
          </a:bodyPr>
          <a:lstStyle/>
          <a:p>
            <a:pPr algn="ctr"/>
            <a:r>
              <a:rPr sz="1400" b="1" dirty="0">
                <a:solidFill>
                  <a:srgbClr val="ED1B2F"/>
                </a:solidFill>
                <a:latin typeface="Calibri"/>
              </a:rPr>
              <a:t>Immediate trade-off</a:t>
            </a:r>
          </a:p>
        </p:txBody>
      </p:sp>
      <p:sp>
        <p:nvSpPr>
          <p:cNvPr id="20" name="TextBox 19"/>
          <p:cNvSpPr txBox="1"/>
          <p:nvPr/>
        </p:nvSpPr>
        <p:spPr>
          <a:xfrm>
            <a:off x="1234440" y="5285232"/>
            <a:ext cx="3703320" cy="219456"/>
          </a:xfrm>
          <a:prstGeom prst="rect">
            <a:avLst/>
          </a:prstGeom>
          <a:noFill/>
        </p:spPr>
        <p:txBody>
          <a:bodyPr wrap="square" lIns="27432" tIns="18288" rIns="27432" bIns="18288" anchor="t">
            <a:spAutoFit/>
          </a:bodyPr>
          <a:lstStyle/>
          <a:p>
            <a:pPr algn="ctr"/>
            <a:r>
              <a:rPr sz="1400" b="0" dirty="0">
                <a:solidFill>
                  <a:srgbClr val="ED1B2F"/>
                </a:solidFill>
                <a:latin typeface="Calibri"/>
              </a:rPr>
              <a:t>lower current production / cash flow</a:t>
            </a:r>
          </a:p>
        </p:txBody>
      </p:sp>
      <p:sp>
        <p:nvSpPr>
          <p:cNvPr id="21" name="Rectangle 20"/>
          <p:cNvSpPr/>
          <p:nvPr/>
        </p:nvSpPr>
        <p:spPr>
          <a:xfrm>
            <a:off x="6702553" y="4709161"/>
            <a:ext cx="4178806" cy="948689"/>
          </a:xfrm>
          <a:prstGeom prst="rect">
            <a:avLst/>
          </a:prstGeom>
          <a:solidFill>
            <a:srgbClr val="FFFFFF"/>
          </a:solidFill>
          <a:ln w="12700">
            <a:solidFill>
              <a:srgbClr val="278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02552" y="4855464"/>
            <a:ext cx="3703320" cy="256032"/>
          </a:xfrm>
          <a:prstGeom prst="rect">
            <a:avLst/>
          </a:prstGeom>
          <a:noFill/>
        </p:spPr>
        <p:txBody>
          <a:bodyPr wrap="square" lIns="27432" tIns="18288" rIns="27432" bIns="18288" anchor="t">
            <a:spAutoFit/>
          </a:bodyPr>
          <a:lstStyle/>
          <a:p>
            <a:pPr algn="ctr"/>
            <a:r>
              <a:rPr sz="1400" b="1" dirty="0">
                <a:solidFill>
                  <a:srgbClr val="438B5B"/>
                </a:solidFill>
                <a:latin typeface="Calibri"/>
              </a:rPr>
              <a:t>Global benefit</a:t>
            </a:r>
          </a:p>
        </p:txBody>
      </p:sp>
      <p:sp>
        <p:nvSpPr>
          <p:cNvPr id="23" name="TextBox 22"/>
          <p:cNvSpPr txBox="1"/>
          <p:nvPr/>
        </p:nvSpPr>
        <p:spPr>
          <a:xfrm>
            <a:off x="6853929" y="5167586"/>
            <a:ext cx="3764661" cy="221599"/>
          </a:xfrm>
          <a:prstGeom prst="rect">
            <a:avLst/>
          </a:prstGeom>
          <a:noFill/>
        </p:spPr>
        <p:txBody>
          <a:bodyPr wrap="square" lIns="27432" tIns="18288" rIns="27432" bIns="18288" anchor="t">
            <a:spAutoFit/>
          </a:bodyPr>
          <a:lstStyle/>
          <a:p>
            <a:pPr algn="ctr"/>
            <a:r>
              <a:rPr sz="1400" b="0" dirty="0">
                <a:solidFill>
                  <a:srgbClr val="438B5B"/>
                </a:solidFill>
                <a:latin typeface="Calibri"/>
              </a:rPr>
              <a:t>future face readiness, sustained throughput and potentially higher NPV</a:t>
            </a:r>
          </a:p>
        </p:txBody>
      </p:sp>
      <p:sp>
        <p:nvSpPr>
          <p:cNvPr id="25" name="TextBox 24"/>
          <p:cNvSpPr txBox="1"/>
          <p:nvPr/>
        </p:nvSpPr>
        <p:spPr>
          <a:xfrm>
            <a:off x="11292840" y="6419088"/>
            <a:ext cx="411480" cy="219456"/>
          </a:xfrm>
          <a:prstGeom prst="rect">
            <a:avLst/>
          </a:prstGeom>
          <a:noFill/>
        </p:spPr>
        <p:txBody>
          <a:bodyPr wrap="square" lIns="27432" tIns="18288" rIns="27432" bIns="18288" anchor="t">
            <a:spAutoFit/>
          </a:bodyPr>
          <a:lstStyle/>
          <a:p>
            <a:pPr algn="ctr"/>
            <a:r>
              <a:rPr sz="900">
                <a:solidFill>
                  <a:srgbClr val="5C5C5C"/>
                </a:solidFill>
                <a:latin typeface="Calibri"/>
              </a:rPr>
              <a:t>20</a:t>
            </a:r>
          </a:p>
        </p:txBody>
      </p:sp>
      <p:pic>
        <p:nvPicPr>
          <p:cNvPr id="27" name="Picture 26">
            <a:extLst>
              <a:ext uri="{FF2B5EF4-FFF2-40B4-BE49-F238E27FC236}">
                <a16:creationId xmlns:a16="http://schemas.microsoft.com/office/drawing/2014/main" id="{27116824-AC01-1867-0F97-438DEFAFBA4A}"/>
              </a:ext>
            </a:extLst>
          </p:cNvPr>
          <p:cNvPicPr>
            <a:picLocks noChangeAspect="1"/>
          </p:cNvPicPr>
          <p:nvPr/>
        </p:nvPicPr>
        <p:blipFill>
          <a:blip r:embed="rId2"/>
          <a:stretch>
            <a:fillRect/>
          </a:stretch>
        </p:blipFill>
        <p:spPr>
          <a:xfrm>
            <a:off x="9672112" y="153941"/>
            <a:ext cx="2519888" cy="69183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C682D-A885-18D1-21DD-F1075AC1F9E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E9B934-BD50-1197-9F45-F8BDCA713738}"/>
              </a:ext>
            </a:extLst>
          </p:cNvPr>
          <p:cNvSpPr>
            <a:spLocks noGrp="1"/>
          </p:cNvSpPr>
          <p:nvPr>
            <p:ph type="ctrTitle"/>
          </p:nvPr>
        </p:nvSpPr>
        <p:spPr>
          <a:xfrm>
            <a:off x="1199686" y="759756"/>
            <a:ext cx="4620584" cy="4567137"/>
          </a:xfrm>
        </p:spPr>
        <p:txBody>
          <a:bodyPr wrap="square" lIns="73152" tIns="54864" rIns="73152" bIns="54864" anchor="ctr">
            <a:normAutofit/>
          </a:bodyPr>
          <a:lstStyle/>
          <a:p>
            <a:pPr algn="l">
              <a:lnSpc>
                <a:spcPct val="100000"/>
              </a:lnSpc>
              <a:spcBef>
                <a:spcPts val="0"/>
              </a:spcBef>
              <a:spcAft>
                <a:spcPts val="0"/>
              </a:spcAft>
            </a:pPr>
            <a:r>
              <a:rPr sz="2600" b="1">
                <a:solidFill>
                  <a:srgbClr val="202020"/>
                </a:solidFill>
                <a:latin typeface="Calibri"/>
              </a:rPr>
              <a:t>Tactical Configuration and Operational Resource Policies</a:t>
            </a:r>
          </a:p>
        </p:txBody>
      </p:sp>
      <p:pic>
        <p:nvPicPr>
          <p:cNvPr id="2050" name="Picture 2">
            <a:extLst>
              <a:ext uri="{FF2B5EF4-FFF2-40B4-BE49-F238E27FC236}">
                <a16:creationId xmlns:a16="http://schemas.microsoft.com/office/drawing/2014/main" id="{76371D70-375E-4B66-059C-B2821E27EBE0}"/>
              </a:ext>
            </a:extLst>
          </p:cNvPr>
          <p:cNvPicPr>
            <a:picLocks noChangeArrowheads="1"/>
          </p:cNvPicPr>
          <p:nvPr/>
        </p:nvPicPr>
        <p:blipFill rotWithShape="1">
          <a:blip r:embed="rId3"/>
          <a:srcRect l="-3318" r="23626"/>
          <a:stretch>
            <a:fillRect/>
          </a:stretch>
        </p:blipFill>
        <p:spPr bwMode="auto">
          <a:xfrm>
            <a:off x="6229215" y="10"/>
            <a:ext cx="5962785" cy="6904762"/>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8AB4E13D-C159-B880-0C3F-ECBB00299DC8}"/>
              </a:ext>
            </a:extLst>
          </p:cNvPr>
          <p:cNvSpPr>
            <a:spLocks noGrp="1"/>
          </p:cNvSpPr>
          <p:nvPr>
            <p:ph type="sldNum" sz="quarter" idx="12"/>
          </p:nvPr>
        </p:nvSpPr>
        <p:spPr>
          <a:xfrm>
            <a:off x="8610600" y="6356350"/>
            <a:ext cx="2743200" cy="365125"/>
          </a:xfrm>
        </p:spPr>
        <p:txBody>
          <a:bodyPr>
            <a:normAutofit/>
          </a:bodyPr>
          <a:lstStyle/>
          <a:p>
            <a:pPr algn="ctr"/>
            <a:r>
              <a:rPr sz="900">
                <a:solidFill>
                  <a:srgbClr val="5C5C5C"/>
                </a:solidFill>
                <a:latin typeface="Calibri"/>
              </a:rPr>
              <a:t>21</a:t>
            </a:r>
          </a:p>
        </p:txBody>
      </p:sp>
      <p:pic>
        <p:nvPicPr>
          <p:cNvPr id="8" name="Picture 7" descr="A red letter on a white background&#10;&#10;AI-generated content may be incorrect.">
            <a:extLst>
              <a:ext uri="{FF2B5EF4-FFF2-40B4-BE49-F238E27FC236}">
                <a16:creationId xmlns:a16="http://schemas.microsoft.com/office/drawing/2014/main" id="{B6C418FE-BF91-39DB-B993-95DDCE8482A6}"/>
              </a:ext>
            </a:extLst>
          </p:cNvPr>
          <p:cNvPicPr>
            <a:picLocks noChangeAspect="1"/>
          </p:cNvPicPr>
          <p:nvPr/>
        </p:nvPicPr>
        <p:blipFill>
          <a:blip r:embed="rId4"/>
          <a:stretch>
            <a:fillRect/>
          </a:stretch>
        </p:blipFill>
        <p:spPr>
          <a:xfrm>
            <a:off x="371265" y="6138312"/>
            <a:ext cx="2124075" cy="583163"/>
          </a:xfrm>
          <a:prstGeom prst="rect">
            <a:avLst/>
          </a:prstGeom>
        </p:spPr>
      </p:pic>
    </p:spTree>
    <p:extLst>
      <p:ext uri="{BB962C8B-B14F-4D97-AF65-F5344CB8AC3E}">
        <p14:creationId xmlns:p14="http://schemas.microsoft.com/office/powerpoint/2010/main" val="3575951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59877273-F515-45C3-CA32-1308ADF58348}"/>
              </a:ext>
            </a:extLst>
          </p:cNvPr>
          <p:cNvPicPr>
            <a:picLocks noChangeAspect="1"/>
          </p:cNvPicPr>
          <p:nvPr/>
        </p:nvPicPr>
        <p:blipFill>
          <a:blip r:embed="rId3"/>
          <a:stretch>
            <a:fillRect/>
          </a:stretch>
        </p:blipFill>
        <p:spPr>
          <a:xfrm>
            <a:off x="9672112" y="153941"/>
            <a:ext cx="2519888" cy="691833"/>
          </a:xfrm>
          <a:prstGeom prst="rect">
            <a:avLst/>
          </a:prstGeom>
        </p:spPr>
      </p:pic>
      <p:sp>
        <p:nvSpPr>
          <p:cNvPr id="31" name="TextBox 30"/>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BASELINE POLICY</a:t>
            </a:r>
          </a:p>
        </p:txBody>
      </p:sp>
      <p:sp>
        <p:nvSpPr>
          <p:cNvPr id="32" name="TextBox 31"/>
          <p:cNvSpPr txBox="1"/>
          <p:nvPr/>
        </p:nvSpPr>
        <p:spPr>
          <a:xfrm>
            <a:off x="530352" y="566928"/>
            <a:ext cx="9784080" cy="530352"/>
          </a:xfrm>
          <a:prstGeom prst="rect">
            <a:avLst/>
          </a:prstGeom>
          <a:noFill/>
        </p:spPr>
        <p:txBody>
          <a:bodyPr wrap="square" anchor="t">
            <a:spAutoFit/>
          </a:bodyPr>
          <a:lstStyle/>
          <a:p>
            <a:pPr algn="l"/>
            <a:r>
              <a:rPr sz="2600" b="1" dirty="0">
                <a:solidFill>
                  <a:srgbClr val="202020"/>
                </a:solidFill>
                <a:latin typeface="Calibri"/>
              </a:rPr>
              <a:t>Policy 1 — Local-Objective Baseline</a:t>
            </a:r>
          </a:p>
        </p:txBody>
      </p:sp>
      <p:sp>
        <p:nvSpPr>
          <p:cNvPr id="33" name="Rectangle 32"/>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22</a:t>
            </a:r>
          </a:p>
        </p:txBody>
      </p:sp>
      <p:sp>
        <p:nvSpPr>
          <p:cNvPr id="35" name="TextBox 34"/>
          <p:cNvSpPr txBox="1"/>
          <p:nvPr/>
        </p:nvSpPr>
        <p:spPr>
          <a:xfrm>
            <a:off x="594360" y="1325880"/>
            <a:ext cx="10789920" cy="502920"/>
          </a:xfrm>
          <a:prstGeom prst="rect">
            <a:avLst/>
          </a:prstGeom>
          <a:noFill/>
        </p:spPr>
        <p:txBody>
          <a:bodyPr wrap="square" anchor="t">
            <a:spAutoFit/>
          </a:bodyPr>
          <a:lstStyle/>
          <a:p>
            <a:pPr algn="l"/>
            <a:r>
              <a:rPr sz="1900" b="1" dirty="0">
                <a:solidFill>
                  <a:srgbClr val="202020"/>
                </a:solidFill>
                <a:latin typeface="Calibri"/>
              </a:rPr>
              <a:t>A deliberately myopic benchmark that prioritizes current production and local operational KPIs.</a:t>
            </a:r>
          </a:p>
        </p:txBody>
      </p:sp>
      <p:sp>
        <p:nvSpPr>
          <p:cNvPr id="36" name="Rounded Rectangle 35"/>
          <p:cNvSpPr/>
          <p:nvPr/>
        </p:nvSpPr>
        <p:spPr>
          <a:xfrm>
            <a:off x="594360" y="2148840"/>
            <a:ext cx="3429000" cy="233172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4360" y="2148840"/>
            <a:ext cx="73152" cy="2331720"/>
          </a:xfrm>
          <a:prstGeom prst="rect">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95528" y="2313432"/>
            <a:ext cx="3108960" cy="347472"/>
          </a:xfrm>
          <a:prstGeom prst="rect">
            <a:avLst/>
          </a:prstGeom>
          <a:noFill/>
        </p:spPr>
        <p:txBody>
          <a:bodyPr wrap="square" anchor="t">
            <a:spAutoFit/>
          </a:bodyPr>
          <a:lstStyle/>
          <a:p>
            <a:pPr algn="l"/>
            <a:r>
              <a:rPr sz="1800" b="1">
                <a:solidFill>
                  <a:srgbClr val="3F6291"/>
                </a:solidFill>
                <a:latin typeface="Calibri"/>
              </a:rPr>
              <a:t>Objective</a:t>
            </a:r>
          </a:p>
        </p:txBody>
      </p:sp>
      <p:sp>
        <p:nvSpPr>
          <p:cNvPr id="39" name="TextBox 38"/>
          <p:cNvSpPr txBox="1"/>
          <p:nvPr/>
        </p:nvSpPr>
        <p:spPr>
          <a:xfrm>
            <a:off x="795528" y="2770632"/>
            <a:ext cx="3108960" cy="1581912"/>
          </a:xfrm>
          <a:prstGeom prst="rect">
            <a:avLst/>
          </a:prstGeom>
          <a:noFill/>
        </p:spPr>
        <p:txBody>
          <a:bodyPr wrap="square" anchor="t">
            <a:spAutoFit/>
          </a:bodyPr>
          <a:lstStyle/>
          <a:p>
            <a:pPr algn="l"/>
            <a:r>
              <a:rPr sz="1500" b="0">
                <a:solidFill>
                  <a:srgbClr val="202020"/>
                </a:solidFill>
                <a:latin typeface="Calibri"/>
              </a:rPr>
              <a:t>Maximize current tonnes / utilization / apparent productive use of equipment.</a:t>
            </a:r>
          </a:p>
        </p:txBody>
      </p:sp>
      <p:sp>
        <p:nvSpPr>
          <p:cNvPr id="40" name="Rounded Rectangle 39"/>
          <p:cNvSpPr/>
          <p:nvPr/>
        </p:nvSpPr>
        <p:spPr>
          <a:xfrm>
            <a:off x="4370832" y="2148840"/>
            <a:ext cx="3429000" cy="233172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370832" y="2148840"/>
            <a:ext cx="73152" cy="2331720"/>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0" y="2313432"/>
            <a:ext cx="3108960" cy="347472"/>
          </a:xfrm>
          <a:prstGeom prst="rect">
            <a:avLst/>
          </a:prstGeom>
          <a:noFill/>
        </p:spPr>
        <p:txBody>
          <a:bodyPr wrap="square" anchor="t">
            <a:spAutoFit/>
          </a:bodyPr>
          <a:lstStyle/>
          <a:p>
            <a:pPr algn="l"/>
            <a:r>
              <a:rPr sz="1800" b="1">
                <a:solidFill>
                  <a:srgbClr val="E69138"/>
                </a:solidFill>
                <a:latin typeface="Calibri"/>
              </a:rPr>
              <a:t>Development logic</a:t>
            </a:r>
          </a:p>
        </p:txBody>
      </p:sp>
      <p:sp>
        <p:nvSpPr>
          <p:cNvPr id="43" name="TextBox 42"/>
          <p:cNvSpPr txBox="1"/>
          <p:nvPr/>
        </p:nvSpPr>
        <p:spPr>
          <a:xfrm>
            <a:off x="4572000" y="2770632"/>
            <a:ext cx="3108960" cy="1581912"/>
          </a:xfrm>
          <a:prstGeom prst="rect">
            <a:avLst/>
          </a:prstGeom>
          <a:noFill/>
        </p:spPr>
        <p:txBody>
          <a:bodyPr wrap="square" anchor="t">
            <a:spAutoFit/>
          </a:bodyPr>
          <a:lstStyle/>
          <a:p>
            <a:pPr algn="l"/>
            <a:r>
              <a:rPr sz="1500" b="0" dirty="0">
                <a:solidFill>
                  <a:srgbClr val="202020"/>
                </a:solidFill>
                <a:latin typeface="Calibri"/>
              </a:rPr>
              <a:t>No explicit strategic target for Area 2 readiness beyond a minimum or residual allocation.</a:t>
            </a:r>
          </a:p>
        </p:txBody>
      </p:sp>
      <p:sp>
        <p:nvSpPr>
          <p:cNvPr id="44" name="Rounded Rectangle 43"/>
          <p:cNvSpPr/>
          <p:nvPr/>
        </p:nvSpPr>
        <p:spPr>
          <a:xfrm>
            <a:off x="8147304" y="2148840"/>
            <a:ext cx="3429000" cy="233172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147304" y="2148840"/>
            <a:ext cx="73152" cy="233172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348472" y="2313432"/>
            <a:ext cx="3108960" cy="347472"/>
          </a:xfrm>
          <a:prstGeom prst="rect">
            <a:avLst/>
          </a:prstGeom>
          <a:noFill/>
        </p:spPr>
        <p:txBody>
          <a:bodyPr wrap="square" anchor="t">
            <a:spAutoFit/>
          </a:bodyPr>
          <a:lstStyle/>
          <a:p>
            <a:pPr algn="l"/>
            <a:r>
              <a:rPr sz="1800" b="1">
                <a:solidFill>
                  <a:srgbClr val="ED1B2F"/>
                </a:solidFill>
                <a:latin typeface="Calibri"/>
              </a:rPr>
              <a:t>Expected risk</a:t>
            </a:r>
          </a:p>
        </p:txBody>
      </p:sp>
      <p:sp>
        <p:nvSpPr>
          <p:cNvPr id="47" name="TextBox 46"/>
          <p:cNvSpPr txBox="1"/>
          <p:nvPr/>
        </p:nvSpPr>
        <p:spPr>
          <a:xfrm>
            <a:off x="8348472" y="2770632"/>
            <a:ext cx="3108960" cy="1581912"/>
          </a:xfrm>
          <a:prstGeom prst="rect">
            <a:avLst/>
          </a:prstGeom>
          <a:noFill/>
        </p:spPr>
        <p:txBody>
          <a:bodyPr wrap="square" anchor="t">
            <a:spAutoFit/>
          </a:bodyPr>
          <a:lstStyle/>
          <a:p>
            <a:pPr algn="l"/>
            <a:r>
              <a:rPr sz="1500" b="0" dirty="0">
                <a:solidFill>
                  <a:srgbClr val="202020"/>
                </a:solidFill>
                <a:latin typeface="Calibri"/>
              </a:rPr>
              <a:t>Strong short-term performance can leave the future production area underdeveloped and reduce later mine value.</a:t>
            </a:r>
          </a:p>
        </p:txBody>
      </p:sp>
      <p:sp>
        <p:nvSpPr>
          <p:cNvPr id="48" name="TextBox 47"/>
          <p:cNvSpPr txBox="1"/>
          <p:nvPr/>
        </p:nvSpPr>
        <p:spPr>
          <a:xfrm>
            <a:off x="594360" y="5074920"/>
            <a:ext cx="10789920" cy="457200"/>
          </a:xfrm>
          <a:prstGeom prst="rect">
            <a:avLst/>
          </a:prstGeom>
          <a:noFill/>
        </p:spPr>
        <p:txBody>
          <a:bodyPr wrap="square" anchor="t">
            <a:spAutoFit/>
          </a:bodyPr>
          <a:lstStyle/>
          <a:p>
            <a:pPr algn="ctr"/>
            <a:r>
              <a:rPr sz="1800" b="1" dirty="0">
                <a:solidFill>
                  <a:srgbClr val="202020"/>
                </a:solidFill>
                <a:latin typeface="Calibri"/>
              </a:rPr>
              <a:t>Purpose of this policy: test whether a locally “good” operational policy can be globally inferior.</a:t>
            </a:r>
          </a:p>
        </p:txBody>
      </p:sp>
    </p:spTree>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75378D06-871A-0BBA-79A5-6A5CC7EB8494}"/>
              </a:ext>
            </a:extLst>
          </p:cNvPr>
          <p:cNvPicPr>
            <a:picLocks noChangeAspect="1"/>
          </p:cNvPicPr>
          <p:nvPr/>
        </p:nvPicPr>
        <p:blipFill>
          <a:blip r:embed="rId3"/>
          <a:stretch>
            <a:fillRect/>
          </a:stretch>
        </p:blipFill>
        <p:spPr>
          <a:xfrm>
            <a:off x="9672112" y="153941"/>
            <a:ext cx="2519888" cy="691833"/>
          </a:xfrm>
          <a:prstGeom prst="rect">
            <a:avLst/>
          </a:prstGeom>
        </p:spPr>
      </p:pic>
      <p:sp>
        <p:nvSpPr>
          <p:cNvPr id="24" name="TextBox 23"/>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VALUE-ORIENTED POLICY</a:t>
            </a:r>
          </a:p>
        </p:txBody>
      </p:sp>
      <p:sp>
        <p:nvSpPr>
          <p:cNvPr id="25" name="TextBox 24"/>
          <p:cNvSpPr txBox="1"/>
          <p:nvPr/>
        </p:nvSpPr>
        <p:spPr>
          <a:xfrm>
            <a:off x="530352" y="566928"/>
            <a:ext cx="9784080" cy="530352"/>
          </a:xfrm>
          <a:prstGeom prst="rect">
            <a:avLst/>
          </a:prstGeom>
          <a:noFill/>
        </p:spPr>
        <p:txBody>
          <a:bodyPr wrap="square" anchor="t">
            <a:spAutoFit/>
          </a:bodyPr>
          <a:lstStyle/>
          <a:p>
            <a:pPr algn="l"/>
            <a:r>
              <a:rPr sz="2600" b="1" dirty="0">
                <a:solidFill>
                  <a:srgbClr val="202020"/>
                </a:solidFill>
                <a:latin typeface="Calibri"/>
              </a:rPr>
              <a:t>Policy 2 — Hierarchical Value-Oriented Control</a:t>
            </a:r>
          </a:p>
        </p:txBody>
      </p:sp>
      <p:sp>
        <p:nvSpPr>
          <p:cNvPr id="26" name="Rectangle 25"/>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23</a:t>
            </a:r>
          </a:p>
        </p:txBody>
      </p:sp>
      <p:sp>
        <p:nvSpPr>
          <p:cNvPr id="28" name="TextBox 27"/>
          <p:cNvSpPr txBox="1"/>
          <p:nvPr/>
        </p:nvSpPr>
        <p:spPr>
          <a:xfrm>
            <a:off x="594360" y="1280160"/>
            <a:ext cx="10881360" cy="658368"/>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550" b="0" dirty="0">
                <a:solidFill>
                  <a:srgbClr val="202020"/>
                </a:solidFill>
                <a:latin typeface="Calibri"/>
              </a:rPr>
              <a:t>The tactical controller selects Mode A or Mode B using the Navarra / </a:t>
            </a:r>
            <a:r>
              <a:rPr sz="1550" b="0" dirty="0" err="1">
                <a:solidFill>
                  <a:srgbClr val="202020"/>
                </a:solidFill>
                <a:latin typeface="Calibri"/>
              </a:rPr>
              <a:t>Órdenes</a:t>
            </a:r>
            <a:r>
              <a:rPr sz="1550" b="0" dirty="0">
                <a:solidFill>
                  <a:srgbClr val="202020"/>
                </a:solidFill>
                <a:latin typeface="Calibri"/>
              </a:rPr>
              <a:t> stockpile logic, extended with development readiness and mine-value risk. The operational layer then chooses how to execute that tactical state with available resources.</a:t>
            </a:r>
          </a:p>
        </p:txBody>
      </p:sp>
      <p:sp>
        <p:nvSpPr>
          <p:cNvPr id="29" name="Rounded Rectangle 28"/>
          <p:cNvSpPr/>
          <p:nvPr/>
        </p:nvSpPr>
        <p:spPr>
          <a:xfrm>
            <a:off x="594360" y="2240280"/>
            <a:ext cx="3429000" cy="224028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94360" y="2240280"/>
            <a:ext cx="73152" cy="2240280"/>
          </a:xfrm>
          <a:prstGeom prst="rect">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5528" y="2404872"/>
            <a:ext cx="3108960" cy="347472"/>
          </a:xfrm>
          <a:prstGeom prst="rect">
            <a:avLst/>
          </a:prstGeom>
          <a:noFill/>
        </p:spPr>
        <p:txBody>
          <a:bodyPr wrap="square" anchor="t">
            <a:spAutoFit/>
          </a:bodyPr>
          <a:lstStyle/>
          <a:p>
            <a:pPr algn="l"/>
            <a:r>
              <a:rPr sz="1800" b="1" dirty="0">
                <a:solidFill>
                  <a:srgbClr val="3F6291"/>
                </a:solidFill>
                <a:latin typeface="Calibri"/>
              </a:rPr>
              <a:t>Observe system state</a:t>
            </a:r>
          </a:p>
        </p:txBody>
      </p:sp>
      <p:sp>
        <p:nvSpPr>
          <p:cNvPr id="32" name="TextBox 31"/>
          <p:cNvSpPr txBox="1"/>
          <p:nvPr/>
        </p:nvSpPr>
        <p:spPr>
          <a:xfrm>
            <a:off x="795528" y="2862072"/>
            <a:ext cx="3108960" cy="1131079"/>
          </a:xfrm>
          <a:prstGeom prst="rect">
            <a:avLst/>
          </a:prstGeom>
          <a:noFill/>
        </p:spPr>
        <p:txBody>
          <a:bodyPr wrap="square" lIns="91440" tIns="45720" rIns="91440" bIns="45720" anchor="t">
            <a:spAutoFit/>
          </a:bodyPr>
          <a:lstStyle/>
          <a:p>
            <a:pPr algn="l">
              <a:spcBef>
                <a:spcPts val="0"/>
              </a:spcBef>
              <a:spcAft>
                <a:spcPts val="200"/>
              </a:spcAft>
            </a:pPr>
            <a:r>
              <a:rPr sz="1350" b="0" dirty="0">
                <a:solidFill>
                  <a:srgbClr val="202020"/>
                </a:solidFill>
                <a:latin typeface="Calibri"/>
              </a:rPr>
              <a:t>Ore 1 / Ore 2 inventories, total stockpile target X, critical Ore 2 level Y, development progress, face readiness, current configuration / condition and value-relevant constraints.</a:t>
            </a:r>
          </a:p>
        </p:txBody>
      </p:sp>
      <p:sp>
        <p:nvSpPr>
          <p:cNvPr id="33" name="Rounded Rectangle 32"/>
          <p:cNvSpPr/>
          <p:nvPr/>
        </p:nvSpPr>
        <p:spPr>
          <a:xfrm>
            <a:off x="4370832" y="2240280"/>
            <a:ext cx="3429000" cy="224028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370832" y="2240280"/>
            <a:ext cx="73152" cy="2240280"/>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0" y="2404872"/>
            <a:ext cx="3108960" cy="347472"/>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700" b="1" dirty="0">
                <a:solidFill>
                  <a:srgbClr val="E69138"/>
                </a:solidFill>
                <a:latin typeface="Calibri"/>
              </a:rPr>
              <a:t>Choose tactical configuration</a:t>
            </a:r>
          </a:p>
        </p:txBody>
      </p:sp>
      <p:sp>
        <p:nvSpPr>
          <p:cNvPr id="36" name="TextBox 35"/>
          <p:cNvSpPr txBox="1"/>
          <p:nvPr/>
        </p:nvSpPr>
        <p:spPr>
          <a:xfrm>
            <a:off x="4572000" y="2862072"/>
            <a:ext cx="3108960" cy="1490472"/>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470" b="0" dirty="0">
                <a:solidFill>
                  <a:srgbClr val="202020"/>
                </a:solidFill>
                <a:latin typeface="Calibri"/>
              </a:rPr>
              <a:t>Mode A — Productive</a:t>
            </a:r>
            <a:br>
              <a:rPr dirty="0"/>
            </a:br>
            <a:r>
              <a:rPr sz="1470" b="0" dirty="0">
                <a:solidFill>
                  <a:srgbClr val="202020"/>
                </a:solidFill>
                <a:latin typeface="Calibri"/>
              </a:rPr>
              <a:t>Mode B — Recuperative</a:t>
            </a:r>
            <a:br>
              <a:rPr dirty="0"/>
            </a:br>
            <a:br>
              <a:rPr dirty="0"/>
            </a:br>
            <a:r>
              <a:rPr sz="1470" b="0" dirty="0">
                <a:solidFill>
                  <a:srgbClr val="202020"/>
                </a:solidFill>
                <a:latin typeface="Calibri"/>
              </a:rPr>
              <a:t>Within the selected mode:</a:t>
            </a:r>
            <a:br>
              <a:rPr dirty="0"/>
            </a:br>
            <a:r>
              <a:rPr sz="1470" b="0" dirty="0">
                <a:solidFill>
                  <a:srgbClr val="202020"/>
                </a:solidFill>
                <a:latin typeface="Calibri"/>
              </a:rPr>
              <a:t>Regular / Contingency / Mine Surging</a:t>
            </a:r>
          </a:p>
        </p:txBody>
      </p:sp>
      <p:sp>
        <p:nvSpPr>
          <p:cNvPr id="37" name="Rounded Rectangle 36"/>
          <p:cNvSpPr/>
          <p:nvPr/>
        </p:nvSpPr>
        <p:spPr>
          <a:xfrm>
            <a:off x="8147304" y="2240280"/>
            <a:ext cx="3429000" cy="224028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147304" y="2240280"/>
            <a:ext cx="73152" cy="224028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348472" y="2404872"/>
            <a:ext cx="3108960" cy="566928"/>
          </a:xfrm>
          <a:prstGeom prst="rect">
            <a:avLst/>
          </a:prstGeom>
          <a:noFill/>
        </p:spPr>
        <p:txBody>
          <a:bodyPr wrap="square" lIns="73152" tIns="36576" rIns="73152" bIns="18288" anchor="t">
            <a:spAutoFit/>
          </a:bodyPr>
          <a:lstStyle/>
          <a:p>
            <a:r>
              <a:rPr sz="1700" b="1" dirty="0">
                <a:solidFill>
                  <a:srgbClr val="ED1B2F"/>
                </a:solidFill>
                <a:latin typeface="Calibri"/>
              </a:rPr>
              <a:t>Operational resource policy</a:t>
            </a:r>
          </a:p>
        </p:txBody>
      </p:sp>
      <p:sp>
        <p:nvSpPr>
          <p:cNvPr id="40" name="TextBox 39"/>
          <p:cNvSpPr txBox="1"/>
          <p:nvPr/>
        </p:nvSpPr>
        <p:spPr>
          <a:xfrm>
            <a:off x="8348472" y="2971800"/>
            <a:ext cx="3108960" cy="1481328"/>
          </a:xfrm>
          <a:prstGeom prst="rect">
            <a:avLst/>
          </a:prstGeom>
          <a:noFill/>
        </p:spPr>
        <p:txBody>
          <a:bodyPr wrap="square" lIns="73152" tIns="36576" rIns="73152" bIns="18288" anchor="t">
            <a:spAutoFit/>
          </a:bodyPr>
          <a:lstStyle/>
          <a:p>
            <a:pPr>
              <a:lnSpc>
                <a:spcPct val="100000"/>
              </a:lnSpc>
              <a:spcBef>
                <a:spcPts val="0"/>
              </a:spcBef>
              <a:spcAft>
                <a:spcPts val="0"/>
              </a:spcAft>
            </a:pPr>
            <a:r>
              <a:rPr sz="1300" dirty="0">
                <a:solidFill>
                  <a:srgbClr val="202020"/>
                </a:solidFill>
                <a:latin typeface="Calibri"/>
              </a:rPr>
              <a:t>Translate the tactical state into execution priorities:</a:t>
            </a:r>
          </a:p>
          <a:p>
            <a:pPr>
              <a:lnSpc>
                <a:spcPct val="100000"/>
              </a:lnSpc>
              <a:spcBef>
                <a:spcPts val="0"/>
              </a:spcBef>
              <a:spcAft>
                <a:spcPts val="0"/>
              </a:spcAft>
            </a:pPr>
            <a:r>
              <a:rPr sz="1300" dirty="0">
                <a:solidFill>
                  <a:srgbClr val="202020"/>
                </a:solidFill>
                <a:latin typeface="Calibri"/>
              </a:rPr>
              <a:t>• production priority</a:t>
            </a:r>
          </a:p>
          <a:p>
            <a:pPr>
              <a:lnSpc>
                <a:spcPct val="100000"/>
              </a:lnSpc>
              <a:spcBef>
                <a:spcPts val="0"/>
              </a:spcBef>
              <a:spcAft>
                <a:spcPts val="0"/>
              </a:spcAft>
            </a:pPr>
            <a:r>
              <a:rPr sz="1300" dirty="0">
                <a:solidFill>
                  <a:srgbClr val="202020"/>
                </a:solidFill>
                <a:latin typeface="Calibri"/>
              </a:rPr>
              <a:t>• balanced production–development</a:t>
            </a:r>
          </a:p>
          <a:p>
            <a:pPr>
              <a:lnSpc>
                <a:spcPct val="100000"/>
              </a:lnSpc>
              <a:spcBef>
                <a:spcPts val="0"/>
              </a:spcBef>
              <a:spcAft>
                <a:spcPts val="0"/>
              </a:spcAft>
            </a:pPr>
            <a:r>
              <a:rPr sz="1300" dirty="0">
                <a:solidFill>
                  <a:srgbClr val="202020"/>
                </a:solidFill>
                <a:latin typeface="Calibri"/>
              </a:rPr>
              <a:t>• development priority</a:t>
            </a:r>
          </a:p>
          <a:p>
            <a:pPr>
              <a:lnSpc>
                <a:spcPct val="100000"/>
              </a:lnSpc>
              <a:spcBef>
                <a:spcPts val="0"/>
              </a:spcBef>
              <a:spcAft>
                <a:spcPts val="0"/>
              </a:spcAft>
            </a:pPr>
            <a:r>
              <a:rPr sz="1300" dirty="0">
                <a:solidFill>
                  <a:srgbClr val="202020"/>
                </a:solidFill>
                <a:latin typeface="Calibri"/>
              </a:rPr>
              <a:t>• dual-area production</a:t>
            </a:r>
          </a:p>
        </p:txBody>
      </p:sp>
      <p:sp>
        <p:nvSpPr>
          <p:cNvPr id="41" name="TextBox 40"/>
          <p:cNvSpPr txBox="1"/>
          <p:nvPr/>
        </p:nvSpPr>
        <p:spPr>
          <a:xfrm>
            <a:off x="5637997" y="4795788"/>
            <a:ext cx="10881360" cy="520142"/>
          </a:xfrm>
          <a:prstGeom prst="rect">
            <a:avLst/>
          </a:prstGeom>
          <a:noFill/>
        </p:spPr>
        <p:txBody>
          <a:bodyPr wrap="square" lIns="73152" tIns="54864" rIns="73152" bIns="54864" anchor="t">
            <a:spAutoFit/>
          </a:bodyPr>
          <a:lstStyle/>
          <a:p>
            <a:r>
              <a:rPr sz="1330" b="1" dirty="0">
                <a:solidFill>
                  <a:srgbClr val="5C5C5C"/>
                </a:solidFill>
                <a:latin typeface="Calibri"/>
              </a:rPr>
              <a:t>Tactical chooses the mine configuration (A/B) and operating condition; </a:t>
            </a:r>
            <a:endParaRPr lang="en-CA" sz="1330" b="1" dirty="0">
              <a:solidFill>
                <a:srgbClr val="5C5C5C"/>
              </a:solidFill>
              <a:latin typeface="Calibri"/>
            </a:endParaRPr>
          </a:p>
          <a:p>
            <a:r>
              <a:rPr sz="1330" b="1" dirty="0">
                <a:solidFill>
                  <a:srgbClr val="5C5C5C"/>
                </a:solidFill>
                <a:latin typeface="Calibri"/>
              </a:rPr>
              <a:t>Operations decides how resources execute that decision. </a:t>
            </a:r>
          </a:p>
        </p:txBody>
      </p:sp>
      <p:sp>
        <p:nvSpPr>
          <p:cNvPr id="2" name="文本框 1">
            <a:extLst>
              <a:ext uri="{FF2B5EF4-FFF2-40B4-BE49-F238E27FC236}">
                <a16:creationId xmlns:a16="http://schemas.microsoft.com/office/drawing/2014/main" id="{02E6C111-6A13-1AAE-103B-251A3DA95786}"/>
              </a:ext>
            </a:extLst>
          </p:cNvPr>
          <p:cNvSpPr txBox="1"/>
          <p:nvPr/>
        </p:nvSpPr>
        <p:spPr>
          <a:xfrm>
            <a:off x="4583721" y="4161692"/>
            <a:ext cx="2907323" cy="5770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050">
                <a:ea typeface="+mn-lt"/>
                <a:cs typeface="+mn-lt"/>
              </a:rPr>
              <a:t>D</a:t>
            </a:r>
            <a:r>
              <a:rPr lang="zh-CN" sz="1050">
                <a:ea typeface="+mn-lt"/>
                <a:cs typeface="+mn-lt"/>
              </a:rPr>
              <a:t>etermines whether production or development must be prioritized to remain compliant with the strategic plan</a:t>
            </a:r>
          </a:p>
        </p:txBody>
      </p:sp>
    </p:spTree>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3E6EC-B90B-C082-71AD-36721BD7A3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D521AC-B8F0-973F-4497-EC1A92B14A33}"/>
              </a:ext>
            </a:extLst>
          </p:cNvPr>
          <p:cNvSpPr>
            <a:spLocks noGrp="1"/>
          </p:cNvSpPr>
          <p:nvPr>
            <p:ph type="ctrTitle"/>
          </p:nvPr>
        </p:nvSpPr>
        <p:spPr>
          <a:xfrm>
            <a:off x="1199686" y="759756"/>
            <a:ext cx="4620584" cy="4567137"/>
          </a:xfrm>
        </p:spPr>
        <p:txBody>
          <a:bodyPr wrap="square">
            <a:normAutofit/>
          </a:bodyPr>
          <a:lstStyle/>
          <a:p>
            <a:pPr algn="l">
              <a:lnSpc>
                <a:spcPct val="100000"/>
              </a:lnSpc>
            </a:pPr>
            <a:r>
              <a:rPr sz="2400" b="0">
                <a:solidFill>
                  <a:srgbClr val="202020"/>
                </a:solidFill>
                <a:latin typeface="Calibri"/>
              </a:rPr>
              <a:t>Evaluation Framework</a:t>
            </a:r>
          </a:p>
        </p:txBody>
      </p:sp>
      <p:pic>
        <p:nvPicPr>
          <p:cNvPr id="2050" name="Picture 2">
            <a:extLst>
              <a:ext uri="{FF2B5EF4-FFF2-40B4-BE49-F238E27FC236}">
                <a16:creationId xmlns:a16="http://schemas.microsoft.com/office/drawing/2014/main" id="{6D4AC649-3757-378E-9ACD-F775BC56B380}"/>
              </a:ext>
            </a:extLst>
          </p:cNvPr>
          <p:cNvPicPr>
            <a:picLocks noChangeArrowheads="1"/>
          </p:cNvPicPr>
          <p:nvPr/>
        </p:nvPicPr>
        <p:blipFill rotWithShape="1">
          <a:blip r:embed="rId3"/>
          <a:srcRect l="-3318" r="23626"/>
          <a:stretch>
            <a:fillRect/>
          </a:stretch>
        </p:blipFill>
        <p:spPr bwMode="auto">
          <a:xfrm>
            <a:off x="6229215" y="10"/>
            <a:ext cx="5962785" cy="6904762"/>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EEA1294-BF1F-8018-ADE6-AB440005B57C}"/>
              </a:ext>
            </a:extLst>
          </p:cNvPr>
          <p:cNvSpPr>
            <a:spLocks noGrp="1"/>
          </p:cNvSpPr>
          <p:nvPr>
            <p:ph type="sldNum" sz="quarter" idx="12"/>
          </p:nvPr>
        </p:nvSpPr>
        <p:spPr>
          <a:xfrm>
            <a:off x="8610600" y="6356350"/>
            <a:ext cx="2743200" cy="365125"/>
          </a:xfrm>
        </p:spPr>
        <p:txBody>
          <a:bodyPr>
            <a:normAutofit/>
          </a:bodyPr>
          <a:lstStyle/>
          <a:p>
            <a:pPr algn="ctr"/>
            <a:r>
              <a:rPr sz="900">
                <a:solidFill>
                  <a:srgbClr val="5C5C5C"/>
                </a:solidFill>
                <a:latin typeface="Calibri"/>
              </a:rPr>
              <a:t>24</a:t>
            </a:r>
          </a:p>
        </p:txBody>
      </p:sp>
      <p:pic>
        <p:nvPicPr>
          <p:cNvPr id="8" name="Picture 7" descr="A red letter on a white background&#10;&#10;AI-generated content may be incorrect.">
            <a:extLst>
              <a:ext uri="{FF2B5EF4-FFF2-40B4-BE49-F238E27FC236}">
                <a16:creationId xmlns:a16="http://schemas.microsoft.com/office/drawing/2014/main" id="{53824EEA-2B9F-89AF-7AB9-501303BCB3F2}"/>
              </a:ext>
            </a:extLst>
          </p:cNvPr>
          <p:cNvPicPr>
            <a:picLocks noChangeAspect="1"/>
          </p:cNvPicPr>
          <p:nvPr/>
        </p:nvPicPr>
        <p:blipFill>
          <a:blip r:embed="rId4"/>
          <a:stretch>
            <a:fillRect/>
          </a:stretch>
        </p:blipFill>
        <p:spPr>
          <a:xfrm>
            <a:off x="371265" y="6138312"/>
            <a:ext cx="2124075" cy="583163"/>
          </a:xfrm>
          <a:prstGeom prst="rect">
            <a:avLst/>
          </a:prstGeom>
        </p:spPr>
      </p:pic>
    </p:spTree>
    <p:extLst>
      <p:ext uri="{BB962C8B-B14F-4D97-AF65-F5344CB8AC3E}">
        <p14:creationId xmlns:p14="http://schemas.microsoft.com/office/powerpoint/2010/main" val="4016101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8" name="Picture 57">
            <a:extLst>
              <a:ext uri="{FF2B5EF4-FFF2-40B4-BE49-F238E27FC236}">
                <a16:creationId xmlns:a16="http://schemas.microsoft.com/office/drawing/2014/main" id="{81C925A5-FB83-83D4-4532-3BD0CE87E6F7}"/>
              </a:ext>
            </a:extLst>
          </p:cNvPr>
          <p:cNvPicPr>
            <a:picLocks noChangeAspect="1"/>
          </p:cNvPicPr>
          <p:nvPr/>
        </p:nvPicPr>
        <p:blipFill>
          <a:blip r:embed="rId2"/>
          <a:stretch>
            <a:fillRect/>
          </a:stretch>
        </p:blipFill>
        <p:spPr>
          <a:xfrm>
            <a:off x="9672112" y="153941"/>
            <a:ext cx="2519888" cy="691833"/>
          </a:xfrm>
          <a:prstGeom prst="rect">
            <a:avLst/>
          </a:prstGeom>
        </p:spPr>
      </p:pic>
      <p:sp>
        <p:nvSpPr>
          <p:cNvPr id="59" name="TextBox 58"/>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EXPECTED MECHANISM</a:t>
            </a:r>
          </a:p>
        </p:txBody>
      </p:sp>
      <p:sp>
        <p:nvSpPr>
          <p:cNvPr id="60" name="TextBox 59"/>
          <p:cNvSpPr txBox="1"/>
          <p:nvPr/>
        </p:nvSpPr>
        <p:spPr>
          <a:xfrm>
            <a:off x="530352" y="566928"/>
            <a:ext cx="9784080" cy="530352"/>
          </a:xfrm>
          <a:prstGeom prst="rect">
            <a:avLst/>
          </a:prstGeom>
          <a:noFill/>
        </p:spPr>
        <p:txBody>
          <a:bodyPr wrap="square" anchor="t">
            <a:spAutoFit/>
          </a:bodyPr>
          <a:lstStyle/>
          <a:p>
            <a:pPr algn="l"/>
            <a:r>
              <a:rPr sz="2600" b="1" dirty="0">
                <a:solidFill>
                  <a:srgbClr val="202020"/>
                </a:solidFill>
                <a:latin typeface="Calibri"/>
              </a:rPr>
              <a:t>Expected Mechanism: How Development Can Create Mine Value</a:t>
            </a:r>
          </a:p>
        </p:txBody>
      </p:sp>
      <p:sp>
        <p:nvSpPr>
          <p:cNvPr id="61" name="Rectangle 60"/>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25</a:t>
            </a:r>
          </a:p>
        </p:txBody>
      </p:sp>
      <p:sp>
        <p:nvSpPr>
          <p:cNvPr id="63" name="Rounded Rectangle 62"/>
          <p:cNvSpPr/>
          <p:nvPr/>
        </p:nvSpPr>
        <p:spPr>
          <a:xfrm>
            <a:off x="548640" y="1828800"/>
            <a:ext cx="1965960" cy="201168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548640" y="1828800"/>
            <a:ext cx="73152" cy="201168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49808" y="1993392"/>
            <a:ext cx="1645919" cy="347472"/>
          </a:xfrm>
          <a:prstGeom prst="rect">
            <a:avLst/>
          </a:prstGeom>
          <a:noFill/>
        </p:spPr>
        <p:txBody>
          <a:bodyPr wrap="square" anchor="t">
            <a:spAutoFit/>
          </a:bodyPr>
          <a:lstStyle/>
          <a:p>
            <a:pPr algn="l"/>
            <a:r>
              <a:rPr sz="1600" b="1" dirty="0">
                <a:solidFill>
                  <a:srgbClr val="ED1B2F"/>
                </a:solidFill>
                <a:latin typeface="Calibri"/>
              </a:rPr>
              <a:t>Development</a:t>
            </a:r>
            <a:br>
              <a:rPr dirty="0"/>
            </a:br>
            <a:r>
              <a:rPr sz="1600" b="1" dirty="0">
                <a:solidFill>
                  <a:srgbClr val="ED1B2F"/>
                </a:solidFill>
                <a:latin typeface="Calibri"/>
              </a:rPr>
              <a:t>today</a:t>
            </a:r>
          </a:p>
        </p:txBody>
      </p:sp>
      <p:sp>
        <p:nvSpPr>
          <p:cNvPr id="66" name="TextBox 65"/>
          <p:cNvSpPr txBox="1"/>
          <p:nvPr/>
        </p:nvSpPr>
        <p:spPr>
          <a:xfrm>
            <a:off x="749808" y="2450592"/>
            <a:ext cx="1645919" cy="1261872"/>
          </a:xfrm>
          <a:prstGeom prst="rect">
            <a:avLst/>
          </a:prstGeom>
          <a:noFill/>
        </p:spPr>
        <p:txBody>
          <a:bodyPr wrap="square" anchor="t">
            <a:spAutoFit/>
          </a:bodyPr>
          <a:lstStyle/>
          <a:p>
            <a:pPr algn="l"/>
            <a:r>
              <a:rPr sz="1400" b="0">
                <a:solidFill>
                  <a:srgbClr val="202020"/>
                </a:solidFill>
                <a:latin typeface="Calibri"/>
              </a:rPr>
              <a:t>Lower current</a:t>
            </a:r>
            <a:br/>
            <a:r>
              <a:rPr sz="1400" b="0">
                <a:solidFill>
                  <a:srgbClr val="202020"/>
                </a:solidFill>
                <a:latin typeface="Calibri"/>
              </a:rPr>
              <a:t>production</a:t>
            </a:r>
          </a:p>
        </p:txBody>
      </p:sp>
      <p:cxnSp>
        <p:nvCxnSpPr>
          <p:cNvPr id="67" name="Connector 66"/>
          <p:cNvCxnSpPr/>
          <p:nvPr/>
        </p:nvCxnSpPr>
        <p:spPr>
          <a:xfrm>
            <a:off x="2542032" y="2834640"/>
            <a:ext cx="274320" cy="0"/>
          </a:xfrm>
          <a:prstGeom prst="line">
            <a:avLst/>
          </a:prstGeom>
          <a:ln w="25400">
            <a:solidFill>
              <a:srgbClr val="ED1B2F"/>
            </a:solidFill>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2852928" y="1828800"/>
            <a:ext cx="1965960" cy="201168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2852928" y="1828800"/>
            <a:ext cx="73152" cy="2011680"/>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054096" y="1993392"/>
            <a:ext cx="1645919" cy="347472"/>
          </a:xfrm>
          <a:prstGeom prst="rect">
            <a:avLst/>
          </a:prstGeom>
          <a:noFill/>
        </p:spPr>
        <p:txBody>
          <a:bodyPr wrap="square" anchor="t">
            <a:spAutoFit/>
          </a:bodyPr>
          <a:lstStyle/>
          <a:p>
            <a:pPr algn="l"/>
            <a:r>
              <a:rPr sz="1600" b="1" dirty="0">
                <a:solidFill>
                  <a:srgbClr val="E69138"/>
                </a:solidFill>
                <a:latin typeface="Calibri"/>
              </a:rPr>
              <a:t>Future face</a:t>
            </a:r>
            <a:br>
              <a:rPr dirty="0"/>
            </a:br>
            <a:r>
              <a:rPr sz="1600" b="1" dirty="0">
                <a:solidFill>
                  <a:srgbClr val="E69138"/>
                </a:solidFill>
                <a:latin typeface="Calibri"/>
              </a:rPr>
              <a:t>readiness</a:t>
            </a:r>
          </a:p>
        </p:txBody>
      </p:sp>
      <p:sp>
        <p:nvSpPr>
          <p:cNvPr id="71" name="TextBox 70"/>
          <p:cNvSpPr txBox="1"/>
          <p:nvPr/>
        </p:nvSpPr>
        <p:spPr>
          <a:xfrm>
            <a:off x="3054096" y="2450592"/>
            <a:ext cx="1645919" cy="1261872"/>
          </a:xfrm>
          <a:prstGeom prst="rect">
            <a:avLst/>
          </a:prstGeom>
          <a:noFill/>
        </p:spPr>
        <p:txBody>
          <a:bodyPr wrap="square" anchor="t">
            <a:spAutoFit/>
          </a:bodyPr>
          <a:lstStyle/>
          <a:p>
            <a:pPr algn="l"/>
            <a:r>
              <a:rPr sz="1400" b="0" dirty="0">
                <a:solidFill>
                  <a:srgbClr val="202020"/>
                </a:solidFill>
                <a:latin typeface="Calibri"/>
              </a:rPr>
              <a:t>Area 2 becomes</a:t>
            </a:r>
            <a:br>
              <a:rPr dirty="0"/>
            </a:br>
            <a:r>
              <a:rPr sz="1400" b="0" dirty="0">
                <a:solidFill>
                  <a:srgbClr val="202020"/>
                </a:solidFill>
                <a:latin typeface="Calibri"/>
              </a:rPr>
              <a:t>available</a:t>
            </a:r>
          </a:p>
        </p:txBody>
      </p:sp>
      <p:cxnSp>
        <p:nvCxnSpPr>
          <p:cNvPr id="72" name="Connector 71"/>
          <p:cNvCxnSpPr/>
          <p:nvPr/>
        </p:nvCxnSpPr>
        <p:spPr>
          <a:xfrm>
            <a:off x="4846320" y="2834640"/>
            <a:ext cx="274320" cy="0"/>
          </a:xfrm>
          <a:prstGeom prst="line">
            <a:avLst/>
          </a:prstGeom>
          <a:ln w="25400">
            <a:solidFill>
              <a:srgbClr val="ED1B2F"/>
            </a:solidFill>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5157216" y="1828800"/>
            <a:ext cx="1965960" cy="201168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157216" y="1828800"/>
            <a:ext cx="73152" cy="2011680"/>
          </a:xfrm>
          <a:prstGeom prst="rect">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358384" y="1993392"/>
            <a:ext cx="1645919" cy="347472"/>
          </a:xfrm>
          <a:prstGeom prst="rect">
            <a:avLst/>
          </a:prstGeom>
          <a:noFill/>
        </p:spPr>
        <p:txBody>
          <a:bodyPr wrap="square" anchor="t">
            <a:spAutoFit/>
          </a:bodyPr>
          <a:lstStyle/>
          <a:p>
            <a:pPr algn="l"/>
            <a:r>
              <a:rPr sz="1600" b="1" dirty="0">
                <a:solidFill>
                  <a:srgbClr val="3F6291"/>
                </a:solidFill>
                <a:latin typeface="Calibri"/>
              </a:rPr>
              <a:t>Tactical</a:t>
            </a:r>
            <a:br>
              <a:rPr dirty="0"/>
            </a:br>
            <a:r>
              <a:rPr sz="1600" b="1" dirty="0">
                <a:solidFill>
                  <a:srgbClr val="3F6291"/>
                </a:solidFill>
                <a:latin typeface="Calibri"/>
              </a:rPr>
              <a:t>flexibility</a:t>
            </a:r>
          </a:p>
        </p:txBody>
      </p:sp>
      <p:sp>
        <p:nvSpPr>
          <p:cNvPr id="76" name="TextBox 75"/>
          <p:cNvSpPr txBox="1"/>
          <p:nvPr/>
        </p:nvSpPr>
        <p:spPr>
          <a:xfrm>
            <a:off x="5271756" y="2546845"/>
            <a:ext cx="1645919" cy="1261872"/>
          </a:xfrm>
          <a:prstGeom prst="rect">
            <a:avLst/>
          </a:prstGeom>
          <a:noFill/>
        </p:spPr>
        <p:txBody>
          <a:bodyPr wrap="square" anchor="t">
            <a:spAutoFit/>
          </a:bodyPr>
          <a:lstStyle/>
          <a:p>
            <a:pPr algn="l"/>
            <a:r>
              <a:rPr sz="1400" b="0" dirty="0">
                <a:solidFill>
                  <a:srgbClr val="202020"/>
                </a:solidFill>
                <a:latin typeface="Calibri"/>
              </a:rPr>
              <a:t>More feasible</a:t>
            </a:r>
            <a:br>
              <a:rPr dirty="0"/>
            </a:br>
            <a:r>
              <a:rPr sz="1400" b="0" dirty="0">
                <a:solidFill>
                  <a:srgbClr val="202020"/>
                </a:solidFill>
                <a:latin typeface="Calibri"/>
              </a:rPr>
              <a:t>operating modes</a:t>
            </a:r>
          </a:p>
        </p:txBody>
      </p:sp>
      <p:cxnSp>
        <p:nvCxnSpPr>
          <p:cNvPr id="77" name="Connector 76"/>
          <p:cNvCxnSpPr/>
          <p:nvPr/>
        </p:nvCxnSpPr>
        <p:spPr>
          <a:xfrm>
            <a:off x="7150608" y="2834640"/>
            <a:ext cx="274320" cy="0"/>
          </a:xfrm>
          <a:prstGeom prst="line">
            <a:avLst/>
          </a:prstGeom>
          <a:ln w="25400">
            <a:solidFill>
              <a:srgbClr val="ED1B2F"/>
            </a:solidFill>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7461504" y="1828800"/>
            <a:ext cx="1965960" cy="201168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7461504" y="1828800"/>
            <a:ext cx="73152" cy="2011680"/>
          </a:xfrm>
          <a:prstGeom prst="rect">
            <a:avLst/>
          </a:prstGeom>
          <a:solidFill>
            <a:srgbClr val="43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662672" y="1993392"/>
            <a:ext cx="1645919" cy="347472"/>
          </a:xfrm>
          <a:prstGeom prst="rect">
            <a:avLst/>
          </a:prstGeom>
          <a:noFill/>
        </p:spPr>
        <p:txBody>
          <a:bodyPr wrap="square" anchor="t">
            <a:spAutoFit/>
          </a:bodyPr>
          <a:lstStyle/>
          <a:p>
            <a:pPr algn="l"/>
            <a:r>
              <a:rPr sz="1600" b="1">
                <a:solidFill>
                  <a:srgbClr val="438B5B"/>
                </a:solidFill>
                <a:latin typeface="Calibri"/>
              </a:rPr>
              <a:t>Sustained</a:t>
            </a:r>
            <a:br/>
            <a:r>
              <a:rPr sz="1600" b="1">
                <a:solidFill>
                  <a:srgbClr val="438B5B"/>
                </a:solidFill>
                <a:latin typeface="Calibri"/>
              </a:rPr>
              <a:t>throughput</a:t>
            </a:r>
          </a:p>
        </p:txBody>
      </p:sp>
      <p:sp>
        <p:nvSpPr>
          <p:cNvPr id="81" name="TextBox 80"/>
          <p:cNvSpPr txBox="1"/>
          <p:nvPr/>
        </p:nvSpPr>
        <p:spPr>
          <a:xfrm>
            <a:off x="7624170" y="2546844"/>
            <a:ext cx="1645919" cy="523220"/>
          </a:xfrm>
          <a:prstGeom prst="rect">
            <a:avLst/>
          </a:prstGeom>
          <a:noFill/>
        </p:spPr>
        <p:txBody>
          <a:bodyPr wrap="square" anchor="t">
            <a:spAutoFit/>
          </a:bodyPr>
          <a:lstStyle/>
          <a:p>
            <a:pPr algn="l"/>
            <a:r>
              <a:rPr sz="1400" b="0" dirty="0">
                <a:solidFill>
                  <a:srgbClr val="202020"/>
                </a:solidFill>
                <a:latin typeface="Calibri"/>
              </a:rPr>
              <a:t>Less future</a:t>
            </a:r>
            <a:br>
              <a:rPr dirty="0"/>
            </a:br>
            <a:r>
              <a:rPr lang="en-CA" sz="1400" b="0" dirty="0">
                <a:solidFill>
                  <a:srgbClr val="202020"/>
                </a:solidFill>
                <a:latin typeface="Calibri"/>
              </a:rPr>
              <a:t>stockout risk</a:t>
            </a:r>
            <a:endParaRPr sz="1400" b="0" dirty="0">
              <a:solidFill>
                <a:srgbClr val="202020"/>
              </a:solidFill>
              <a:latin typeface="Calibri"/>
            </a:endParaRPr>
          </a:p>
        </p:txBody>
      </p:sp>
      <p:cxnSp>
        <p:nvCxnSpPr>
          <p:cNvPr id="82" name="Connector 81"/>
          <p:cNvCxnSpPr/>
          <p:nvPr/>
        </p:nvCxnSpPr>
        <p:spPr>
          <a:xfrm>
            <a:off x="9454896" y="2834640"/>
            <a:ext cx="274320" cy="0"/>
          </a:xfrm>
          <a:prstGeom prst="line">
            <a:avLst/>
          </a:prstGeom>
          <a:ln w="25400">
            <a:solidFill>
              <a:srgbClr val="ED1B2F"/>
            </a:solidFill>
          </a:ln>
        </p:spPr>
        <p:style>
          <a:lnRef idx="2">
            <a:schemeClr val="accent1"/>
          </a:lnRef>
          <a:fillRef idx="0">
            <a:schemeClr val="accent1"/>
          </a:fillRef>
          <a:effectRef idx="1">
            <a:schemeClr val="accent1"/>
          </a:effectRef>
          <a:fontRef idx="minor">
            <a:schemeClr val="tx1"/>
          </a:fontRef>
        </p:style>
      </p:cxnSp>
      <p:sp>
        <p:nvSpPr>
          <p:cNvPr id="83" name="Rounded Rectangle 82"/>
          <p:cNvSpPr/>
          <p:nvPr/>
        </p:nvSpPr>
        <p:spPr>
          <a:xfrm>
            <a:off x="9765792" y="1828800"/>
            <a:ext cx="1965960" cy="201168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9765792" y="1828800"/>
            <a:ext cx="73152" cy="201168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9966960" y="1993392"/>
            <a:ext cx="1645919" cy="347472"/>
          </a:xfrm>
          <a:prstGeom prst="rect">
            <a:avLst/>
          </a:prstGeom>
          <a:noFill/>
        </p:spPr>
        <p:txBody>
          <a:bodyPr wrap="square" anchor="t">
            <a:spAutoFit/>
          </a:bodyPr>
          <a:lstStyle/>
          <a:p>
            <a:pPr algn="l"/>
            <a:r>
              <a:rPr sz="1600" b="1">
                <a:solidFill>
                  <a:srgbClr val="ED1B2F"/>
                </a:solidFill>
                <a:latin typeface="Calibri"/>
              </a:rPr>
              <a:t>Higher discounted</a:t>
            </a:r>
            <a:br/>
            <a:r>
              <a:rPr sz="1600" b="1">
                <a:solidFill>
                  <a:srgbClr val="ED1B2F"/>
                </a:solidFill>
                <a:latin typeface="Calibri"/>
              </a:rPr>
              <a:t>mine value</a:t>
            </a:r>
          </a:p>
        </p:txBody>
      </p:sp>
      <p:sp>
        <p:nvSpPr>
          <p:cNvPr id="86" name="TextBox 85"/>
          <p:cNvSpPr txBox="1"/>
          <p:nvPr/>
        </p:nvSpPr>
        <p:spPr>
          <a:xfrm>
            <a:off x="9976585" y="2816352"/>
            <a:ext cx="1645919" cy="1261872"/>
          </a:xfrm>
          <a:prstGeom prst="rect">
            <a:avLst/>
          </a:prstGeom>
          <a:noFill/>
        </p:spPr>
        <p:txBody>
          <a:bodyPr wrap="square" anchor="t">
            <a:spAutoFit/>
          </a:bodyPr>
          <a:lstStyle/>
          <a:p>
            <a:pPr algn="l"/>
            <a:r>
              <a:rPr sz="1400" b="0" dirty="0">
                <a:solidFill>
                  <a:srgbClr val="202020"/>
                </a:solidFill>
                <a:latin typeface="Calibri"/>
              </a:rPr>
              <a:t>Global objective</a:t>
            </a:r>
          </a:p>
        </p:txBody>
      </p:sp>
      <p:sp>
        <p:nvSpPr>
          <p:cNvPr id="87" name="TextBox 86"/>
          <p:cNvSpPr txBox="1"/>
          <p:nvPr/>
        </p:nvSpPr>
        <p:spPr>
          <a:xfrm>
            <a:off x="594360" y="4434840"/>
            <a:ext cx="1828800" cy="274320"/>
          </a:xfrm>
          <a:prstGeom prst="rect">
            <a:avLst/>
          </a:prstGeom>
          <a:noFill/>
        </p:spPr>
        <p:txBody>
          <a:bodyPr wrap="square" anchor="t">
            <a:spAutoFit/>
          </a:bodyPr>
          <a:lstStyle/>
          <a:p>
            <a:pPr algn="l"/>
            <a:r>
              <a:rPr sz="1300" b="1" dirty="0">
                <a:solidFill>
                  <a:srgbClr val="ED1B2F"/>
                </a:solidFill>
                <a:latin typeface="Calibri"/>
              </a:rPr>
              <a:t>Working hypothesis</a:t>
            </a:r>
          </a:p>
        </p:txBody>
      </p:sp>
      <p:sp>
        <p:nvSpPr>
          <p:cNvPr id="88" name="TextBox 87"/>
          <p:cNvSpPr txBox="1"/>
          <p:nvPr/>
        </p:nvSpPr>
        <p:spPr>
          <a:xfrm>
            <a:off x="594360" y="4782312"/>
            <a:ext cx="10881360" cy="566928"/>
          </a:xfrm>
          <a:prstGeom prst="rect">
            <a:avLst/>
          </a:prstGeom>
          <a:noFill/>
        </p:spPr>
        <p:txBody>
          <a:bodyPr wrap="square" anchor="t">
            <a:spAutoFit/>
          </a:bodyPr>
          <a:lstStyle/>
          <a:p>
            <a:pPr algn="l"/>
            <a:r>
              <a:rPr sz="2000" b="1" dirty="0">
                <a:solidFill>
                  <a:srgbClr val="202020"/>
                </a:solidFill>
                <a:latin typeface="Calibri"/>
              </a:rPr>
              <a:t>A small short-term production sacrifice can be economically rational when it prevents a larger future throughput or access loss.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866D3698-6D50-6984-093A-03E8CC8B2BBE}"/>
              </a:ext>
            </a:extLst>
          </p:cNvPr>
          <p:cNvPicPr>
            <a:picLocks noChangeAspect="1"/>
          </p:cNvPicPr>
          <p:nvPr/>
        </p:nvPicPr>
        <p:blipFill>
          <a:blip r:embed="rId3"/>
          <a:stretch>
            <a:fillRect/>
          </a:stretch>
        </p:blipFill>
        <p:spPr>
          <a:xfrm>
            <a:off x="9672112" y="153941"/>
            <a:ext cx="2519888" cy="691833"/>
          </a:xfrm>
          <a:prstGeom prst="rect">
            <a:avLst/>
          </a:prstGeom>
        </p:spPr>
      </p:pic>
      <p:sp>
        <p:nvSpPr>
          <p:cNvPr id="42" name="TextBox 41"/>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KPIS &amp; OUTPUTS</a:t>
            </a:r>
          </a:p>
        </p:txBody>
      </p:sp>
      <p:sp>
        <p:nvSpPr>
          <p:cNvPr id="43" name="TextBox 42"/>
          <p:cNvSpPr txBox="1"/>
          <p:nvPr/>
        </p:nvSpPr>
        <p:spPr>
          <a:xfrm>
            <a:off x="530352" y="566928"/>
            <a:ext cx="9784080" cy="530352"/>
          </a:xfrm>
          <a:prstGeom prst="rect">
            <a:avLst/>
          </a:prstGeom>
          <a:noFill/>
        </p:spPr>
        <p:txBody>
          <a:bodyPr wrap="square" anchor="t">
            <a:spAutoFit/>
          </a:bodyPr>
          <a:lstStyle/>
          <a:p>
            <a:pPr algn="l"/>
            <a:r>
              <a:rPr sz="2600" b="1" dirty="0">
                <a:solidFill>
                  <a:srgbClr val="202020"/>
                </a:solidFill>
                <a:latin typeface="Calibri"/>
              </a:rPr>
              <a:t>Evaluation Metrics: Separate Objective from Diagnostics</a:t>
            </a:r>
          </a:p>
        </p:txBody>
      </p:sp>
      <p:sp>
        <p:nvSpPr>
          <p:cNvPr id="44" name="Rectangle 43"/>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26</a:t>
            </a:r>
          </a:p>
        </p:txBody>
      </p:sp>
      <p:sp>
        <p:nvSpPr>
          <p:cNvPr id="46" name="Rounded Rectangle 45"/>
          <p:cNvSpPr/>
          <p:nvPr/>
        </p:nvSpPr>
        <p:spPr>
          <a:xfrm>
            <a:off x="594360" y="1417320"/>
            <a:ext cx="3429000" cy="352044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94360" y="1417320"/>
            <a:ext cx="73152" cy="352044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95528" y="1581912"/>
            <a:ext cx="3108960" cy="347472"/>
          </a:xfrm>
          <a:prstGeom prst="rect">
            <a:avLst/>
          </a:prstGeom>
          <a:noFill/>
        </p:spPr>
        <p:txBody>
          <a:bodyPr wrap="square" anchor="t">
            <a:spAutoFit/>
          </a:bodyPr>
          <a:lstStyle/>
          <a:p>
            <a:pPr algn="l"/>
            <a:r>
              <a:rPr sz="1800" b="1" dirty="0">
                <a:solidFill>
                  <a:srgbClr val="ED1B2F"/>
                </a:solidFill>
                <a:latin typeface="Calibri"/>
              </a:rPr>
              <a:t>Global objective</a:t>
            </a:r>
          </a:p>
        </p:txBody>
      </p:sp>
      <p:sp>
        <p:nvSpPr>
          <p:cNvPr id="49" name="TextBox 48"/>
          <p:cNvSpPr txBox="1"/>
          <p:nvPr/>
        </p:nvSpPr>
        <p:spPr>
          <a:xfrm>
            <a:off x="795528" y="2039112"/>
            <a:ext cx="3108960" cy="1754326"/>
          </a:xfrm>
          <a:prstGeom prst="rect">
            <a:avLst/>
          </a:prstGeom>
          <a:noFill/>
        </p:spPr>
        <p:txBody>
          <a:bodyPr wrap="square" anchor="t">
            <a:spAutoFit/>
          </a:bodyPr>
          <a:lstStyle/>
          <a:p>
            <a:pPr algn="l"/>
            <a:r>
              <a:rPr sz="1500" b="0" dirty="0">
                <a:solidFill>
                  <a:srgbClr val="202020"/>
                </a:solidFill>
                <a:latin typeface="Calibri"/>
              </a:rPr>
              <a:t>Primary: mine NPV or discounted mine-value proxy</a:t>
            </a:r>
            <a:br>
              <a:rPr dirty="0"/>
            </a:br>
            <a:br>
              <a:rPr dirty="0"/>
            </a:br>
            <a:r>
              <a:rPr sz="1500" b="0" dirty="0">
                <a:solidFill>
                  <a:srgbClr val="202020"/>
                </a:solidFill>
                <a:latin typeface="Calibri"/>
              </a:rPr>
              <a:t>Possible proxy:</a:t>
            </a:r>
            <a:br>
              <a:rPr dirty="0"/>
            </a:br>
            <a:r>
              <a:rPr sz="1500" b="0" dirty="0">
                <a:solidFill>
                  <a:srgbClr val="202020"/>
                </a:solidFill>
                <a:latin typeface="Calibri"/>
              </a:rPr>
              <a:t>Discounted ore/product value − production cost − development cost − penalties for future </a:t>
            </a:r>
            <a:r>
              <a:rPr lang="en-CA" sz="1500" b="0" dirty="0">
                <a:solidFill>
                  <a:srgbClr val="202020"/>
                </a:solidFill>
                <a:latin typeface="Calibri"/>
              </a:rPr>
              <a:t>stockout</a:t>
            </a:r>
            <a:endParaRPr sz="1500" b="0" dirty="0">
              <a:solidFill>
                <a:srgbClr val="202020"/>
              </a:solidFill>
              <a:latin typeface="Calibri"/>
            </a:endParaRPr>
          </a:p>
        </p:txBody>
      </p:sp>
      <p:sp>
        <p:nvSpPr>
          <p:cNvPr id="50" name="Rounded Rectangle 49"/>
          <p:cNvSpPr/>
          <p:nvPr/>
        </p:nvSpPr>
        <p:spPr>
          <a:xfrm>
            <a:off x="4370832" y="1417320"/>
            <a:ext cx="3429000" cy="352044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370832" y="1417320"/>
            <a:ext cx="73152" cy="3520440"/>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72000" y="1581912"/>
            <a:ext cx="3108960" cy="369332"/>
          </a:xfrm>
          <a:prstGeom prst="rect">
            <a:avLst/>
          </a:prstGeom>
          <a:noFill/>
        </p:spPr>
        <p:txBody>
          <a:bodyPr wrap="square" anchor="t">
            <a:spAutoFit/>
          </a:bodyPr>
          <a:lstStyle/>
          <a:p>
            <a:pPr algn="l"/>
            <a:r>
              <a:rPr sz="1800" b="1" dirty="0">
                <a:solidFill>
                  <a:srgbClr val="E69138"/>
                </a:solidFill>
                <a:latin typeface="Calibri"/>
              </a:rPr>
              <a:t>System </a:t>
            </a:r>
            <a:r>
              <a:rPr lang="en-CA" sz="1800" b="1" dirty="0">
                <a:solidFill>
                  <a:srgbClr val="E69138"/>
                </a:solidFill>
                <a:latin typeface="Calibri"/>
              </a:rPr>
              <a:t>report </a:t>
            </a:r>
            <a:r>
              <a:rPr sz="1800" b="1" dirty="0">
                <a:solidFill>
                  <a:srgbClr val="E69138"/>
                </a:solidFill>
                <a:latin typeface="Calibri"/>
              </a:rPr>
              <a:t>outcomes</a:t>
            </a:r>
          </a:p>
        </p:txBody>
      </p:sp>
      <p:sp>
        <p:nvSpPr>
          <p:cNvPr id="53" name="TextBox 52"/>
          <p:cNvSpPr txBox="1"/>
          <p:nvPr/>
        </p:nvSpPr>
        <p:spPr>
          <a:xfrm>
            <a:off x="4572000" y="2039112"/>
            <a:ext cx="3108960" cy="2770632"/>
          </a:xfrm>
          <a:prstGeom prst="rect">
            <a:avLst/>
          </a:prstGeom>
          <a:noFill/>
        </p:spPr>
        <p:txBody>
          <a:bodyPr wrap="square" anchor="t">
            <a:spAutoFit/>
          </a:bodyPr>
          <a:lstStyle/>
          <a:p>
            <a:pPr algn="l"/>
            <a:r>
              <a:rPr sz="1500" b="0" dirty="0">
                <a:solidFill>
                  <a:srgbClr val="202020"/>
                </a:solidFill>
                <a:latin typeface="Calibri"/>
              </a:rPr>
              <a:t>• downstream throughput</a:t>
            </a:r>
            <a:br>
              <a:rPr dirty="0"/>
            </a:br>
            <a:r>
              <a:rPr sz="1500" b="0" dirty="0">
                <a:solidFill>
                  <a:srgbClr val="202020"/>
                </a:solidFill>
                <a:latin typeface="Calibri"/>
              </a:rPr>
              <a:t>• production timing</a:t>
            </a:r>
            <a:br>
              <a:rPr dirty="0"/>
            </a:br>
            <a:r>
              <a:rPr sz="1500" b="0" dirty="0">
                <a:solidFill>
                  <a:srgbClr val="202020"/>
                </a:solidFill>
                <a:latin typeface="Calibri"/>
              </a:rPr>
              <a:t>• Area 2 unlock date</a:t>
            </a:r>
            <a:br>
              <a:rPr dirty="0"/>
            </a:br>
            <a:r>
              <a:rPr sz="1500" b="0" dirty="0">
                <a:solidFill>
                  <a:srgbClr val="202020"/>
                </a:solidFill>
                <a:latin typeface="Calibri"/>
              </a:rPr>
              <a:t>• stockouts / contingency</a:t>
            </a:r>
            <a:br>
              <a:rPr dirty="0"/>
            </a:br>
            <a:r>
              <a:rPr sz="1500" b="0" dirty="0">
                <a:solidFill>
                  <a:srgbClr val="202020"/>
                </a:solidFill>
                <a:latin typeface="Calibri"/>
              </a:rPr>
              <a:t>• development completion</a:t>
            </a:r>
            <a:br>
              <a:rPr dirty="0"/>
            </a:br>
            <a:r>
              <a:rPr sz="1500" b="0" dirty="0">
                <a:solidFill>
                  <a:srgbClr val="202020"/>
                </a:solidFill>
                <a:latin typeface="Calibri"/>
              </a:rPr>
              <a:t>• lost production</a:t>
            </a:r>
          </a:p>
        </p:txBody>
      </p:sp>
      <p:sp>
        <p:nvSpPr>
          <p:cNvPr id="54" name="Rounded Rectangle 53"/>
          <p:cNvSpPr/>
          <p:nvPr/>
        </p:nvSpPr>
        <p:spPr>
          <a:xfrm>
            <a:off x="8147304" y="1417320"/>
            <a:ext cx="3429000" cy="3520440"/>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147304" y="1417320"/>
            <a:ext cx="73152" cy="3520440"/>
          </a:xfrm>
          <a:prstGeom prst="rect">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48472" y="1581912"/>
            <a:ext cx="3108960" cy="369332"/>
          </a:xfrm>
          <a:prstGeom prst="rect">
            <a:avLst/>
          </a:prstGeom>
          <a:noFill/>
        </p:spPr>
        <p:txBody>
          <a:bodyPr wrap="square" anchor="t">
            <a:spAutoFit/>
          </a:bodyPr>
          <a:lstStyle/>
          <a:p>
            <a:pPr algn="l"/>
            <a:r>
              <a:rPr sz="1800" b="1" dirty="0">
                <a:solidFill>
                  <a:srgbClr val="3F6291"/>
                </a:solidFill>
                <a:latin typeface="Calibri"/>
              </a:rPr>
              <a:t>Operational</a:t>
            </a:r>
            <a:r>
              <a:rPr lang="en-CA" sz="1800" b="1" dirty="0">
                <a:solidFill>
                  <a:srgbClr val="3F6291"/>
                </a:solidFill>
                <a:latin typeface="Calibri"/>
              </a:rPr>
              <a:t> KPIs</a:t>
            </a:r>
            <a:endParaRPr sz="1800" b="1" dirty="0">
              <a:solidFill>
                <a:srgbClr val="3F6291"/>
              </a:solidFill>
              <a:latin typeface="Calibri"/>
            </a:endParaRPr>
          </a:p>
        </p:txBody>
      </p:sp>
      <p:sp>
        <p:nvSpPr>
          <p:cNvPr id="57" name="TextBox 56"/>
          <p:cNvSpPr txBox="1"/>
          <p:nvPr/>
        </p:nvSpPr>
        <p:spPr>
          <a:xfrm>
            <a:off x="8348472" y="2039112"/>
            <a:ext cx="3108960" cy="2770632"/>
          </a:xfrm>
          <a:prstGeom prst="rect">
            <a:avLst/>
          </a:prstGeom>
          <a:noFill/>
        </p:spPr>
        <p:txBody>
          <a:bodyPr wrap="square" anchor="t">
            <a:spAutoFit/>
          </a:bodyPr>
          <a:lstStyle/>
          <a:p>
            <a:pPr algn="l"/>
            <a:r>
              <a:rPr sz="1500" b="0">
                <a:solidFill>
                  <a:srgbClr val="202020"/>
                </a:solidFill>
                <a:latin typeface="Calibri"/>
              </a:rPr>
              <a:t>• fleet availability</a:t>
            </a:r>
            <a:br/>
            <a:r>
              <a:rPr sz="1500" b="0">
                <a:solidFill>
                  <a:srgbClr val="202020"/>
                </a:solidFill>
                <a:latin typeface="Calibri"/>
              </a:rPr>
              <a:t>• utilization</a:t>
            </a:r>
            <a:br/>
            <a:r>
              <a:rPr sz="1500" b="0">
                <a:solidFill>
                  <a:srgbClr val="202020"/>
                </a:solidFill>
                <a:latin typeface="Calibri"/>
              </a:rPr>
              <a:t>• truck cycle time</a:t>
            </a:r>
            <a:br/>
            <a:r>
              <a:rPr sz="1500" b="0">
                <a:solidFill>
                  <a:srgbClr val="202020"/>
                </a:solidFill>
                <a:latin typeface="Calibri"/>
              </a:rPr>
              <a:t>• match factor</a:t>
            </a:r>
            <a:br/>
            <a:r>
              <a:rPr sz="1500" b="0">
                <a:solidFill>
                  <a:srgbClr val="202020"/>
                </a:solidFill>
                <a:latin typeface="Calibri"/>
              </a:rPr>
              <a:t>• idle / spare fleet</a:t>
            </a:r>
            <a:br/>
            <a:r>
              <a:rPr sz="1500" b="0">
                <a:solidFill>
                  <a:srgbClr val="202020"/>
                </a:solidFill>
                <a:latin typeface="Calibri"/>
              </a:rPr>
              <a:t>• shift allocation by area/task</a:t>
            </a:r>
          </a:p>
        </p:txBody>
      </p:sp>
    </p:spTree>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5972E-E074-6B74-471F-4EAB0BC257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577BF1-6893-CB21-8EA6-B22463301D15}"/>
              </a:ext>
            </a:extLst>
          </p:cNvPr>
          <p:cNvSpPr>
            <a:spLocks noGrp="1"/>
          </p:cNvSpPr>
          <p:nvPr>
            <p:ph type="ctrTitle"/>
          </p:nvPr>
        </p:nvSpPr>
        <p:spPr>
          <a:xfrm>
            <a:off x="1199686" y="759756"/>
            <a:ext cx="4620584" cy="4567137"/>
          </a:xfrm>
        </p:spPr>
        <p:txBody>
          <a:bodyPr wrap="square">
            <a:normAutofit/>
          </a:bodyPr>
          <a:lstStyle/>
          <a:p>
            <a:pPr algn="l">
              <a:lnSpc>
                <a:spcPct val="100000"/>
              </a:lnSpc>
            </a:pPr>
            <a:r>
              <a:rPr sz="2400" b="0">
                <a:solidFill>
                  <a:srgbClr val="202020"/>
                </a:solidFill>
                <a:latin typeface="Calibri"/>
              </a:rPr>
              <a:t>Expected Contribution and Next Steps</a:t>
            </a:r>
          </a:p>
        </p:txBody>
      </p:sp>
      <p:pic>
        <p:nvPicPr>
          <p:cNvPr id="2050" name="Picture 2">
            <a:extLst>
              <a:ext uri="{FF2B5EF4-FFF2-40B4-BE49-F238E27FC236}">
                <a16:creationId xmlns:a16="http://schemas.microsoft.com/office/drawing/2014/main" id="{859248A1-CF08-C4DB-57AA-31210FDEAE13}"/>
              </a:ext>
            </a:extLst>
          </p:cNvPr>
          <p:cNvPicPr>
            <a:picLocks noChangeArrowheads="1"/>
          </p:cNvPicPr>
          <p:nvPr/>
        </p:nvPicPr>
        <p:blipFill rotWithShape="1">
          <a:blip r:embed="rId3"/>
          <a:srcRect l="-3318" r="23626"/>
          <a:stretch>
            <a:fillRect/>
          </a:stretch>
        </p:blipFill>
        <p:spPr bwMode="auto">
          <a:xfrm>
            <a:off x="6229215" y="10"/>
            <a:ext cx="5962785" cy="6904762"/>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2AD8DF1B-4D59-6A0C-8608-247FCA6F9BFA}"/>
              </a:ext>
            </a:extLst>
          </p:cNvPr>
          <p:cNvSpPr>
            <a:spLocks noGrp="1"/>
          </p:cNvSpPr>
          <p:nvPr>
            <p:ph type="sldNum" sz="quarter" idx="12"/>
          </p:nvPr>
        </p:nvSpPr>
        <p:spPr>
          <a:xfrm>
            <a:off x="8610600" y="6356350"/>
            <a:ext cx="2743200" cy="365125"/>
          </a:xfrm>
        </p:spPr>
        <p:txBody>
          <a:bodyPr>
            <a:normAutofit/>
          </a:bodyPr>
          <a:lstStyle/>
          <a:p>
            <a:pPr algn="ctr"/>
            <a:r>
              <a:rPr sz="900">
                <a:solidFill>
                  <a:srgbClr val="5C5C5C"/>
                </a:solidFill>
                <a:latin typeface="Calibri"/>
              </a:rPr>
              <a:t>28</a:t>
            </a:r>
          </a:p>
        </p:txBody>
      </p:sp>
      <p:pic>
        <p:nvPicPr>
          <p:cNvPr id="8" name="Picture 7" descr="A red letter on a white background&#10;&#10;AI-generated content may be incorrect.">
            <a:extLst>
              <a:ext uri="{FF2B5EF4-FFF2-40B4-BE49-F238E27FC236}">
                <a16:creationId xmlns:a16="http://schemas.microsoft.com/office/drawing/2014/main" id="{52E6055B-B6D6-C718-6C01-C6FFB6CA3211}"/>
              </a:ext>
            </a:extLst>
          </p:cNvPr>
          <p:cNvPicPr>
            <a:picLocks noChangeAspect="1"/>
          </p:cNvPicPr>
          <p:nvPr/>
        </p:nvPicPr>
        <p:blipFill>
          <a:blip r:embed="rId4"/>
          <a:stretch>
            <a:fillRect/>
          </a:stretch>
        </p:blipFill>
        <p:spPr>
          <a:xfrm>
            <a:off x="371265" y="6138312"/>
            <a:ext cx="2124075" cy="583163"/>
          </a:xfrm>
          <a:prstGeom prst="rect">
            <a:avLst/>
          </a:prstGeom>
        </p:spPr>
      </p:pic>
    </p:spTree>
    <p:extLst>
      <p:ext uri="{BB962C8B-B14F-4D97-AF65-F5344CB8AC3E}">
        <p14:creationId xmlns:p14="http://schemas.microsoft.com/office/powerpoint/2010/main" val="149265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337AC01-1EA4-64BC-4DEC-72D30687A2E0}"/>
              </a:ext>
            </a:extLst>
          </p:cNvPr>
          <p:cNvPicPr>
            <a:picLocks noChangeAspect="1"/>
          </p:cNvPicPr>
          <p:nvPr/>
        </p:nvPicPr>
        <p:blipFill>
          <a:blip r:embed="rId3"/>
          <a:stretch>
            <a:fillRect/>
          </a:stretch>
        </p:blipFill>
        <p:spPr>
          <a:xfrm>
            <a:off x="9672112" y="153941"/>
            <a:ext cx="2519888" cy="691833"/>
          </a:xfrm>
          <a:prstGeom prst="rect">
            <a:avLst/>
          </a:prstGeom>
        </p:spPr>
      </p:pic>
      <p:sp>
        <p:nvSpPr>
          <p:cNvPr id="17" name="TextBox 16"/>
          <p:cNvSpPr txBox="1"/>
          <p:nvPr/>
        </p:nvSpPr>
        <p:spPr>
          <a:xfrm>
            <a:off x="530352" y="256032"/>
            <a:ext cx="2743200" cy="237744"/>
          </a:xfrm>
          <a:prstGeom prst="rect">
            <a:avLst/>
          </a:prstGeom>
          <a:noFill/>
        </p:spPr>
        <p:txBody>
          <a:bodyPr wrap="square" anchor="t">
            <a:spAutoFit/>
          </a:bodyPr>
          <a:lstStyle/>
          <a:p>
            <a:pPr algn="l"/>
            <a:r>
              <a:rPr sz="1000" b="1">
                <a:solidFill>
                  <a:srgbClr val="ED1B2F"/>
                </a:solidFill>
                <a:latin typeface="Calibri"/>
              </a:rPr>
              <a:t>CONTRIBUTION</a:t>
            </a:r>
          </a:p>
        </p:txBody>
      </p:sp>
      <p:sp>
        <p:nvSpPr>
          <p:cNvPr id="18" name="TextBox 17"/>
          <p:cNvSpPr txBox="1"/>
          <p:nvPr/>
        </p:nvSpPr>
        <p:spPr>
          <a:xfrm>
            <a:off x="530352" y="566928"/>
            <a:ext cx="9784080" cy="530352"/>
          </a:xfrm>
          <a:prstGeom prst="rect">
            <a:avLst/>
          </a:prstGeom>
          <a:noFill/>
        </p:spPr>
        <p:txBody>
          <a:bodyPr wrap="square" anchor="t">
            <a:spAutoFit/>
          </a:bodyPr>
          <a:lstStyle/>
          <a:p>
            <a:pPr algn="l"/>
            <a:r>
              <a:rPr sz="2600" b="1">
                <a:solidFill>
                  <a:srgbClr val="202020"/>
                </a:solidFill>
                <a:latin typeface="Calibri"/>
              </a:rPr>
              <a:t>Expected Contribution and Next Steps</a:t>
            </a:r>
          </a:p>
        </p:txBody>
      </p:sp>
      <p:sp>
        <p:nvSpPr>
          <p:cNvPr id="19" name="Rectangle 18"/>
          <p:cNvSpPr/>
          <p:nvPr/>
        </p:nvSpPr>
        <p:spPr>
          <a:xfrm>
            <a:off x="530352" y="1106424"/>
            <a:ext cx="11018520" cy="22860"/>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384280" y="6144768"/>
            <a:ext cx="320040" cy="182880"/>
          </a:xfrm>
          <a:prstGeom prst="rect">
            <a:avLst/>
          </a:prstGeom>
          <a:noFill/>
        </p:spPr>
        <p:txBody>
          <a:bodyPr wrap="square" anchor="t">
            <a:spAutoFit/>
          </a:bodyPr>
          <a:lstStyle/>
          <a:p>
            <a:pPr algn="ctr"/>
            <a:r>
              <a:rPr sz="900">
                <a:solidFill>
                  <a:srgbClr val="5C5C5C"/>
                </a:solidFill>
                <a:latin typeface="Calibri"/>
              </a:rPr>
              <a:t>29</a:t>
            </a:r>
          </a:p>
        </p:txBody>
      </p:sp>
      <p:sp>
        <p:nvSpPr>
          <p:cNvPr id="21" name="Rounded Rectangle 20"/>
          <p:cNvSpPr/>
          <p:nvPr/>
        </p:nvSpPr>
        <p:spPr>
          <a:xfrm>
            <a:off x="594360" y="1389888"/>
            <a:ext cx="5285232" cy="1572768"/>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94360" y="1389888"/>
            <a:ext cx="73152" cy="1572768"/>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5528" y="1536192"/>
            <a:ext cx="4919472" cy="347472"/>
          </a:xfrm>
          <a:prstGeom prst="rect">
            <a:avLst/>
          </a:prstGeom>
          <a:noFill/>
        </p:spPr>
        <p:txBody>
          <a:bodyPr wrap="square">
            <a:spAutoFit/>
          </a:bodyPr>
          <a:lstStyle/>
          <a:p>
            <a:r>
              <a:rPr sz="1600" b="1">
                <a:solidFill>
                  <a:srgbClr val="ED1B2F"/>
                </a:solidFill>
                <a:latin typeface="Calibri"/>
              </a:rPr>
              <a:t>1  Decision hierarchy</a:t>
            </a:r>
          </a:p>
        </p:txBody>
      </p:sp>
      <p:sp>
        <p:nvSpPr>
          <p:cNvPr id="24" name="TextBox 23"/>
          <p:cNvSpPr txBox="1"/>
          <p:nvPr/>
        </p:nvSpPr>
        <p:spPr>
          <a:xfrm>
            <a:off x="795528" y="1975104"/>
            <a:ext cx="4919472" cy="777240"/>
          </a:xfrm>
          <a:prstGeom prst="rect">
            <a:avLst/>
          </a:prstGeom>
          <a:noFill/>
        </p:spPr>
        <p:txBody>
          <a:bodyPr wrap="square">
            <a:spAutoFit/>
          </a:bodyPr>
          <a:lstStyle/>
          <a:p>
            <a:r>
              <a:rPr sz="1400" dirty="0">
                <a:solidFill>
                  <a:srgbClr val="222222"/>
                </a:solidFill>
                <a:latin typeface="Calibri"/>
              </a:rPr>
              <a:t>Link strategic mine value → tactical configuration / operating-state control → operational execution.</a:t>
            </a:r>
          </a:p>
        </p:txBody>
      </p:sp>
      <p:sp>
        <p:nvSpPr>
          <p:cNvPr id="25" name="Rounded Rectangle 24"/>
          <p:cNvSpPr/>
          <p:nvPr/>
        </p:nvSpPr>
        <p:spPr>
          <a:xfrm>
            <a:off x="6062472" y="1389888"/>
            <a:ext cx="5285232" cy="1572768"/>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062472" y="1389888"/>
            <a:ext cx="73152" cy="1572768"/>
          </a:xfrm>
          <a:prstGeom prst="rect">
            <a:avLst/>
          </a:prstGeom>
          <a:solidFill>
            <a:srgbClr val="E691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63640" y="1536192"/>
            <a:ext cx="4919472" cy="347472"/>
          </a:xfrm>
          <a:prstGeom prst="rect">
            <a:avLst/>
          </a:prstGeom>
          <a:noFill/>
        </p:spPr>
        <p:txBody>
          <a:bodyPr wrap="square">
            <a:spAutoFit/>
          </a:bodyPr>
          <a:lstStyle/>
          <a:p>
            <a:r>
              <a:rPr sz="1600" b="1" dirty="0">
                <a:solidFill>
                  <a:srgbClr val="E69138"/>
                </a:solidFill>
                <a:latin typeface="Calibri"/>
              </a:rPr>
              <a:t>2  Intertemporal mining</a:t>
            </a:r>
          </a:p>
        </p:txBody>
      </p:sp>
      <p:sp>
        <p:nvSpPr>
          <p:cNvPr id="28" name="TextBox 27"/>
          <p:cNvSpPr txBox="1"/>
          <p:nvPr/>
        </p:nvSpPr>
        <p:spPr>
          <a:xfrm>
            <a:off x="6263640" y="1975104"/>
            <a:ext cx="4919472" cy="777240"/>
          </a:xfrm>
          <a:prstGeom prst="rect">
            <a:avLst/>
          </a:prstGeom>
          <a:noFill/>
        </p:spPr>
        <p:txBody>
          <a:bodyPr wrap="square">
            <a:spAutoFit/>
          </a:bodyPr>
          <a:lstStyle/>
          <a:p>
            <a:r>
              <a:rPr sz="1400" b="0" dirty="0">
                <a:solidFill>
                  <a:srgbClr val="202020"/>
                </a:solidFill>
                <a:latin typeface="Calibri"/>
              </a:rPr>
              <a:t>Represent the trade-off between production today and development that unlocks future production.</a:t>
            </a:r>
          </a:p>
        </p:txBody>
      </p:sp>
      <p:sp>
        <p:nvSpPr>
          <p:cNvPr id="29" name="Rounded Rectangle 28"/>
          <p:cNvSpPr/>
          <p:nvPr/>
        </p:nvSpPr>
        <p:spPr>
          <a:xfrm>
            <a:off x="594360" y="3182112"/>
            <a:ext cx="5285232" cy="1572768"/>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94360" y="3182112"/>
            <a:ext cx="73152" cy="1572768"/>
          </a:xfrm>
          <a:prstGeom prst="rect">
            <a:avLst/>
          </a:prstGeom>
          <a:solidFill>
            <a:srgbClr val="3F6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5528" y="3328416"/>
            <a:ext cx="4919472" cy="347472"/>
          </a:xfrm>
          <a:prstGeom prst="rect">
            <a:avLst/>
          </a:prstGeom>
          <a:noFill/>
        </p:spPr>
        <p:txBody>
          <a:bodyPr wrap="square">
            <a:spAutoFit/>
          </a:bodyPr>
          <a:lstStyle/>
          <a:p>
            <a:r>
              <a:rPr sz="1600" b="1" dirty="0">
                <a:solidFill>
                  <a:srgbClr val="3F6291"/>
                </a:solidFill>
                <a:latin typeface="Calibri"/>
              </a:rPr>
              <a:t>3  Local vs global</a:t>
            </a:r>
          </a:p>
        </p:txBody>
      </p:sp>
      <p:sp>
        <p:nvSpPr>
          <p:cNvPr id="32" name="TextBox 31"/>
          <p:cNvSpPr txBox="1"/>
          <p:nvPr/>
        </p:nvSpPr>
        <p:spPr>
          <a:xfrm>
            <a:off x="795528" y="3767328"/>
            <a:ext cx="4919472" cy="777240"/>
          </a:xfrm>
          <a:prstGeom prst="rect">
            <a:avLst/>
          </a:prstGeom>
          <a:noFill/>
        </p:spPr>
        <p:txBody>
          <a:bodyPr wrap="square">
            <a:spAutoFit/>
          </a:bodyPr>
          <a:lstStyle/>
          <a:p>
            <a:r>
              <a:rPr sz="1400" b="0" dirty="0">
                <a:solidFill>
                  <a:srgbClr val="202020"/>
                </a:solidFill>
                <a:latin typeface="Calibri"/>
              </a:rPr>
              <a:t>Test when maximizing availability, utilization or short-term </a:t>
            </a:r>
            <a:r>
              <a:rPr sz="1400" b="0" dirty="0" err="1">
                <a:solidFill>
                  <a:srgbClr val="202020"/>
                </a:solidFill>
                <a:latin typeface="Calibri"/>
              </a:rPr>
              <a:t>tonnes</a:t>
            </a:r>
            <a:r>
              <a:rPr sz="1400" b="0" dirty="0">
                <a:solidFill>
                  <a:srgbClr val="202020"/>
                </a:solidFill>
                <a:latin typeface="Calibri"/>
              </a:rPr>
              <a:t> reduces long-run mine value.</a:t>
            </a:r>
          </a:p>
        </p:txBody>
      </p:sp>
      <p:sp>
        <p:nvSpPr>
          <p:cNvPr id="33" name="Rounded Rectangle 32"/>
          <p:cNvSpPr/>
          <p:nvPr/>
        </p:nvSpPr>
        <p:spPr>
          <a:xfrm>
            <a:off x="6062472" y="3182112"/>
            <a:ext cx="5285232" cy="1572768"/>
          </a:xfrm>
          <a:prstGeom prst="roundRect">
            <a:avLst/>
          </a:prstGeom>
          <a:solidFill>
            <a:srgbClr val="FFFFFF"/>
          </a:solidFill>
          <a:ln w="12700">
            <a:solidFill>
              <a:srgbClr val="D2D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062472" y="3182112"/>
            <a:ext cx="73152" cy="1572768"/>
          </a:xfrm>
          <a:prstGeom prst="rect">
            <a:avLst/>
          </a:prstGeom>
          <a:solidFill>
            <a:srgbClr val="ED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63640" y="3328416"/>
            <a:ext cx="4919472" cy="347472"/>
          </a:xfrm>
          <a:prstGeom prst="rect">
            <a:avLst/>
          </a:prstGeom>
          <a:noFill/>
        </p:spPr>
        <p:txBody>
          <a:bodyPr wrap="square">
            <a:spAutoFit/>
          </a:bodyPr>
          <a:lstStyle/>
          <a:p>
            <a:r>
              <a:rPr sz="1600" b="1" dirty="0">
                <a:solidFill>
                  <a:srgbClr val="ED1B2F"/>
                </a:solidFill>
                <a:latin typeface="Calibri"/>
              </a:rPr>
              <a:t>4  Multi-resolution hybrid modelling</a:t>
            </a:r>
          </a:p>
        </p:txBody>
      </p:sp>
      <p:sp>
        <p:nvSpPr>
          <p:cNvPr id="36" name="TextBox 35"/>
          <p:cNvSpPr txBox="1"/>
          <p:nvPr/>
        </p:nvSpPr>
        <p:spPr>
          <a:xfrm>
            <a:off x="6263640" y="3767328"/>
            <a:ext cx="4919472" cy="523220"/>
          </a:xfrm>
          <a:prstGeom prst="rect">
            <a:avLst/>
          </a:prstGeom>
          <a:noFill/>
        </p:spPr>
        <p:txBody>
          <a:bodyPr wrap="square">
            <a:spAutoFit/>
          </a:bodyPr>
          <a:lstStyle/>
          <a:p>
            <a:r>
              <a:rPr sz="1400" b="0" dirty="0">
                <a:solidFill>
                  <a:srgbClr val="202020"/>
                </a:solidFill>
                <a:latin typeface="Calibri"/>
              </a:rPr>
              <a:t>Embed detailed DES islands for individual equipment inside a mine-wide DRS backbone when</a:t>
            </a:r>
            <a:r>
              <a:rPr lang="en-CA" sz="1400" dirty="0">
                <a:solidFill>
                  <a:srgbClr val="202020"/>
                </a:solidFill>
                <a:latin typeface="Calibri"/>
              </a:rPr>
              <a:t> </a:t>
            </a:r>
            <a:r>
              <a:rPr sz="1400" b="0" dirty="0">
                <a:solidFill>
                  <a:srgbClr val="202020"/>
                </a:solidFill>
                <a:latin typeface="Calibri"/>
              </a:rPr>
              <a:t>needed.</a:t>
            </a:r>
          </a:p>
        </p:txBody>
      </p:sp>
      <p:sp>
        <p:nvSpPr>
          <p:cNvPr id="37" name="TextBox 36"/>
          <p:cNvSpPr txBox="1"/>
          <p:nvPr/>
        </p:nvSpPr>
        <p:spPr>
          <a:xfrm>
            <a:off x="594360" y="5074920"/>
            <a:ext cx="1143000" cy="256032"/>
          </a:xfrm>
          <a:prstGeom prst="rect">
            <a:avLst/>
          </a:prstGeom>
          <a:noFill/>
        </p:spPr>
        <p:txBody>
          <a:bodyPr wrap="square">
            <a:spAutoFit/>
          </a:bodyPr>
          <a:lstStyle/>
          <a:p>
            <a:r>
              <a:rPr sz="1300" b="1">
                <a:solidFill>
                  <a:srgbClr val="ED1B2F"/>
                </a:solidFill>
                <a:latin typeface="Calibri"/>
              </a:rPr>
              <a:t>Next steps</a:t>
            </a:r>
          </a:p>
        </p:txBody>
      </p:sp>
      <p:sp>
        <p:nvSpPr>
          <p:cNvPr id="38" name="TextBox 37"/>
          <p:cNvSpPr txBox="1"/>
          <p:nvPr/>
        </p:nvSpPr>
        <p:spPr>
          <a:xfrm>
            <a:off x="594360" y="5394960"/>
            <a:ext cx="10789920" cy="594360"/>
          </a:xfrm>
          <a:prstGeom prst="rect">
            <a:avLst/>
          </a:prstGeom>
          <a:noFill/>
        </p:spPr>
        <p:txBody>
          <a:bodyPr wrap="square" lIns="73152" tIns="54864" rIns="73152" bIns="54864" anchor="t">
            <a:spAutoFit/>
          </a:bodyPr>
          <a:lstStyle/>
          <a:p>
            <a:pPr algn="l">
              <a:lnSpc>
                <a:spcPct val="100000"/>
              </a:lnSpc>
              <a:spcBef>
                <a:spcPts val="0"/>
              </a:spcBef>
              <a:spcAft>
                <a:spcPts val="0"/>
              </a:spcAft>
            </a:pPr>
            <a:r>
              <a:rPr sz="1360" b="0" dirty="0">
                <a:solidFill>
                  <a:srgbClr val="202020"/>
                </a:solidFill>
                <a:latin typeface="Calibri"/>
              </a:rPr>
              <a:t>1) Define mine-value / NPV proxy   2) Phase 1: validate Mode A Regular / Contingency / Surging + operational execution   3) Phase 2: implement Mode A ↔ Mode B tactical switching with development readiness   4) Phase 3: compare aggregate DRS vs hybrid DES execution under value-oriented control</a:t>
            </a:r>
          </a:p>
        </p:txBody>
      </p:sp>
    </p:spTree>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71A06-0A03-5A9D-61F0-9BD1E909C47D}"/>
              </a:ext>
            </a:extLst>
          </p:cNvPr>
          <p:cNvSpPr>
            <a:spLocks noGrp="1"/>
          </p:cNvSpPr>
          <p:nvPr>
            <p:ph type="title"/>
          </p:nvPr>
        </p:nvSpPr>
        <p:spPr/>
        <p:txBody>
          <a:bodyPr wrap="square"/>
          <a:lstStyle/>
          <a:p>
            <a:r>
              <a:rPr sz="2200" b="1">
                <a:solidFill>
                  <a:srgbClr val="202020"/>
                </a:solidFill>
                <a:latin typeface="Calibri"/>
              </a:rPr>
              <a:t>Appendix A — Operational Face-Allocation Equations</a:t>
            </a:r>
          </a:p>
        </p:txBody>
      </p:sp>
      <p:sp>
        <p:nvSpPr>
          <p:cNvPr id="3" name="Subtitle 2">
            <a:extLst>
              <a:ext uri="{FF2B5EF4-FFF2-40B4-BE49-F238E27FC236}">
                <a16:creationId xmlns:a16="http://schemas.microsoft.com/office/drawing/2014/main" id="{F54E2332-8A41-905E-195D-7CAB87BFAC81}"/>
              </a:ext>
            </a:extLst>
          </p:cNvPr>
          <p:cNvSpPr>
            <a:spLocks noGrp="1"/>
          </p:cNvSpPr>
          <p:nvPr>
            <p:ph sz="half" idx="1"/>
          </p:nvPr>
        </p:nvSpPr>
        <p:spPr/>
        <p:txBody>
          <a:bodyPr vert="horz" lIns="91440" tIns="45720" rIns="91440" bIns="45720" rtlCol="0" anchor="t">
            <a:normAutofit fontScale="62500" lnSpcReduction="20000"/>
          </a:bodyPr>
          <a:lstStyle/>
          <a:p>
            <a:r>
              <a:rPr>
                <a:latin typeface="Calibri"/>
              </a:rPr>
              <a:t>Given:</a:t>
            </a:r>
          </a:p>
          <a:p>
            <a:endParaRPr>
              <a:latin typeface="Calibri"/>
            </a:endParaRPr>
          </a:p>
          <a:p>
            <a:r>
              <a:rPr>
                <a:latin typeface="Calibri"/>
              </a:rPr>
              <a:t>f1, of each face (Face1=0.85), Face2=f2 = ore1 fraction 0.55)</a:t>
            </a:r>
          </a:p>
          <a:p>
            <a:r>
              <a:rPr>
                <a:latin typeface="Calibri"/>
              </a:rPr>
              <a:t>ore1, total = target rates from the selected tactical configuration / operating condition</a:t>
            </a:r>
          </a:p>
          <a:p>
            <a:r>
              <a:rPr>
                <a:latin typeface="Calibri"/>
              </a:rPr>
              <a:t>Solve for r1 (mass rate from Face1), then normalize to fractions:</a:t>
            </a:r>
          </a:p>
          <a:p>
            <a:r>
              <a:rPr>
                <a:latin typeface="Calibri"/>
              </a:rPr>
              <a:t>The Equation</a:t>
            </a:r>
          </a:p>
          <a:p>
            <a:r>
              <a:rPr>
                <a:latin typeface="Calibri"/>
              </a:rPr>
              <a:t>r1 = (ore1 - total·f2) / (f1 - f2) </a:t>
            </a:r>
          </a:p>
          <a:p>
            <a:r>
              <a:rPr>
                <a:latin typeface="Calibri"/>
              </a:rPr>
              <a:t>r2 = total - r1</a:t>
            </a:r>
          </a:p>
          <a:p>
            <a:r>
              <a:rPr>
                <a:latin typeface="Calibri"/>
              </a:rPr>
              <a:t>Clamped to [0, total], then fracs = [r1/total, r2/total].</a:t>
            </a:r>
          </a:p>
          <a:p>
            <a:endParaRPr>
              <a:latin typeface="Calibri"/>
            </a:endParaRPr>
          </a:p>
          <a:p>
            <a:r>
              <a:rPr>
                <a:latin typeface="Calibri"/>
              </a:rPr>
              <a:t>Face 1 is ore1-rich (85%), Face 2 is balanced (55% ore1 / 45% ore2)</a:t>
            </a:r>
          </a:p>
          <a:p>
            <a:endParaRPr>
              <a:latin typeface="Calibri"/>
            </a:endParaRPr>
          </a:p>
          <a:p>
            <a:endParaRPr>
              <a:latin typeface="Calibri"/>
            </a:endParaRPr>
          </a:p>
        </p:txBody>
      </p:sp>
      <p:graphicFrame>
        <p:nvGraphicFramePr>
          <p:cNvPr id="6" name="Content Placeholder 5">
            <a:extLst>
              <a:ext uri="{FF2B5EF4-FFF2-40B4-BE49-F238E27FC236}">
                <a16:creationId xmlns:a16="http://schemas.microsoft.com/office/drawing/2014/main" id="{8A4D1015-1489-862B-FD55-E84E48BAD8AC}"/>
              </a:ext>
            </a:extLst>
          </p:cNvPr>
          <p:cNvGraphicFramePr>
            <a:graphicFrameLocks noGrp="1"/>
          </p:cNvGraphicFramePr>
          <p:nvPr>
            <p:ph sz="half" idx="2"/>
            <p:extLst>
              <p:ext uri="{D42A27DB-BD31-4B8C-83A1-F6EECF244321}">
                <p14:modId xmlns:p14="http://schemas.microsoft.com/office/powerpoint/2010/main" val="497704466"/>
              </p:ext>
            </p:extLst>
          </p:nvPr>
        </p:nvGraphicFramePr>
        <p:xfrm>
          <a:off x="5069890" y="2517559"/>
          <a:ext cx="5636658" cy="2865118"/>
        </p:xfrm>
        <a:graphic>
          <a:graphicData uri="http://schemas.openxmlformats.org/drawingml/2006/table">
            <a:tbl>
              <a:tblPr firstRow="1" bandRow="1">
                <a:tableStyleId>{5C22544A-7EE6-4342-B048-85BDC9FD1C3A}</a:tableStyleId>
              </a:tblPr>
              <a:tblGrid>
                <a:gridCol w="1591183">
                  <a:extLst>
                    <a:ext uri="{9D8B030D-6E8A-4147-A177-3AD203B41FA5}">
                      <a16:colId xmlns:a16="http://schemas.microsoft.com/office/drawing/2014/main" val="76631423"/>
                    </a:ext>
                  </a:extLst>
                </a:gridCol>
                <a:gridCol w="1166869">
                  <a:extLst>
                    <a:ext uri="{9D8B030D-6E8A-4147-A177-3AD203B41FA5}">
                      <a16:colId xmlns:a16="http://schemas.microsoft.com/office/drawing/2014/main" val="385893980"/>
                    </a:ext>
                  </a:extLst>
                </a:gridCol>
                <a:gridCol w="1227485">
                  <a:extLst>
                    <a:ext uri="{9D8B030D-6E8A-4147-A177-3AD203B41FA5}">
                      <a16:colId xmlns:a16="http://schemas.microsoft.com/office/drawing/2014/main" val="3891086941"/>
                    </a:ext>
                  </a:extLst>
                </a:gridCol>
                <a:gridCol w="818324">
                  <a:extLst>
                    <a:ext uri="{9D8B030D-6E8A-4147-A177-3AD203B41FA5}">
                      <a16:colId xmlns:a16="http://schemas.microsoft.com/office/drawing/2014/main" val="473646633"/>
                    </a:ext>
                  </a:extLst>
                </a:gridCol>
                <a:gridCol w="832797">
                  <a:extLst>
                    <a:ext uri="{9D8B030D-6E8A-4147-A177-3AD203B41FA5}">
                      <a16:colId xmlns:a16="http://schemas.microsoft.com/office/drawing/2014/main" val="2682034116"/>
                    </a:ext>
                  </a:extLst>
                </a:gridCol>
              </a:tblGrid>
              <a:tr h="370840">
                <a:tc>
                  <a:txBody>
                    <a:bodyPr/>
                    <a:lstStyle/>
                    <a:p>
                      <a:pPr lvl="0">
                        <a:buNone/>
                      </a:pPr>
                      <a:r>
                        <a:rPr lang="en-US" sz="1800" b="0" i="0" u="none" strike="noStrike" noProof="0" dirty="0">
                          <a:latin typeface="Calibri"/>
                          <a:ea typeface="Calibri"/>
                          <a:cs typeface="Calibri"/>
                        </a:rPr>
                        <a:t>Mode</a:t>
                      </a:r>
                      <a:endParaRPr lang="en-US" dirty="0"/>
                    </a:p>
                  </a:txBody>
                  <a:tcPr/>
                </a:tc>
                <a:tc>
                  <a:txBody>
                    <a:bodyPr/>
                    <a:lstStyle/>
                    <a:p>
                      <a:pPr lvl="0">
                        <a:buNone/>
                      </a:pPr>
                      <a:r>
                        <a:rPr lang="en-US" sz="1800" b="0" i="0" u="none" strike="noStrike" noProof="0" dirty="0">
                          <a:latin typeface="Calibri"/>
                          <a:ea typeface="Calibri"/>
                          <a:cs typeface="Calibri"/>
                        </a:rPr>
                        <a:t>Ore1 t/d    </a:t>
                      </a:r>
                      <a:endParaRPr lang="en-US" dirty="0"/>
                    </a:p>
                  </a:txBody>
                  <a:tcPr/>
                </a:tc>
                <a:tc>
                  <a:txBody>
                    <a:bodyPr/>
                    <a:lstStyle/>
                    <a:p>
                      <a:pPr lvl="0">
                        <a:buNone/>
                      </a:pPr>
                      <a:r>
                        <a:rPr lang="en-US" sz="1800" b="0" i="0" u="none" strike="noStrike" noProof="0">
                          <a:latin typeface="Calibri"/>
                          <a:ea typeface="Calibri"/>
                          <a:cs typeface="Calibri"/>
                        </a:rPr>
                        <a:t>Ore2 t/d    </a:t>
                      </a:r>
                      <a:endParaRPr lang="en-US"/>
                    </a:p>
                  </a:txBody>
                  <a:tcPr/>
                </a:tc>
                <a:tc>
                  <a:txBody>
                    <a:bodyPr/>
                    <a:lstStyle/>
                    <a:p>
                      <a:pPr lvl="0">
                        <a:buNone/>
                      </a:pPr>
                      <a:r>
                        <a:rPr lang="en-US" sz="1800" b="0" i="0" u="none" strike="noStrike" noProof="0" dirty="0"/>
                        <a:t>F1 frac (obj.)</a:t>
                      </a:r>
                    </a:p>
                  </a:txBody>
                  <a:tcPr/>
                </a:tc>
                <a:tc>
                  <a:txBody>
                    <a:bodyPr/>
                    <a:lstStyle/>
                    <a:p>
                      <a:pPr lvl="0">
                        <a:buNone/>
                      </a:pPr>
                      <a:r>
                        <a:rPr lang="en-US" sz="1800" b="0" i="0" u="none" strike="noStrike" noProof="0" dirty="0"/>
                        <a:t>F2 frac</a:t>
                      </a:r>
                      <a:endParaRPr lang="en-US" dirty="0"/>
                    </a:p>
                  </a:txBody>
                  <a:tcPr/>
                </a:tc>
                <a:extLst>
                  <a:ext uri="{0D108BD9-81ED-4DB2-BD59-A6C34878D82A}">
                    <a16:rowId xmlns:a16="http://schemas.microsoft.com/office/drawing/2014/main" val="3825729545"/>
                  </a:ext>
                </a:extLst>
              </a:tr>
              <a:tr h="370839">
                <a:tc>
                  <a:txBody>
                    <a:bodyPr/>
                    <a:lstStyle/>
                    <a:p>
                      <a:r>
                        <a:rPr lang="en-US"/>
                        <a:t>A</a:t>
                      </a:r>
                    </a:p>
                  </a:txBody>
                  <a:tcPr/>
                </a:tc>
                <a:tc>
                  <a:txBody>
                    <a:bodyPr/>
                    <a:lstStyle/>
                    <a:p>
                      <a:pPr lvl="0">
                        <a:buNone/>
                      </a:pPr>
                      <a:r>
                        <a:rPr lang="en-US" sz="1800" b="0" i="0" u="none" strike="noStrike" noProof="0" dirty="0">
                          <a:latin typeface="Calibri"/>
                          <a:ea typeface="Calibri"/>
                          <a:cs typeface="Calibri"/>
                        </a:rPr>
                        <a:t>3600</a:t>
                      </a:r>
                      <a:endParaRPr lang="en-US" dirty="0"/>
                    </a:p>
                  </a:txBody>
                  <a:tcPr/>
                </a:tc>
                <a:tc>
                  <a:txBody>
                    <a:bodyPr/>
                    <a:lstStyle/>
                    <a:p>
                      <a:r>
                        <a:rPr lang="en-US" dirty="0"/>
                        <a:t>2400</a:t>
                      </a:r>
                    </a:p>
                  </a:txBody>
                  <a:tcPr/>
                </a:tc>
                <a:tc>
                  <a:txBody>
                    <a:bodyPr/>
                    <a:lstStyle/>
                    <a:p>
                      <a:pPr lvl="0">
                        <a:buNone/>
                      </a:pPr>
                      <a:r>
                        <a:rPr lang="en-US" dirty="0"/>
                        <a:t>0.917</a:t>
                      </a:r>
                    </a:p>
                  </a:txBody>
                  <a:tcPr/>
                </a:tc>
                <a:tc>
                  <a:txBody>
                    <a:bodyPr/>
                    <a:lstStyle/>
                    <a:p>
                      <a:pPr lvl="0">
                        <a:buNone/>
                      </a:pPr>
                      <a:r>
                        <a:rPr lang="en-US" dirty="0"/>
                        <a:t>0.083</a:t>
                      </a:r>
                    </a:p>
                  </a:txBody>
                  <a:tcPr/>
                </a:tc>
                <a:extLst>
                  <a:ext uri="{0D108BD9-81ED-4DB2-BD59-A6C34878D82A}">
                    <a16:rowId xmlns:a16="http://schemas.microsoft.com/office/drawing/2014/main" val="1431789024"/>
                  </a:ext>
                </a:extLst>
              </a:tr>
              <a:tr h="370840">
                <a:tc>
                  <a:txBody>
                    <a:bodyPr/>
                    <a:lstStyle/>
                    <a:p>
                      <a:r>
                        <a:rPr lang="en-US"/>
                        <a:t>A Contingency</a:t>
                      </a:r>
                    </a:p>
                  </a:txBody>
                  <a:tcPr/>
                </a:tc>
                <a:tc>
                  <a:txBody>
                    <a:bodyPr/>
                    <a:lstStyle/>
                    <a:p>
                      <a:pPr lvl="0">
                        <a:buNone/>
                      </a:pPr>
                      <a:r>
                        <a:rPr lang="en-US" sz="1800" b="0" i="0" u="none" strike="noStrike" noProof="0" dirty="0">
                          <a:latin typeface="Calibri"/>
                          <a:ea typeface="Calibri"/>
                          <a:cs typeface="Calibri"/>
                        </a:rPr>
                        <a:t>3900</a:t>
                      </a:r>
                      <a:endParaRPr lang="en-US" dirty="0"/>
                    </a:p>
                  </a:txBody>
                  <a:tcPr/>
                </a:tc>
                <a:tc>
                  <a:txBody>
                    <a:bodyPr/>
                    <a:lstStyle/>
                    <a:p>
                      <a:r>
                        <a:rPr lang="en-US"/>
                        <a:t>0</a:t>
                      </a:r>
                    </a:p>
                  </a:txBody>
                  <a:tcPr/>
                </a:tc>
                <a:tc>
                  <a:txBody>
                    <a:bodyPr/>
                    <a:lstStyle/>
                    <a:p>
                      <a:pPr lvl="0">
                        <a:buNone/>
                      </a:pPr>
                      <a:r>
                        <a:rPr lang="en-US" dirty="0"/>
                        <a:t>1.0</a:t>
                      </a:r>
                    </a:p>
                  </a:txBody>
                  <a:tcPr/>
                </a:tc>
                <a:tc>
                  <a:txBody>
                    <a:bodyPr/>
                    <a:lstStyle/>
                    <a:p>
                      <a:pPr lvl="0">
                        <a:buNone/>
                      </a:pPr>
                      <a:r>
                        <a:rPr lang="en-US" dirty="0"/>
                        <a:t>0.0</a:t>
                      </a:r>
                    </a:p>
                  </a:txBody>
                  <a:tcPr/>
                </a:tc>
                <a:extLst>
                  <a:ext uri="{0D108BD9-81ED-4DB2-BD59-A6C34878D82A}">
                    <a16:rowId xmlns:a16="http://schemas.microsoft.com/office/drawing/2014/main" val="80264550"/>
                  </a:ext>
                </a:extLst>
              </a:tr>
              <a:tr h="370840">
                <a:tc>
                  <a:txBody>
                    <a:bodyPr/>
                    <a:lstStyle/>
                    <a:p>
                      <a:r>
                        <a:rPr lang="en-US" dirty="0"/>
                        <a:t>A Surging</a:t>
                      </a:r>
                    </a:p>
                  </a:txBody>
                  <a:tcPr/>
                </a:tc>
                <a:tc>
                  <a:txBody>
                    <a:bodyPr/>
                    <a:lstStyle/>
                    <a:p>
                      <a:pPr lvl="0">
                        <a:buNone/>
                      </a:pPr>
                      <a:r>
                        <a:rPr lang="en-US" sz="1800" b="0" i="0" u="none" strike="noStrike" noProof="0" dirty="0">
                          <a:latin typeface="Calibri"/>
                          <a:ea typeface="Calibri"/>
                          <a:cs typeface="Calibri"/>
                        </a:rPr>
                        <a:t>X</a:t>
                      </a:r>
                    </a:p>
                  </a:txBody>
                  <a:tcPr/>
                </a:tc>
                <a:tc>
                  <a:txBody>
                    <a:bodyPr/>
                    <a:lstStyle/>
                    <a:p>
                      <a:pPr lvl="0">
                        <a:buNone/>
                      </a:pPr>
                      <a:r>
                        <a:rPr lang="en-US" sz="1800" b="0" i="0" u="none" strike="noStrike" noProof="0" dirty="0">
                          <a:latin typeface="Calibri"/>
                          <a:ea typeface="Calibri"/>
                          <a:cs typeface="Calibri"/>
                        </a:rPr>
                        <a:t>3600</a:t>
                      </a:r>
                      <a:endParaRPr lang="en-US" dirty="0"/>
                    </a:p>
                  </a:txBody>
                  <a:tcPr/>
                </a:tc>
                <a:tc>
                  <a:txBody>
                    <a:bodyPr/>
                    <a:lstStyle/>
                    <a:p>
                      <a:pPr lvl="0">
                        <a:buNone/>
                      </a:pPr>
                      <a:r>
                        <a:rPr lang="en-US" dirty="0"/>
                        <a:t>0.904</a:t>
                      </a:r>
                    </a:p>
                  </a:txBody>
                  <a:tcPr/>
                </a:tc>
                <a:tc>
                  <a:txBody>
                    <a:bodyPr/>
                    <a:lstStyle/>
                    <a:p>
                      <a:pPr lvl="0">
                        <a:buNone/>
                      </a:pPr>
                      <a:r>
                        <a:rPr lang="en-US" dirty="0"/>
                        <a:t>0.096</a:t>
                      </a:r>
                    </a:p>
                  </a:txBody>
                  <a:tcPr/>
                </a:tc>
                <a:extLst>
                  <a:ext uri="{0D108BD9-81ED-4DB2-BD59-A6C34878D82A}">
                    <a16:rowId xmlns:a16="http://schemas.microsoft.com/office/drawing/2014/main" val="3090616839"/>
                  </a:ext>
                </a:extLst>
              </a:tr>
              <a:tr h="370840">
                <a:tc>
                  <a:txBody>
                    <a:bodyPr/>
                    <a:lstStyle/>
                    <a:p>
                      <a:pPr lvl="0">
                        <a:buNone/>
                      </a:pPr>
                      <a:r>
                        <a:rPr lang="en-US"/>
                        <a:t>B</a:t>
                      </a:r>
                    </a:p>
                  </a:txBody>
                  <a:tcPr/>
                </a:tc>
                <a:tc>
                  <a:txBody>
                    <a:bodyPr/>
                    <a:lstStyle/>
                    <a:p>
                      <a:pPr lvl="0">
                        <a:buNone/>
                      </a:pPr>
                      <a:r>
                        <a:rPr lang="en-US" sz="1800" b="0" i="0" u="none" strike="noStrike" noProof="0" dirty="0">
                          <a:solidFill>
                            <a:srgbClr val="000000"/>
                          </a:solidFill>
                          <a:latin typeface="Calibri"/>
                          <a:ea typeface="Calibri"/>
                          <a:cs typeface="Calibri"/>
                        </a:rPr>
                        <a:t>4600</a:t>
                      </a:r>
                      <a:endParaRPr lang="en-US" dirty="0"/>
                    </a:p>
                  </a:txBody>
                  <a:tcPr/>
                </a:tc>
                <a:tc>
                  <a:txBody>
                    <a:bodyPr/>
                    <a:lstStyle/>
                    <a:p>
                      <a:r>
                        <a:rPr lang="en-US"/>
                        <a:t>800</a:t>
                      </a:r>
                    </a:p>
                  </a:txBody>
                  <a:tcPr/>
                </a:tc>
                <a:tc>
                  <a:txBody>
                    <a:bodyPr/>
                    <a:lstStyle/>
                    <a:p>
                      <a:pPr lvl="0">
                        <a:buNone/>
                      </a:pPr>
                      <a:r>
                        <a:rPr lang="en-US" dirty="0"/>
                        <a:t>0.0</a:t>
                      </a:r>
                    </a:p>
                  </a:txBody>
                  <a:tcPr/>
                </a:tc>
                <a:tc>
                  <a:txBody>
                    <a:bodyPr/>
                    <a:lstStyle/>
                    <a:p>
                      <a:pPr lvl="0">
                        <a:buNone/>
                      </a:pPr>
                      <a:r>
                        <a:rPr lang="en-US" dirty="0"/>
                        <a:t>1.0</a:t>
                      </a:r>
                    </a:p>
                  </a:txBody>
                  <a:tcPr/>
                </a:tc>
                <a:extLst>
                  <a:ext uri="{0D108BD9-81ED-4DB2-BD59-A6C34878D82A}">
                    <a16:rowId xmlns:a16="http://schemas.microsoft.com/office/drawing/2014/main" val="2370205258"/>
                  </a:ext>
                </a:extLst>
              </a:tr>
              <a:tr h="370840">
                <a:tc>
                  <a:txBody>
                    <a:bodyPr/>
                    <a:lstStyle/>
                    <a:p>
                      <a:pPr lvl="0">
                        <a:buNone/>
                      </a:pPr>
                      <a:r>
                        <a:rPr lang="en-US"/>
                        <a:t>B Contingency</a:t>
                      </a:r>
                    </a:p>
                  </a:txBody>
                  <a:tcPr/>
                </a:tc>
                <a:tc>
                  <a:txBody>
                    <a:bodyPr/>
                    <a:lstStyle/>
                    <a:p>
                      <a:r>
                        <a:rPr lang="en-US" dirty="0"/>
                        <a:t>0</a:t>
                      </a:r>
                    </a:p>
                  </a:txBody>
                  <a:tcPr/>
                </a:tc>
                <a:tc>
                  <a:txBody>
                    <a:bodyPr/>
                    <a:lstStyle/>
                    <a:p>
                      <a:r>
                        <a:rPr lang="en-US"/>
                        <a:t>2900</a:t>
                      </a:r>
                    </a:p>
                  </a:txBody>
                  <a:tcPr/>
                </a:tc>
                <a:tc>
                  <a:txBody>
                    <a:bodyPr/>
                    <a:lstStyle/>
                    <a:p>
                      <a:pPr lvl="0">
                        <a:buNone/>
                      </a:pPr>
                      <a:r>
                        <a:rPr lang="en-US" dirty="0"/>
                        <a:t>1.0</a:t>
                      </a:r>
                    </a:p>
                  </a:txBody>
                  <a:tcPr/>
                </a:tc>
                <a:tc>
                  <a:txBody>
                    <a:bodyPr/>
                    <a:lstStyle/>
                    <a:p>
                      <a:pPr lvl="0">
                        <a:buNone/>
                      </a:pPr>
                      <a:r>
                        <a:rPr lang="en-US" dirty="0"/>
                        <a:t>0.0</a:t>
                      </a:r>
                    </a:p>
                  </a:txBody>
                  <a:tcPr/>
                </a:tc>
                <a:extLst>
                  <a:ext uri="{0D108BD9-81ED-4DB2-BD59-A6C34878D82A}">
                    <a16:rowId xmlns:a16="http://schemas.microsoft.com/office/drawing/2014/main" val="543345211"/>
                  </a:ext>
                </a:extLst>
              </a:tr>
              <a:tr h="370839">
                <a:tc>
                  <a:txBody>
                    <a:bodyPr/>
                    <a:lstStyle/>
                    <a:p>
                      <a:pPr lvl="0">
                        <a:buNone/>
                      </a:pPr>
                      <a:r>
                        <a:rPr lang="en-US"/>
                        <a:t>B Surging</a:t>
                      </a:r>
                    </a:p>
                  </a:txBody>
                  <a:tcPr/>
                </a:tc>
                <a:tc>
                  <a:txBody>
                    <a:bodyPr/>
                    <a:lstStyle/>
                    <a:p>
                      <a:pPr lvl="0">
                        <a:buNone/>
                      </a:pPr>
                      <a:r>
                        <a:rPr lang="en-US" dirty="0"/>
                        <a:t>X</a:t>
                      </a:r>
                    </a:p>
                  </a:txBody>
                  <a:tcPr/>
                </a:tc>
                <a:tc>
                  <a:txBody>
                    <a:bodyPr/>
                    <a:lstStyle/>
                    <a:p>
                      <a:pPr lvl="0">
                        <a:buNone/>
                      </a:pPr>
                      <a:r>
                        <a:rPr lang="en-US"/>
                        <a:t>800</a:t>
                      </a:r>
                    </a:p>
                  </a:txBody>
                  <a:tcPr/>
                </a:tc>
                <a:tc>
                  <a:txBody>
                    <a:bodyPr/>
                    <a:lstStyle/>
                    <a:p>
                      <a:pPr lvl="0">
                        <a:buNone/>
                      </a:pPr>
                      <a:r>
                        <a:rPr lang="en-US" dirty="0"/>
                        <a:t>0.0</a:t>
                      </a:r>
                    </a:p>
                  </a:txBody>
                  <a:tcPr/>
                </a:tc>
                <a:tc>
                  <a:txBody>
                    <a:bodyPr/>
                    <a:lstStyle/>
                    <a:p>
                      <a:pPr lvl="0">
                        <a:buNone/>
                      </a:pPr>
                      <a:r>
                        <a:rPr lang="en-US" dirty="0"/>
                        <a:t>1.0</a:t>
                      </a:r>
                    </a:p>
                  </a:txBody>
                  <a:tcPr/>
                </a:tc>
                <a:extLst>
                  <a:ext uri="{0D108BD9-81ED-4DB2-BD59-A6C34878D82A}">
                    <a16:rowId xmlns:a16="http://schemas.microsoft.com/office/drawing/2014/main" val="2617742728"/>
                  </a:ext>
                </a:extLst>
              </a:tr>
            </a:tbl>
          </a:graphicData>
        </a:graphic>
      </p:graphicFrame>
      <p:pic>
        <p:nvPicPr>
          <p:cNvPr id="5" name="Picture 4">
            <a:extLst>
              <a:ext uri="{FF2B5EF4-FFF2-40B4-BE49-F238E27FC236}">
                <a16:creationId xmlns:a16="http://schemas.microsoft.com/office/drawing/2014/main" id="{5F085391-9B23-2F3F-E67D-C0F990242BB3}"/>
              </a:ext>
            </a:extLst>
          </p:cNvPr>
          <p:cNvPicPr>
            <a:picLocks noChangeAspect="1"/>
          </p:cNvPicPr>
          <p:nvPr/>
        </p:nvPicPr>
        <p:blipFill>
          <a:blip r:embed="rId3"/>
          <a:stretch>
            <a:fillRect/>
          </a:stretch>
        </p:blipFill>
        <p:spPr>
          <a:xfrm>
            <a:off x="9672112" y="153941"/>
            <a:ext cx="2519888" cy="691833"/>
          </a:xfrm>
          <a:prstGeom prst="rect">
            <a:avLst/>
          </a:prstGeom>
        </p:spPr>
      </p:pic>
    </p:spTree>
    <p:extLst>
      <p:ext uri="{BB962C8B-B14F-4D97-AF65-F5344CB8AC3E}">
        <p14:creationId xmlns:p14="http://schemas.microsoft.com/office/powerpoint/2010/main" val="279985836"/>
      </p:ext>
    </p:extLst>
  </p:cSld>
  <p:clrMapOvr>
    <a:masterClrMapping/>
  </p:clrMapOvr>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F09B5-EE67-4B16-E68E-167F2F393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E424BC-3D84-4385-0BBE-7C7428C5FD82}"/>
              </a:ext>
            </a:extLst>
          </p:cNvPr>
          <p:cNvSpPr>
            <a:spLocks noGrp="1"/>
          </p:cNvSpPr>
          <p:nvPr>
            <p:ph type="title"/>
          </p:nvPr>
        </p:nvSpPr>
        <p:spPr>
          <a:xfrm>
            <a:off x="314325" y="74613"/>
            <a:ext cx="4933950" cy="1143000"/>
          </a:xfrm>
        </p:spPr>
        <p:txBody>
          <a:bodyPr wrap="square"/>
          <a:lstStyle/>
          <a:p>
            <a:r>
              <a:rPr sz="2200" b="1">
                <a:solidFill>
                  <a:srgbClr val="202020"/>
                </a:solidFill>
                <a:latin typeface="Calibri"/>
              </a:rPr>
              <a:t>Appendix B — Symbols and Variables</a:t>
            </a:r>
            <a:endParaRPr lang="en-US" dirty="0">
              <a:ea typeface="Calibri"/>
              <a:cs typeface="Calibri"/>
            </a:endParaRPr>
          </a:p>
        </p:txBody>
      </p:sp>
      <p:pic>
        <p:nvPicPr>
          <p:cNvPr id="5" name="Picture 4">
            <a:extLst>
              <a:ext uri="{FF2B5EF4-FFF2-40B4-BE49-F238E27FC236}">
                <a16:creationId xmlns:a16="http://schemas.microsoft.com/office/drawing/2014/main" id="{AE4C4EF8-FBB2-F9CE-8D8F-F462BE211E27}"/>
              </a:ext>
            </a:extLst>
          </p:cNvPr>
          <p:cNvPicPr>
            <a:picLocks noChangeAspect="1"/>
          </p:cNvPicPr>
          <p:nvPr/>
        </p:nvPicPr>
        <p:blipFill>
          <a:blip r:embed="rId3"/>
          <a:stretch>
            <a:fillRect/>
          </a:stretch>
        </p:blipFill>
        <p:spPr>
          <a:xfrm>
            <a:off x="9672112" y="153941"/>
            <a:ext cx="2519888" cy="691833"/>
          </a:xfrm>
          <a:prstGeom prst="rect">
            <a:avLst/>
          </a:prstGeom>
        </p:spPr>
      </p:pic>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1735FD87-32E0-62AF-97E5-783B68BB82EF}"/>
                  </a:ext>
                </a:extLst>
              </p:cNvPr>
              <p:cNvGraphicFramePr>
                <a:graphicFrameLocks noGrp="1"/>
              </p:cNvGraphicFramePr>
              <p:nvPr>
                <p:extLst>
                  <p:ext uri="{D42A27DB-BD31-4B8C-83A1-F6EECF244321}">
                    <p14:modId xmlns:p14="http://schemas.microsoft.com/office/powerpoint/2010/main" val="2879313911"/>
                  </p:ext>
                </p:extLst>
              </p:nvPr>
            </p:nvGraphicFramePr>
            <p:xfrm>
              <a:off x="1123950" y="1400175"/>
              <a:ext cx="10115552" cy="4783858"/>
            </p:xfrm>
            <a:graphic>
              <a:graphicData uri="http://schemas.openxmlformats.org/drawingml/2006/table">
                <a:tbl>
                  <a:tblPr>
                    <a:tableStyleId>{69CF1AB2-1976-4502-BF36-3FF5EA218861}</a:tableStyleId>
                  </a:tblPr>
                  <a:tblGrid>
                    <a:gridCol w="2528888">
                      <a:extLst>
                        <a:ext uri="{9D8B030D-6E8A-4147-A177-3AD203B41FA5}">
                          <a16:colId xmlns:a16="http://schemas.microsoft.com/office/drawing/2014/main" val="2785076148"/>
                        </a:ext>
                      </a:extLst>
                    </a:gridCol>
                    <a:gridCol w="2528888">
                      <a:extLst>
                        <a:ext uri="{9D8B030D-6E8A-4147-A177-3AD203B41FA5}">
                          <a16:colId xmlns:a16="http://schemas.microsoft.com/office/drawing/2014/main" val="3746900454"/>
                        </a:ext>
                      </a:extLst>
                    </a:gridCol>
                    <a:gridCol w="1638299">
                      <a:extLst>
                        <a:ext uri="{9D8B030D-6E8A-4147-A177-3AD203B41FA5}">
                          <a16:colId xmlns:a16="http://schemas.microsoft.com/office/drawing/2014/main" val="3147805809"/>
                        </a:ext>
                      </a:extLst>
                    </a:gridCol>
                    <a:gridCol w="3419477">
                      <a:extLst>
                        <a:ext uri="{9D8B030D-6E8A-4147-A177-3AD203B41FA5}">
                          <a16:colId xmlns:a16="http://schemas.microsoft.com/office/drawing/2014/main" val="4248955197"/>
                        </a:ext>
                      </a:extLst>
                    </a:gridCol>
                  </a:tblGrid>
                  <a:tr h="267161">
                    <a:tc>
                      <a:txBody>
                        <a:bodyPr/>
                        <a:lstStyle/>
                        <a:p>
                          <a:pPr algn="ctr">
                            <a:buNone/>
                          </a:pPr>
                          <a:r>
                            <a:rPr lang="en-CA" sz="1600" b="1" dirty="0">
                              <a:latin typeface="+mj-lt"/>
                            </a:rPr>
                            <a:t>Symbol</a:t>
                          </a:r>
                        </a:p>
                      </a:txBody>
                      <a:tcPr marL="58025" marR="58025" marT="29013" marB="29013" anchor="ctr"/>
                    </a:tc>
                    <a:tc>
                      <a:txBody>
                        <a:bodyPr/>
                        <a:lstStyle/>
                        <a:p>
                          <a:pPr algn="ctr">
                            <a:buNone/>
                          </a:pPr>
                          <a:r>
                            <a:rPr lang="en-CA" sz="1600" b="1" dirty="0">
                              <a:latin typeface="+mj-lt"/>
                            </a:rPr>
                            <a:t>Meaning</a:t>
                          </a:r>
                        </a:p>
                      </a:txBody>
                      <a:tcPr marL="58025" marR="58025" marT="29013" marB="29013" anchor="ctr"/>
                    </a:tc>
                    <a:tc>
                      <a:txBody>
                        <a:bodyPr/>
                        <a:lstStyle/>
                        <a:p>
                          <a:pPr algn="ctr">
                            <a:buNone/>
                          </a:pPr>
                          <a:r>
                            <a:rPr lang="en-CA" sz="1600" b="1" dirty="0">
                              <a:latin typeface="+mj-lt"/>
                            </a:rPr>
                            <a:t>Unit / Value</a:t>
                          </a:r>
                        </a:p>
                      </a:txBody>
                      <a:tcPr marL="58025" marR="58025" marT="29013" marB="29013" anchor="ctr"/>
                    </a:tc>
                    <a:tc>
                      <a:txBody>
                        <a:bodyPr/>
                        <a:lstStyle/>
                        <a:p>
                          <a:pPr algn="ctr">
                            <a:buNone/>
                          </a:pPr>
                          <a:r>
                            <a:rPr lang="en-CA" sz="1600" b="1" dirty="0">
                              <a:latin typeface="+mj-lt"/>
                            </a:rPr>
                            <a:t>Notes</a:t>
                          </a:r>
                        </a:p>
                      </a:txBody>
                      <a:tcPr marL="58025" marR="58025" marT="29013" marB="29013" anchor="ctr"/>
                    </a:tc>
                    <a:extLst>
                      <a:ext uri="{0D108BD9-81ED-4DB2-BD59-A6C34878D82A}">
                        <a16:rowId xmlns:a16="http://schemas.microsoft.com/office/drawing/2014/main" val="2940180243"/>
                      </a:ext>
                    </a:extLst>
                  </a:tr>
                  <a:tr h="242270">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smtClean="0">
                                        <a:solidFill>
                                          <a:schemeClr val="dk1"/>
                                        </a:solidFill>
                                        <a:latin typeface="Cambria Math" panose="02040503050406030204" pitchFamily="18" charset="0"/>
                                        <a:ea typeface="+mn-ea"/>
                                        <a:cs typeface="+mn-cs"/>
                                      </a:rPr>
                                    </m:ctrlPr>
                                  </m:dPr>
                                  <m:e>
                                    <m:r>
                                      <a:rPr lang="en-CA" sz="1200" i="1" kern="1200" dirty="0" smtClean="0">
                                        <a:solidFill>
                                          <a:schemeClr val="dk1"/>
                                        </a:solidFill>
                                        <a:latin typeface="Cambria Math" panose="02040503050406030204" pitchFamily="18" charset="0"/>
                                        <a:ea typeface="+mn-ea"/>
                                        <a:cs typeface="+mn-cs"/>
                                      </a:rPr>
                                      <m:t>𝐻</m:t>
                                    </m:r>
                                  </m:e>
                                </m:d>
                              </m:oMath>
                            </m:oMathPara>
                          </a14:m>
                          <a:endParaRPr/>
                        </a:p>
                      </a:txBody>
                      <a:tcPr marL="58025" marR="58025" marT="29013" marB="29013" anchor="ctr"/>
                    </a:tc>
                    <a:tc>
                      <a:txBody>
                        <a:bodyPr/>
                        <a:lstStyle/>
                        <a:p>
                          <a:pPr algn="ctr">
                            <a:buNone/>
                          </a:pPr>
                          <a:r>
                            <a:rPr lang="en-CA" sz="1200" dirty="0">
                              <a:latin typeface="+mj-lt"/>
                            </a:rPr>
                            <a:t>High-Ore1 Face</a:t>
                          </a:r>
                        </a:p>
                      </a:txBody>
                      <a:tcPr marL="58025" marR="58025" marT="29013" marB="29013" anchor="ctr"/>
                    </a:tc>
                    <a:tc>
                      <a:txBody>
                        <a:bodyPr/>
                        <a:lstStyle/>
                        <a:p>
                          <a:pPr algn="ctr">
                            <a:buNone/>
                          </a:pPr>
                          <a:r>
                            <a:rPr lang="en-CA" sz="1200">
                              <a:latin typeface="+mj-lt"/>
                            </a:rPr>
                            <a:t>—</a:t>
                          </a:r>
                        </a:p>
                      </a:txBody>
                      <a:tcPr marL="58025" marR="58025" marT="29013" marB="29013" anchor="ctr"/>
                    </a:tc>
                    <a:tc>
                      <a:txBody>
                        <a:bodyPr/>
                        <a:lstStyle/>
                        <a:p>
                          <a:pPr algn="ctr">
                            <a:buNone/>
                          </a:pPr>
                          <a:r>
                            <a:rPr lang="en-CA" sz="1200" dirty="0">
                              <a:latin typeface="+mj-lt"/>
                            </a:rPr>
                            <a:t>Ore1-rich face</a:t>
                          </a:r>
                        </a:p>
                      </a:txBody>
                      <a:tcPr marL="58025" marR="58025" marT="29013" marB="29013" anchor="ctr"/>
                    </a:tc>
                    <a:extLst>
                      <a:ext uri="{0D108BD9-81ED-4DB2-BD59-A6C34878D82A}">
                        <a16:rowId xmlns:a16="http://schemas.microsoft.com/office/drawing/2014/main" val="756489381"/>
                      </a:ext>
                    </a:extLst>
                  </a:tr>
                  <a:tr h="242270">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smtClean="0">
                                        <a:solidFill>
                                          <a:schemeClr val="dk1"/>
                                        </a:solidFill>
                                        <a:latin typeface="Cambria Math" panose="02040503050406030204" pitchFamily="18" charset="0"/>
                                        <a:ea typeface="+mn-ea"/>
                                        <a:cs typeface="+mn-cs"/>
                                      </a:rPr>
                                    </m:ctrlPr>
                                  </m:dPr>
                                  <m:e>
                                    <m:r>
                                      <a:rPr lang="en-CA" sz="1200" i="1" kern="1200" dirty="0" smtClean="0">
                                        <a:solidFill>
                                          <a:schemeClr val="dk1"/>
                                        </a:solidFill>
                                        <a:latin typeface="Cambria Math" panose="02040503050406030204" pitchFamily="18" charset="0"/>
                                        <a:ea typeface="+mn-ea"/>
                                        <a:cs typeface="+mn-cs"/>
                                      </a:rPr>
                                      <m:t>𝐵</m:t>
                                    </m:r>
                                  </m:e>
                                </m:d>
                              </m:oMath>
                            </m:oMathPara>
                          </a14:m>
                          <a:endParaRPr/>
                        </a:p>
                      </a:txBody>
                      <a:tcPr marL="58025" marR="58025" marT="29013" marB="29013" anchor="ctr"/>
                    </a:tc>
                    <a:tc>
                      <a:txBody>
                        <a:bodyPr/>
                        <a:lstStyle/>
                        <a:p>
                          <a:pPr algn="ctr">
                            <a:buNone/>
                          </a:pPr>
                          <a:r>
                            <a:rPr lang="en-CA" sz="1200" dirty="0">
                              <a:latin typeface="+mj-lt"/>
                            </a:rPr>
                            <a:t>Balanced Face</a:t>
                          </a:r>
                        </a:p>
                      </a:txBody>
                      <a:tcPr marL="58025" marR="58025" marT="29013" marB="29013" anchor="ctr"/>
                    </a:tc>
                    <a:tc>
                      <a:txBody>
                        <a:bodyPr/>
                        <a:lstStyle/>
                        <a:p>
                          <a:pPr algn="ctr">
                            <a:buNone/>
                          </a:pPr>
                          <a:r>
                            <a:rPr lang="en-CA" sz="1200">
                              <a:latin typeface="+mj-lt"/>
                            </a:rPr>
                            <a:t>—</a:t>
                          </a:r>
                        </a:p>
                      </a:txBody>
                      <a:tcPr marL="58025" marR="58025" marT="29013" marB="29013" anchor="ctr"/>
                    </a:tc>
                    <a:tc>
                      <a:txBody>
                        <a:bodyPr/>
                        <a:lstStyle/>
                        <a:p>
                          <a:pPr algn="ctr">
                            <a:buNone/>
                          </a:pPr>
                          <a:r>
                            <a:rPr lang="en-CA" sz="1200">
                              <a:latin typeface="+mj-lt"/>
                            </a:rPr>
                            <a:t>More balanced face</a:t>
                          </a:r>
                        </a:p>
                      </a:txBody>
                      <a:tcPr marL="58025" marR="58025" marT="29013" marB="29013" anchor="ctr"/>
                    </a:tc>
                    <a:extLst>
                      <a:ext uri="{0D108BD9-81ED-4DB2-BD59-A6C34878D82A}">
                        <a16:rowId xmlns:a16="http://schemas.microsoft.com/office/drawing/2014/main" val="4162955872"/>
                      </a:ext>
                    </a:extLst>
                  </a:tr>
                  <a:tr h="423972">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err="1">
                                        <a:solidFill>
                                          <a:schemeClr val="dk1"/>
                                        </a:solidFill>
                                        <a:latin typeface="Cambria Math" panose="02040503050406030204" pitchFamily="18" charset="0"/>
                                        <a:ea typeface="+mn-ea"/>
                                        <a:cs typeface="+mn-cs"/>
                                      </a:rPr>
                                    </m:ctrlPr>
                                  </m:dPr>
                                  <m:e>
                                    <m:sSub>
                                      <m:sSubPr>
                                        <m:ctrlPr>
                                          <a:rPr lang="en-CA" sz="1200" i="1" kern="1200" dirty="0" err="1">
                                            <a:solidFill>
                                              <a:schemeClr val="dk1"/>
                                            </a:solidFill>
                                            <a:latin typeface="Cambria Math" panose="02040503050406030204" pitchFamily="18" charset="0"/>
                                            <a:ea typeface="+mn-ea"/>
                                            <a:cs typeface="+mn-cs"/>
                                          </a:rPr>
                                        </m:ctrlPr>
                                      </m:sSubPr>
                                      <m:e>
                                        <m:r>
                                          <a:rPr lang="en-CA" sz="1200" i="1" kern="1200" dirty="0" err="1">
                                            <a:solidFill>
                                              <a:schemeClr val="dk1"/>
                                            </a:solidFill>
                                            <a:latin typeface="Cambria Math" panose="02040503050406030204" pitchFamily="18" charset="0"/>
                                            <a:ea typeface="+mn-ea"/>
                                            <a:cs typeface="+mn-cs"/>
                                          </a:rPr>
                                          <m:t>𝑝</m:t>
                                        </m:r>
                                      </m:e>
                                      <m:sub>
                                        <m:r>
                                          <a:rPr lang="en-CA" sz="1200" i="1" kern="1200" dirty="0" err="1">
                                            <a:solidFill>
                                              <a:schemeClr val="dk1"/>
                                            </a:solidFill>
                                            <a:latin typeface="Cambria Math" panose="02040503050406030204" pitchFamily="18" charset="0"/>
                                            <a:ea typeface="+mn-ea"/>
                                            <a:cs typeface="+mn-cs"/>
                                          </a:rPr>
                                          <m:t>𝐻</m:t>
                                        </m:r>
                                      </m:sub>
                                    </m:sSub>
                                  </m:e>
                                </m:d>
                              </m:oMath>
                            </m:oMathPara>
                          </a14:m>
                          <a:endParaRPr/>
                        </a:p>
                      </a:txBody>
                      <a:tcPr marL="58025" marR="58025" marT="29013" marB="29013" anchor="ctr"/>
                    </a:tc>
                    <a:tc>
                      <a:txBody>
                        <a:bodyPr/>
                        <a:lstStyle/>
                        <a:p>
                          <a:pPr algn="ctr">
                            <a:buNone/>
                          </a:pPr>
                          <a:r>
                            <a:rPr lang="en-CA" sz="1200" dirty="0">
                              <a:latin typeface="+mj-lt"/>
                            </a:rPr>
                            <a:t>Ore1 proportion in High-Ore1 Face</a:t>
                          </a:r>
                        </a:p>
                      </a:txBody>
                      <a:tcPr marL="58025" marR="58025" marT="29013" marB="29013" anchor="ctr"/>
                    </a:tc>
                    <a:tc>
                      <a:txBody>
                        <a:bodyPr/>
                        <a:lstStyle/>
                        <a:p>
                          <a:pPr algn="ctr">
                            <a:buNone/>
                          </a:pPr>
                          <a:r>
                            <a:rPr lang="en-CA" sz="1200">
                              <a:latin typeface="+mj-lt"/>
                            </a:rPr>
                            <a:t>(0.85)</a:t>
                          </a:r>
                        </a:p>
                      </a:txBody>
                      <a:tcPr marL="58025" marR="58025" marT="29013" marB="29013" anchor="ctr"/>
                    </a:tc>
                    <a:tc>
                      <a:txBody>
                        <a:bodyPr/>
                        <a:lstStyle/>
                        <a:p>
                          <a:pPr algn="ctr">
                            <a:buNone/>
                          </a:pPr>
                          <a:r>
                            <a:rPr lang="en-CA" sz="1200">
                              <a:latin typeface="+mj-lt"/>
                            </a:rPr>
                            <a:t>85% ore1</a:t>
                          </a:r>
                        </a:p>
                      </a:txBody>
                      <a:tcPr marL="58025" marR="58025" marT="29013" marB="29013" anchor="ctr"/>
                    </a:tc>
                    <a:extLst>
                      <a:ext uri="{0D108BD9-81ED-4DB2-BD59-A6C34878D82A}">
                        <a16:rowId xmlns:a16="http://schemas.microsoft.com/office/drawing/2014/main" val="4023951711"/>
                      </a:ext>
                    </a:extLst>
                  </a:tr>
                  <a:tr h="423972">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err="1">
                                        <a:solidFill>
                                          <a:schemeClr val="dk1"/>
                                        </a:solidFill>
                                        <a:latin typeface="Cambria Math" panose="02040503050406030204" pitchFamily="18" charset="0"/>
                                        <a:ea typeface="+mn-ea"/>
                                        <a:cs typeface="+mn-cs"/>
                                      </a:rPr>
                                    </m:ctrlPr>
                                  </m:dPr>
                                  <m:e>
                                    <m:sSub>
                                      <m:sSubPr>
                                        <m:ctrlPr>
                                          <a:rPr lang="en-CA" sz="1200" i="1" kern="1200" dirty="0" err="1">
                                            <a:solidFill>
                                              <a:schemeClr val="dk1"/>
                                            </a:solidFill>
                                            <a:latin typeface="Cambria Math" panose="02040503050406030204" pitchFamily="18" charset="0"/>
                                            <a:ea typeface="+mn-ea"/>
                                            <a:cs typeface="+mn-cs"/>
                                          </a:rPr>
                                        </m:ctrlPr>
                                      </m:sSubPr>
                                      <m:e>
                                        <m:r>
                                          <a:rPr lang="en-CA" sz="1200" i="1" kern="1200" dirty="0" err="1">
                                            <a:solidFill>
                                              <a:schemeClr val="dk1"/>
                                            </a:solidFill>
                                            <a:latin typeface="Cambria Math" panose="02040503050406030204" pitchFamily="18" charset="0"/>
                                            <a:ea typeface="+mn-ea"/>
                                            <a:cs typeface="+mn-cs"/>
                                          </a:rPr>
                                          <m:t>𝑝</m:t>
                                        </m:r>
                                      </m:e>
                                      <m:sub>
                                        <m:r>
                                          <a:rPr lang="en-CA" sz="1200" i="1" kern="1200" dirty="0" err="1">
                                            <a:solidFill>
                                              <a:schemeClr val="dk1"/>
                                            </a:solidFill>
                                            <a:latin typeface="Cambria Math" panose="02040503050406030204" pitchFamily="18" charset="0"/>
                                            <a:ea typeface="+mn-ea"/>
                                            <a:cs typeface="+mn-cs"/>
                                          </a:rPr>
                                          <m:t>𝐵</m:t>
                                        </m:r>
                                      </m:sub>
                                    </m:sSub>
                                  </m:e>
                                </m:d>
                              </m:oMath>
                            </m:oMathPara>
                          </a14:m>
                          <a:endParaRPr/>
                        </a:p>
                      </a:txBody>
                      <a:tcPr marL="58025" marR="58025" marT="29013" marB="29013" anchor="ctr"/>
                    </a:tc>
                    <a:tc>
                      <a:txBody>
                        <a:bodyPr/>
                        <a:lstStyle/>
                        <a:p>
                          <a:pPr algn="ctr">
                            <a:buNone/>
                          </a:pPr>
                          <a:r>
                            <a:rPr lang="en-CA" sz="1200" dirty="0">
                              <a:latin typeface="+mj-lt"/>
                            </a:rPr>
                            <a:t>Ore1 proportion in Balanced Face</a:t>
                          </a:r>
                        </a:p>
                      </a:txBody>
                      <a:tcPr marL="58025" marR="58025" marT="29013" marB="29013" anchor="ctr"/>
                    </a:tc>
                    <a:tc>
                      <a:txBody>
                        <a:bodyPr/>
                        <a:lstStyle/>
                        <a:p>
                          <a:pPr algn="ctr">
                            <a:buNone/>
                          </a:pPr>
                          <a:r>
                            <a:rPr lang="en-CA" sz="1200">
                              <a:latin typeface="+mj-lt"/>
                            </a:rPr>
                            <a:t>(0.55)</a:t>
                          </a:r>
                        </a:p>
                      </a:txBody>
                      <a:tcPr marL="58025" marR="58025" marT="29013" marB="29013" anchor="ctr"/>
                    </a:tc>
                    <a:tc>
                      <a:txBody>
                        <a:bodyPr/>
                        <a:lstStyle/>
                        <a:p>
                          <a:pPr algn="ctr">
                            <a:buNone/>
                          </a:pPr>
                          <a:r>
                            <a:rPr lang="en-CA" sz="1200">
                              <a:latin typeface="+mj-lt"/>
                            </a:rPr>
                            <a:t>55% ore1</a:t>
                          </a:r>
                        </a:p>
                      </a:txBody>
                      <a:tcPr marL="58025" marR="58025" marT="29013" marB="29013" anchor="ctr"/>
                    </a:tc>
                    <a:extLst>
                      <a:ext uri="{0D108BD9-81ED-4DB2-BD59-A6C34878D82A}">
                        <a16:rowId xmlns:a16="http://schemas.microsoft.com/office/drawing/2014/main" val="3616048039"/>
                      </a:ext>
                    </a:extLst>
                  </a:tr>
                  <a:tr h="605676">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err="1">
                                        <a:solidFill>
                                          <a:schemeClr val="dk1"/>
                                        </a:solidFill>
                                        <a:latin typeface="Cambria Math" panose="02040503050406030204" pitchFamily="18" charset="0"/>
                                        <a:ea typeface="+mn-ea"/>
                                        <a:cs typeface="+mn-cs"/>
                                      </a:rPr>
                                    </m:ctrlPr>
                                  </m:dPr>
                                  <m:e>
                                    <m:sSub>
                                      <m:sSubPr>
                                        <m:ctrlPr>
                                          <a:rPr lang="en-CA" sz="1200" i="1" kern="1200" dirty="0" err="1">
                                            <a:solidFill>
                                              <a:schemeClr val="dk1"/>
                                            </a:solidFill>
                                            <a:latin typeface="Cambria Math" panose="02040503050406030204" pitchFamily="18" charset="0"/>
                                            <a:ea typeface="+mn-ea"/>
                                            <a:cs typeface="+mn-cs"/>
                                          </a:rPr>
                                        </m:ctrlPr>
                                      </m:sSubPr>
                                      <m:e>
                                        <m:r>
                                          <a:rPr lang="en-CA" sz="1200" i="1" kern="1200" dirty="0" err="1">
                                            <a:solidFill>
                                              <a:schemeClr val="dk1"/>
                                            </a:solidFill>
                                            <a:latin typeface="Cambria Math" panose="02040503050406030204" pitchFamily="18" charset="0"/>
                                            <a:ea typeface="+mn-ea"/>
                                            <a:cs typeface="+mn-cs"/>
                                          </a:rPr>
                                          <m:t>𝑟</m:t>
                                        </m:r>
                                      </m:e>
                                      <m:sub>
                                        <m:r>
                                          <a:rPr lang="en-CA" sz="1200" i="1" kern="1200" dirty="0" err="1">
                                            <a:solidFill>
                                              <a:schemeClr val="dk1"/>
                                            </a:solidFill>
                                            <a:latin typeface="Cambria Math" panose="02040503050406030204" pitchFamily="18" charset="0"/>
                                            <a:ea typeface="+mn-ea"/>
                                            <a:cs typeface="+mn-cs"/>
                                          </a:rPr>
                                          <m:t>𝐻</m:t>
                                        </m:r>
                                      </m:sub>
                                    </m:sSub>
                                  </m:e>
                                </m:d>
                              </m:oMath>
                            </m:oMathPara>
                          </a14:m>
                          <a:endParaRPr/>
                        </a:p>
                      </a:txBody>
                      <a:tcPr marL="58025" marR="58025" marT="29013" marB="29013" anchor="ctr"/>
                    </a:tc>
                    <a:tc>
                      <a:txBody>
                        <a:bodyPr/>
                        <a:lstStyle/>
                        <a:p>
                          <a:pPr algn="ctr">
                            <a:buNone/>
                          </a:pPr>
                          <a:r>
                            <a:rPr lang="en-CA" sz="1200" dirty="0">
                              <a:latin typeface="+mj-lt"/>
                            </a:rPr>
                            <a:t>Production rate from High-Ore1 Face</a:t>
                          </a:r>
                        </a:p>
                      </a:txBody>
                      <a:tcPr marL="58025" marR="58025" marT="29013" marB="29013" anchor="ctr"/>
                    </a:tc>
                    <a:tc>
                      <a:txBody>
                        <a:bodyPr/>
                        <a:lstStyle/>
                        <a:p>
                          <a:pPr algn="ctr">
                            <a:buNone/>
                          </a:pPr>
                          <a:r>
                            <a:rPr lang="en-CA" sz="1200" dirty="0">
                              <a:latin typeface="+mj-lt"/>
                            </a:rPr>
                            <a:t>t/d</a:t>
                          </a:r>
                        </a:p>
                      </a:txBody>
                      <a:tcPr marL="58025" marR="58025" marT="29013" marB="29013" anchor="ctr"/>
                    </a:tc>
                    <a:tc>
                      <a:txBody>
                        <a:bodyPr/>
                        <a:lstStyle/>
                        <a:p>
                          <a:pPr algn="ctr">
                            <a:buNone/>
                          </a:pPr>
                          <a:r>
                            <a:rPr lang="en-CA" sz="1200" dirty="0">
                              <a:latin typeface="+mj-lt"/>
                            </a:rPr>
                            <a:t>Need to solve</a:t>
                          </a:r>
                        </a:p>
                      </a:txBody>
                      <a:tcPr marL="58025" marR="58025" marT="29013" marB="29013" anchor="ctr"/>
                    </a:tc>
                    <a:extLst>
                      <a:ext uri="{0D108BD9-81ED-4DB2-BD59-A6C34878D82A}">
                        <a16:rowId xmlns:a16="http://schemas.microsoft.com/office/drawing/2014/main" val="4092353885"/>
                      </a:ext>
                    </a:extLst>
                  </a:tr>
                  <a:tr h="423972">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err="1">
                                        <a:solidFill>
                                          <a:schemeClr val="dk1"/>
                                        </a:solidFill>
                                        <a:latin typeface="Cambria Math" panose="02040503050406030204" pitchFamily="18" charset="0"/>
                                        <a:ea typeface="+mn-ea"/>
                                        <a:cs typeface="+mn-cs"/>
                                      </a:rPr>
                                    </m:ctrlPr>
                                  </m:dPr>
                                  <m:e>
                                    <m:sSub>
                                      <m:sSubPr>
                                        <m:ctrlPr>
                                          <a:rPr lang="en-CA" sz="1200" i="1" kern="1200" dirty="0" err="1">
                                            <a:solidFill>
                                              <a:schemeClr val="dk1"/>
                                            </a:solidFill>
                                            <a:latin typeface="Cambria Math" panose="02040503050406030204" pitchFamily="18" charset="0"/>
                                            <a:ea typeface="+mn-ea"/>
                                            <a:cs typeface="+mn-cs"/>
                                          </a:rPr>
                                        </m:ctrlPr>
                                      </m:sSubPr>
                                      <m:e>
                                        <m:r>
                                          <a:rPr lang="en-CA" sz="1200" i="1" kern="1200" dirty="0" err="1">
                                            <a:solidFill>
                                              <a:schemeClr val="dk1"/>
                                            </a:solidFill>
                                            <a:latin typeface="Cambria Math" panose="02040503050406030204" pitchFamily="18" charset="0"/>
                                            <a:ea typeface="+mn-ea"/>
                                            <a:cs typeface="+mn-cs"/>
                                          </a:rPr>
                                          <m:t>𝑟</m:t>
                                        </m:r>
                                      </m:e>
                                      <m:sub>
                                        <m:r>
                                          <a:rPr lang="en-CA" sz="1200" i="1" kern="1200" dirty="0" err="1">
                                            <a:solidFill>
                                              <a:schemeClr val="dk1"/>
                                            </a:solidFill>
                                            <a:latin typeface="Cambria Math" panose="02040503050406030204" pitchFamily="18" charset="0"/>
                                            <a:ea typeface="+mn-ea"/>
                                            <a:cs typeface="+mn-cs"/>
                                          </a:rPr>
                                          <m:t>𝐵</m:t>
                                        </m:r>
                                      </m:sub>
                                    </m:sSub>
                                  </m:e>
                                </m:d>
                              </m:oMath>
                            </m:oMathPara>
                          </a14:m>
                          <a:endParaRPr/>
                        </a:p>
                      </a:txBody>
                      <a:tcPr marL="58025" marR="58025" marT="29013" marB="29013" anchor="ctr"/>
                    </a:tc>
                    <a:tc>
                      <a:txBody>
                        <a:bodyPr/>
                        <a:lstStyle/>
                        <a:p>
                          <a:pPr algn="ctr">
                            <a:buNone/>
                          </a:pPr>
                          <a:r>
                            <a:rPr lang="en-CA" sz="1200">
                              <a:latin typeface="+mj-lt"/>
                            </a:rPr>
                            <a:t>Production rate from Balanced Face</a:t>
                          </a:r>
                        </a:p>
                      </a:txBody>
                      <a:tcPr marL="58025" marR="58025" marT="29013" marB="29013" anchor="ctr"/>
                    </a:tc>
                    <a:tc>
                      <a:txBody>
                        <a:bodyPr/>
                        <a:lstStyle/>
                        <a:p>
                          <a:pPr algn="ctr">
                            <a:buNone/>
                          </a:pPr>
                          <a:r>
                            <a:rPr lang="en-CA" sz="1200">
                              <a:latin typeface="+mj-lt"/>
                            </a:rPr>
                            <a:t>t/d</a:t>
                          </a:r>
                        </a:p>
                      </a:txBody>
                      <a:tcPr marL="58025" marR="58025" marT="29013" marB="29013" anchor="ctr"/>
                    </a:tc>
                    <a:tc>
                      <a:txBody>
                        <a:bodyPr/>
                        <a:lstStyle/>
                        <a:p>
                          <a:pPr algn="ctr">
                            <a:buNone/>
                          </a:pPr>
                          <a:r>
                            <a:rPr lang="en-CA" sz="1200">
                              <a:latin typeface="+mj-lt"/>
                            </a:rPr>
                            <a:t>Need to solve</a:t>
                          </a:r>
                        </a:p>
                      </a:txBody>
                      <a:tcPr marL="58025" marR="58025" marT="29013" marB="29013" anchor="ctr"/>
                    </a:tc>
                    <a:extLst>
                      <a:ext uri="{0D108BD9-81ED-4DB2-BD59-A6C34878D82A}">
                        <a16:rowId xmlns:a16="http://schemas.microsoft.com/office/drawing/2014/main" val="3331924096"/>
                      </a:ext>
                    </a:extLst>
                  </a:tr>
                  <a:tr h="423972">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err="1">
                                        <a:solidFill>
                                          <a:schemeClr val="dk1"/>
                                        </a:solidFill>
                                        <a:latin typeface="Cambria Math" panose="02040503050406030204" pitchFamily="18" charset="0"/>
                                        <a:ea typeface="+mn-ea"/>
                                        <a:cs typeface="+mn-cs"/>
                                      </a:rPr>
                                    </m:ctrlPr>
                                  </m:dPr>
                                  <m:e>
                                    <m:sSub>
                                      <m:sSubPr>
                                        <m:ctrlPr>
                                          <a:rPr lang="en-CA" sz="1200" i="1" kern="1200" dirty="0" err="1">
                                            <a:solidFill>
                                              <a:schemeClr val="dk1"/>
                                            </a:solidFill>
                                            <a:latin typeface="Cambria Math" panose="02040503050406030204" pitchFamily="18" charset="0"/>
                                            <a:ea typeface="+mn-ea"/>
                                            <a:cs typeface="+mn-cs"/>
                                          </a:rPr>
                                        </m:ctrlPr>
                                      </m:sSubPr>
                                      <m:e>
                                        <m:r>
                                          <a:rPr lang="en-CA" sz="1200" i="1" kern="1200" dirty="0" err="1">
                                            <a:solidFill>
                                              <a:schemeClr val="dk1"/>
                                            </a:solidFill>
                                            <a:latin typeface="Cambria Math" panose="02040503050406030204" pitchFamily="18" charset="0"/>
                                            <a:ea typeface="+mn-ea"/>
                                            <a:cs typeface="+mn-cs"/>
                                          </a:rPr>
                                          <m:t>𝑤</m:t>
                                        </m:r>
                                      </m:e>
                                      <m:sub>
                                        <m:r>
                                          <a:rPr lang="en-CA" sz="1200" i="1" kern="1200" dirty="0" err="1">
                                            <a:solidFill>
                                              <a:schemeClr val="dk1"/>
                                            </a:solidFill>
                                            <a:latin typeface="Cambria Math" panose="02040503050406030204" pitchFamily="18" charset="0"/>
                                            <a:ea typeface="+mn-ea"/>
                                            <a:cs typeface="+mn-cs"/>
                                          </a:rPr>
                                          <m:t>𝐻</m:t>
                                        </m:r>
                                      </m:sub>
                                    </m:sSub>
                                  </m:e>
                                </m:d>
                              </m:oMath>
                            </m:oMathPara>
                          </a14:m>
                          <a:endParaRPr/>
                        </a:p>
                      </a:txBody>
                      <a:tcPr marL="58025" marR="58025" marT="29013" marB="29013" anchor="ctr"/>
                    </a:tc>
                    <a:tc>
                      <a:txBody>
                        <a:bodyPr/>
                        <a:lstStyle/>
                        <a:p>
                          <a:pPr algn="ctr">
                            <a:buNone/>
                          </a:pPr>
                          <a:r>
                            <a:rPr lang="en-CA" sz="1200" dirty="0">
                              <a:latin typeface="+mj-lt"/>
                            </a:rPr>
                            <a:t>Allocation weight to High-Ore1 Face</a:t>
                          </a:r>
                        </a:p>
                      </a:txBody>
                      <a:tcPr marL="58025" marR="58025" marT="29013" marB="29013" anchor="ctr"/>
                    </a:tc>
                    <a:tc>
                      <a:txBody>
                        <a:bodyPr/>
                        <a:lstStyle/>
                        <a:p>
                          <a:pPr algn="ctr">
                            <a:buNone/>
                          </a:pPr>
                          <a:r>
                            <a:rPr lang="en-CA" sz="1200" dirty="0">
                              <a:latin typeface="+mj-lt"/>
                            </a:rPr>
                            <a:t>fraction</a:t>
                          </a:r>
                        </a:p>
                      </a:txBody>
                      <a:tcPr marL="58025" marR="58025" marT="29013" marB="29013" anchor="ctr"/>
                    </a:tc>
                    <a:tc>
                      <a:txBody>
                        <a:bodyPr/>
                        <a:lstStyle/>
                        <a:p>
                          <a:pPr algn="ctr">
                            <a:buNone/>
                          </a:pPr>
                          <a14:m>
                            <m:oMathPara xmlns:m="http://schemas.openxmlformats.org/officeDocument/2006/math">
                              <m:oMathParaPr>
                                <m:jc m:val="centerGroup"/>
                              </m:oMathParaPr>
                              <m:oMath xmlns:m="http://schemas.openxmlformats.org/officeDocument/2006/math">
                                <m:d>
                                  <m:dPr>
                                    <m:ctrlPr>
                                      <a:rPr lang="en-CA" sz="1200" i="1" dirty="0" err="1">
                                        <a:latin typeface="Cambria Math" panose="02040503050406030204" pitchFamily="18" charset="0"/>
                                      </a:rPr>
                                    </m:ctrlPr>
                                  </m:dPr>
                                  <m:e>
                                    <m:sSub>
                                      <m:sSubPr>
                                        <m:ctrlPr>
                                          <a:rPr lang="en-CA" sz="1200" i="1" dirty="0" err="1">
                                            <a:latin typeface="Cambria Math" panose="02040503050406030204" pitchFamily="18" charset="0"/>
                                          </a:rPr>
                                        </m:ctrlPr>
                                      </m:sSubPr>
                                      <m:e>
                                        <m:r>
                                          <a:rPr lang="en-CA" sz="1200" i="1" dirty="0" err="1">
                                            <a:latin typeface="Cambria Math" panose="02040503050406030204" pitchFamily="18" charset="0"/>
                                          </a:rPr>
                                          <m:t>𝑤</m:t>
                                        </m:r>
                                      </m:e>
                                      <m:sub>
                                        <m:r>
                                          <a:rPr lang="en-CA" sz="1200" i="1" dirty="0" err="1">
                                            <a:latin typeface="Cambria Math" panose="02040503050406030204" pitchFamily="18" charset="0"/>
                                          </a:rPr>
                                          <m:t>𝐻</m:t>
                                        </m:r>
                                      </m:sub>
                                    </m:sSub>
                                    <m:r>
                                      <a:rPr lang="en-CA" sz="1200" i="1" dirty="0">
                                        <a:latin typeface="Cambria Math" panose="02040503050406030204" pitchFamily="18" charset="0"/>
                                      </a:rPr>
                                      <m:t>=</m:t>
                                    </m:r>
                                    <m:sSub>
                                      <m:sSubPr>
                                        <m:ctrlPr>
                                          <a:rPr lang="en-CA" sz="1200" i="1" dirty="0" err="1">
                                            <a:latin typeface="Cambria Math" panose="02040503050406030204" pitchFamily="18" charset="0"/>
                                          </a:rPr>
                                        </m:ctrlPr>
                                      </m:sSubPr>
                                      <m:e>
                                        <m:r>
                                          <a:rPr lang="en-CA" sz="1200" i="1" dirty="0" err="1">
                                            <a:latin typeface="Cambria Math" panose="02040503050406030204" pitchFamily="18" charset="0"/>
                                          </a:rPr>
                                          <m:t>𝑟</m:t>
                                        </m:r>
                                      </m:e>
                                      <m:sub>
                                        <m:r>
                                          <a:rPr lang="en-CA" sz="1200" i="1" dirty="0" err="1">
                                            <a:latin typeface="Cambria Math" panose="02040503050406030204" pitchFamily="18" charset="0"/>
                                          </a:rPr>
                                          <m:t>𝐻</m:t>
                                        </m:r>
                                      </m:sub>
                                    </m:sSub>
                                    <m:r>
                                      <m:rPr>
                                        <m:lit/>
                                      </m:rPr>
                                      <a:rPr lang="en-CA" sz="1200" i="1" dirty="0">
                                        <a:latin typeface="Cambria Math" panose="02040503050406030204" pitchFamily="18" charset="0"/>
                                      </a:rPr>
                                      <m:t>/</m:t>
                                    </m:r>
                                    <m:sSub>
                                      <m:sSubPr>
                                        <m:ctrlPr>
                                          <a:rPr lang="en-CA" sz="1200" i="1" dirty="0">
                                            <a:latin typeface="Cambria Math" panose="02040503050406030204" pitchFamily="18" charset="0"/>
                                          </a:rPr>
                                        </m:ctrlPr>
                                      </m:sSubPr>
                                      <m:e>
                                        <m:r>
                                          <a:rPr lang="en-CA" sz="1200" i="1" dirty="0">
                                            <a:latin typeface="Cambria Math" panose="02040503050406030204" pitchFamily="18" charset="0"/>
                                          </a:rPr>
                                          <m:t>𝑅</m:t>
                                        </m:r>
                                      </m:e>
                                      <m:sub>
                                        <m:r>
                                          <a:rPr lang="en-CA" sz="1200" i="1" dirty="0">
                                            <a:latin typeface="Cambria Math" panose="02040503050406030204" pitchFamily="18" charset="0"/>
                                          </a:rPr>
                                          <m:t>𝑡𝑜𝑡</m:t>
                                        </m:r>
                                      </m:sub>
                                    </m:sSub>
                                  </m:e>
                                </m:d>
                              </m:oMath>
                            </m:oMathPara>
                          </a14:m>
                          <a:endParaRPr/>
                        </a:p>
                      </a:txBody>
                      <a:tcPr marL="58025" marR="58025" marT="29013" marB="29013" anchor="ctr"/>
                    </a:tc>
                    <a:extLst>
                      <a:ext uri="{0D108BD9-81ED-4DB2-BD59-A6C34878D82A}">
                        <a16:rowId xmlns:a16="http://schemas.microsoft.com/office/drawing/2014/main" val="194109834"/>
                      </a:ext>
                    </a:extLst>
                  </a:tr>
                  <a:tr h="423972">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err="1">
                                        <a:solidFill>
                                          <a:schemeClr val="dk1"/>
                                        </a:solidFill>
                                        <a:latin typeface="Cambria Math" panose="02040503050406030204" pitchFamily="18" charset="0"/>
                                        <a:ea typeface="+mn-ea"/>
                                        <a:cs typeface="+mn-cs"/>
                                      </a:rPr>
                                    </m:ctrlPr>
                                  </m:dPr>
                                  <m:e>
                                    <m:sSub>
                                      <m:sSubPr>
                                        <m:ctrlPr>
                                          <a:rPr lang="en-CA" sz="1200" i="1" kern="1200" dirty="0" err="1">
                                            <a:solidFill>
                                              <a:schemeClr val="dk1"/>
                                            </a:solidFill>
                                            <a:latin typeface="Cambria Math" panose="02040503050406030204" pitchFamily="18" charset="0"/>
                                            <a:ea typeface="+mn-ea"/>
                                            <a:cs typeface="+mn-cs"/>
                                          </a:rPr>
                                        </m:ctrlPr>
                                      </m:sSubPr>
                                      <m:e>
                                        <m:r>
                                          <a:rPr lang="en-CA" sz="1200" i="1" kern="1200" dirty="0" err="1">
                                            <a:solidFill>
                                              <a:schemeClr val="dk1"/>
                                            </a:solidFill>
                                            <a:latin typeface="Cambria Math" panose="02040503050406030204" pitchFamily="18" charset="0"/>
                                            <a:ea typeface="+mn-ea"/>
                                            <a:cs typeface="+mn-cs"/>
                                          </a:rPr>
                                          <m:t>𝑤</m:t>
                                        </m:r>
                                      </m:e>
                                      <m:sub>
                                        <m:r>
                                          <a:rPr lang="en-CA" sz="1200" i="1" kern="1200" dirty="0" err="1">
                                            <a:solidFill>
                                              <a:schemeClr val="dk1"/>
                                            </a:solidFill>
                                            <a:latin typeface="Cambria Math" panose="02040503050406030204" pitchFamily="18" charset="0"/>
                                            <a:ea typeface="+mn-ea"/>
                                            <a:cs typeface="+mn-cs"/>
                                          </a:rPr>
                                          <m:t>𝐵</m:t>
                                        </m:r>
                                      </m:sub>
                                    </m:sSub>
                                  </m:e>
                                </m:d>
                              </m:oMath>
                            </m:oMathPara>
                          </a14:m>
                          <a:endParaRPr/>
                        </a:p>
                      </a:txBody>
                      <a:tcPr marL="58025" marR="58025" marT="29013" marB="29013" anchor="ctr"/>
                    </a:tc>
                    <a:tc>
                      <a:txBody>
                        <a:bodyPr/>
                        <a:lstStyle/>
                        <a:p>
                          <a:pPr algn="ctr">
                            <a:buNone/>
                          </a:pPr>
                          <a:r>
                            <a:rPr lang="en-CA" sz="1200">
                              <a:latin typeface="+mj-lt"/>
                            </a:rPr>
                            <a:t>Allocation weight to Balanced Face</a:t>
                          </a:r>
                        </a:p>
                      </a:txBody>
                      <a:tcPr marL="58025" marR="58025" marT="29013" marB="29013" anchor="ctr"/>
                    </a:tc>
                    <a:tc>
                      <a:txBody>
                        <a:bodyPr/>
                        <a:lstStyle/>
                        <a:p>
                          <a:pPr algn="ctr">
                            <a:buNone/>
                          </a:pPr>
                          <a:r>
                            <a:rPr lang="en-CA" sz="1200">
                              <a:latin typeface="+mj-lt"/>
                            </a:rPr>
                            <a:t>fraction</a:t>
                          </a:r>
                        </a:p>
                      </a:txBody>
                      <a:tcPr marL="58025" marR="58025" marT="29013" marB="29013" anchor="ctr"/>
                    </a:tc>
                    <a:tc>
                      <a:txBody>
                        <a:bodyPr/>
                        <a:lstStyle/>
                        <a:p>
                          <a:pPr algn="ctr">
                            <a:buNone/>
                          </a:pPr>
                          <a14:m>
                            <m:oMathPara xmlns:m="http://schemas.openxmlformats.org/officeDocument/2006/math">
                              <m:oMathParaPr>
                                <m:jc m:val="centerGroup"/>
                              </m:oMathParaPr>
                              <m:oMath xmlns:m="http://schemas.openxmlformats.org/officeDocument/2006/math">
                                <m:d>
                                  <m:dPr>
                                    <m:ctrlPr>
                                      <a:rPr lang="en-CA" sz="1200" i="1" dirty="0" err="1">
                                        <a:latin typeface="Cambria Math" panose="02040503050406030204" pitchFamily="18" charset="0"/>
                                      </a:rPr>
                                    </m:ctrlPr>
                                  </m:dPr>
                                  <m:e>
                                    <m:sSub>
                                      <m:sSubPr>
                                        <m:ctrlPr>
                                          <a:rPr lang="en-CA" sz="1200" i="1" dirty="0" err="1">
                                            <a:latin typeface="Cambria Math" panose="02040503050406030204" pitchFamily="18" charset="0"/>
                                          </a:rPr>
                                        </m:ctrlPr>
                                      </m:sSubPr>
                                      <m:e>
                                        <m:r>
                                          <a:rPr lang="en-CA" sz="1200" i="1" dirty="0" err="1">
                                            <a:latin typeface="Cambria Math" panose="02040503050406030204" pitchFamily="18" charset="0"/>
                                          </a:rPr>
                                          <m:t>𝑤</m:t>
                                        </m:r>
                                      </m:e>
                                      <m:sub>
                                        <m:r>
                                          <a:rPr lang="en-CA" sz="1200" i="1" dirty="0" err="1">
                                            <a:latin typeface="Cambria Math" panose="02040503050406030204" pitchFamily="18" charset="0"/>
                                          </a:rPr>
                                          <m:t>𝐵</m:t>
                                        </m:r>
                                      </m:sub>
                                    </m:sSub>
                                    <m:r>
                                      <a:rPr lang="en-CA" sz="1200" i="1" dirty="0">
                                        <a:latin typeface="Cambria Math" panose="02040503050406030204" pitchFamily="18" charset="0"/>
                                      </a:rPr>
                                      <m:t>=</m:t>
                                    </m:r>
                                    <m:sSub>
                                      <m:sSubPr>
                                        <m:ctrlPr>
                                          <a:rPr lang="en-CA" sz="1200" i="1" dirty="0" err="1">
                                            <a:latin typeface="Cambria Math" panose="02040503050406030204" pitchFamily="18" charset="0"/>
                                          </a:rPr>
                                        </m:ctrlPr>
                                      </m:sSubPr>
                                      <m:e>
                                        <m:r>
                                          <a:rPr lang="en-CA" sz="1200" i="1" dirty="0" err="1">
                                            <a:latin typeface="Cambria Math" panose="02040503050406030204" pitchFamily="18" charset="0"/>
                                          </a:rPr>
                                          <m:t>𝑟</m:t>
                                        </m:r>
                                      </m:e>
                                      <m:sub>
                                        <m:r>
                                          <a:rPr lang="en-CA" sz="1200" i="1" dirty="0" err="1">
                                            <a:latin typeface="Cambria Math" panose="02040503050406030204" pitchFamily="18" charset="0"/>
                                          </a:rPr>
                                          <m:t>𝐵</m:t>
                                        </m:r>
                                      </m:sub>
                                    </m:sSub>
                                    <m:r>
                                      <m:rPr>
                                        <m:lit/>
                                      </m:rPr>
                                      <a:rPr lang="en-CA" sz="1200" i="1" dirty="0">
                                        <a:latin typeface="Cambria Math" panose="02040503050406030204" pitchFamily="18" charset="0"/>
                                      </a:rPr>
                                      <m:t>/</m:t>
                                    </m:r>
                                    <m:sSub>
                                      <m:sSubPr>
                                        <m:ctrlPr>
                                          <a:rPr lang="en-CA" sz="1200" i="1" dirty="0">
                                            <a:latin typeface="Cambria Math" panose="02040503050406030204" pitchFamily="18" charset="0"/>
                                          </a:rPr>
                                        </m:ctrlPr>
                                      </m:sSubPr>
                                      <m:e>
                                        <m:r>
                                          <a:rPr lang="en-CA" sz="1200" i="1" dirty="0">
                                            <a:latin typeface="Cambria Math" panose="02040503050406030204" pitchFamily="18" charset="0"/>
                                          </a:rPr>
                                          <m:t>𝑅</m:t>
                                        </m:r>
                                      </m:e>
                                      <m:sub>
                                        <m:r>
                                          <a:rPr lang="en-CA" sz="1200" i="1" dirty="0">
                                            <a:latin typeface="Cambria Math" panose="02040503050406030204" pitchFamily="18" charset="0"/>
                                          </a:rPr>
                                          <m:t>𝑡𝑜𝑡</m:t>
                                        </m:r>
                                      </m:sub>
                                    </m:sSub>
                                  </m:e>
                                </m:d>
                              </m:oMath>
                            </m:oMathPara>
                          </a14:m>
                          <a:endParaRPr/>
                        </a:p>
                      </a:txBody>
                      <a:tcPr marL="58025" marR="58025" marT="29013" marB="29013" anchor="ctr"/>
                    </a:tc>
                    <a:extLst>
                      <a:ext uri="{0D108BD9-81ED-4DB2-BD59-A6C34878D82A}">
                        <a16:rowId xmlns:a16="http://schemas.microsoft.com/office/drawing/2014/main" val="3538255907"/>
                      </a:ext>
                    </a:extLst>
                  </a:tr>
                  <a:tr h="423972">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smtClean="0">
                                        <a:solidFill>
                                          <a:schemeClr val="dk1"/>
                                        </a:solidFill>
                                        <a:latin typeface="Cambria Math" panose="02040503050406030204" pitchFamily="18" charset="0"/>
                                        <a:ea typeface="+mn-ea"/>
                                        <a:cs typeface="+mn-cs"/>
                                      </a:rPr>
                                    </m:ctrlPr>
                                  </m:dPr>
                                  <m:e>
                                    <m:sSub>
                                      <m:sSubPr>
                                        <m:ctrlPr>
                                          <a:rPr lang="en-CA" sz="1200" i="1" kern="1200" dirty="0" smtClean="0">
                                            <a:solidFill>
                                              <a:schemeClr val="dk1"/>
                                            </a:solidFill>
                                            <a:latin typeface="Cambria Math" panose="02040503050406030204" pitchFamily="18" charset="0"/>
                                            <a:ea typeface="+mn-ea"/>
                                            <a:cs typeface="+mn-cs"/>
                                          </a:rPr>
                                        </m:ctrlPr>
                                      </m:sSubPr>
                                      <m:e>
                                        <m:r>
                                          <a:rPr lang="en-CA" sz="1200" i="1" kern="1200" dirty="0" smtClean="0">
                                            <a:solidFill>
                                              <a:schemeClr val="dk1"/>
                                            </a:solidFill>
                                            <a:latin typeface="Cambria Math" panose="02040503050406030204" pitchFamily="18" charset="0"/>
                                            <a:ea typeface="+mn-ea"/>
                                            <a:cs typeface="+mn-cs"/>
                                          </a:rPr>
                                          <m:t>𝑅</m:t>
                                        </m:r>
                                      </m:e>
                                      <m:sub>
                                        <m:r>
                                          <a:rPr lang="en-CA" sz="1200" i="1" kern="1200" dirty="0" smtClean="0">
                                            <a:solidFill>
                                              <a:schemeClr val="dk1"/>
                                            </a:solidFill>
                                            <a:latin typeface="Cambria Math" panose="02040503050406030204" pitchFamily="18" charset="0"/>
                                            <a:ea typeface="+mn-ea"/>
                                            <a:cs typeface="+mn-cs"/>
                                          </a:rPr>
                                          <m:t>1</m:t>
                                        </m:r>
                                      </m:sub>
                                    </m:sSub>
                                  </m:e>
                                </m:d>
                              </m:oMath>
                            </m:oMathPara>
                          </a14:m>
                          <a:endParaRPr/>
                        </a:p>
                      </a:txBody>
                      <a:tcPr marL="58025" marR="58025" marT="29013" marB="29013" anchor="ctr"/>
                    </a:tc>
                    <a:tc>
                      <a:txBody>
                        <a:bodyPr/>
                        <a:lstStyle/>
                        <a:p>
                          <a:pPr algn="ctr">
                            <a:buNone/>
                          </a:pPr>
                          <a:r>
                            <a:rPr lang="en-CA" sz="1200" dirty="0">
                              <a:latin typeface="+mj-lt"/>
                            </a:rPr>
                            <a:t>Target Ore1 rate</a:t>
                          </a:r>
                        </a:p>
                      </a:txBody>
                      <a:tcPr marL="58025" marR="58025" marT="29013" marB="29013" anchor="ctr"/>
                    </a:tc>
                    <a:tc>
                      <a:txBody>
                        <a:bodyPr/>
                        <a:lstStyle/>
                        <a:p>
                          <a:pPr algn="ctr">
                            <a:buNone/>
                          </a:pPr>
                          <a:r>
                            <a:rPr lang="en-CA" sz="1200" dirty="0">
                              <a:latin typeface="+mj-lt"/>
                            </a:rPr>
                            <a:t>t/d</a:t>
                          </a:r>
                        </a:p>
                      </a:txBody>
                      <a:tcPr marL="58025" marR="58025" marT="29013" marB="29013" anchor="ctr"/>
                    </a:tc>
                    <a:tc>
                      <a:txBody>
                        <a:bodyPr/>
                        <a:lstStyle/>
                        <a:p>
                          <a:pPr algn="ctr">
                            <a:buNone/>
                          </a:pPr>
                          <a:r>
                            <a:rPr lang="en-CA" sz="1200" dirty="0">
                              <a:latin typeface="+mj-lt"/>
                            </a:rPr>
                            <a:t>Ore1 target from mode config</a:t>
                          </a:r>
                        </a:p>
                      </a:txBody>
                      <a:tcPr marL="58025" marR="58025" marT="29013" marB="29013" anchor="ctr"/>
                    </a:tc>
                    <a:extLst>
                      <a:ext uri="{0D108BD9-81ED-4DB2-BD59-A6C34878D82A}">
                        <a16:rowId xmlns:a16="http://schemas.microsoft.com/office/drawing/2014/main" val="3265341668"/>
                      </a:ext>
                    </a:extLst>
                  </a:tr>
                  <a:tr h="423972">
                    <a:tc>
                      <a:txBody>
                        <a:bodyPr/>
                        <a:lstStyle/>
                        <a:p>
                          <a:pPr marL="0" algn="ctr" defTabSz="457200" rtl="0" eaLnBrk="1" latinLnBrk="0" hangingPunct="1">
                            <a:buNone/>
                          </a:pPr>
                          <a14:m>
                            <m:oMathPara xmlns:m="http://schemas.openxmlformats.org/officeDocument/2006/math">
                              <m:oMathParaPr>
                                <m:jc m:val="centerGroup"/>
                              </m:oMathParaPr>
                              <m:oMath xmlns:m="http://schemas.openxmlformats.org/officeDocument/2006/math">
                                <m:d>
                                  <m:dPr>
                                    <m:ctrlPr>
                                      <a:rPr lang="en-CA" sz="1200" i="1" kern="1200" dirty="0" smtClean="0">
                                        <a:solidFill>
                                          <a:schemeClr val="dk1"/>
                                        </a:solidFill>
                                        <a:latin typeface="Cambria Math" panose="02040503050406030204" pitchFamily="18" charset="0"/>
                                        <a:ea typeface="+mn-ea"/>
                                        <a:cs typeface="+mn-cs"/>
                                      </a:rPr>
                                    </m:ctrlPr>
                                  </m:dPr>
                                  <m:e>
                                    <m:sSub>
                                      <m:sSubPr>
                                        <m:ctrlPr>
                                          <a:rPr lang="en-CA" sz="1200" i="1" kern="1200" dirty="0" smtClean="0">
                                            <a:solidFill>
                                              <a:schemeClr val="dk1"/>
                                            </a:solidFill>
                                            <a:latin typeface="Cambria Math" panose="02040503050406030204" pitchFamily="18" charset="0"/>
                                            <a:ea typeface="+mn-ea"/>
                                            <a:cs typeface="+mn-cs"/>
                                          </a:rPr>
                                        </m:ctrlPr>
                                      </m:sSubPr>
                                      <m:e>
                                        <m:r>
                                          <a:rPr lang="en-CA" sz="1200" i="1" kern="1200" dirty="0" smtClean="0">
                                            <a:solidFill>
                                              <a:schemeClr val="dk1"/>
                                            </a:solidFill>
                                            <a:latin typeface="Cambria Math" panose="02040503050406030204" pitchFamily="18" charset="0"/>
                                            <a:ea typeface="+mn-ea"/>
                                            <a:cs typeface="+mn-cs"/>
                                          </a:rPr>
                                          <m:t>𝑅</m:t>
                                        </m:r>
                                      </m:e>
                                      <m:sub>
                                        <m:r>
                                          <a:rPr lang="en-CA" sz="1200" i="1" kern="1200" dirty="0" smtClean="0">
                                            <a:solidFill>
                                              <a:schemeClr val="dk1"/>
                                            </a:solidFill>
                                            <a:latin typeface="Cambria Math" panose="02040503050406030204" pitchFamily="18" charset="0"/>
                                            <a:ea typeface="+mn-ea"/>
                                            <a:cs typeface="+mn-cs"/>
                                          </a:rPr>
                                          <m:t>2</m:t>
                                        </m:r>
                                      </m:sub>
                                    </m:sSub>
                                  </m:e>
                                </m:d>
                              </m:oMath>
                            </m:oMathPara>
                          </a14:m>
                          <a:endParaRPr/>
                        </a:p>
                      </a:txBody>
                      <a:tcPr marL="58025" marR="58025" marT="29013" marB="29013" anchor="ctr"/>
                    </a:tc>
                    <a:tc>
                      <a:txBody>
                        <a:bodyPr/>
                        <a:lstStyle/>
                        <a:p>
                          <a:pPr algn="ctr">
                            <a:buNone/>
                          </a:pPr>
                          <a:r>
                            <a:rPr lang="en-CA" sz="1200" dirty="0">
                              <a:latin typeface="+mj-lt"/>
                            </a:rPr>
                            <a:t>Target Ore2 rate</a:t>
                          </a:r>
                        </a:p>
                      </a:txBody>
                      <a:tcPr marL="58025" marR="58025" marT="29013" marB="29013" anchor="ctr"/>
                    </a:tc>
                    <a:tc>
                      <a:txBody>
                        <a:bodyPr/>
                        <a:lstStyle/>
                        <a:p>
                          <a:pPr algn="ctr">
                            <a:buNone/>
                          </a:pPr>
                          <a:r>
                            <a:rPr lang="en-CA" sz="1200" dirty="0">
                              <a:latin typeface="+mj-lt"/>
                            </a:rPr>
                            <a:t>t/d</a:t>
                          </a:r>
                        </a:p>
                      </a:txBody>
                      <a:tcPr marL="58025" marR="58025" marT="29013" marB="29013" anchor="ctr"/>
                    </a:tc>
                    <a:tc>
                      <a:txBody>
                        <a:bodyPr/>
                        <a:lstStyle/>
                        <a:p>
                          <a:pPr algn="ctr">
                            <a:buNone/>
                          </a:pPr>
                          <a:r>
                            <a:rPr lang="en-CA" sz="1200" dirty="0">
                              <a:latin typeface="+mj-lt"/>
                            </a:rPr>
                            <a:t>Ore2 target from mode config</a:t>
                          </a:r>
                        </a:p>
                      </a:txBody>
                      <a:tcPr marL="58025" marR="58025" marT="29013" marB="29013" anchor="ctr"/>
                    </a:tc>
                    <a:extLst>
                      <a:ext uri="{0D108BD9-81ED-4DB2-BD59-A6C34878D82A}">
                        <a16:rowId xmlns:a16="http://schemas.microsoft.com/office/drawing/2014/main" val="1624739760"/>
                      </a:ext>
                    </a:extLst>
                  </a:tr>
                  <a:tr h="423972">
                    <a:tc>
                      <a:txBody>
                        <a:bodyPr/>
                        <a:lstStyle/>
                        <a:p>
                          <a:pPr algn="ctr">
                            <a:buNone/>
                          </a:pPr>
                          <a14:m>
                            <m:oMathPara xmlns:m="http://schemas.openxmlformats.org/officeDocument/2006/math">
                              <m:oMathParaPr>
                                <m:jc m:val="centerGroup"/>
                              </m:oMathParaPr>
                              <m:oMath xmlns:m="http://schemas.openxmlformats.org/officeDocument/2006/math">
                                <m:d>
                                  <m:dPr>
                                    <m:ctrlPr>
                                      <a:rPr lang="en-CA" sz="1200" i="1" dirty="0" smtClean="0">
                                        <a:latin typeface="Cambria Math" panose="02040503050406030204" pitchFamily="18" charset="0"/>
                                      </a:rPr>
                                    </m:ctrlPr>
                                  </m:dPr>
                                  <m:e>
                                    <m:sSub>
                                      <m:sSubPr>
                                        <m:ctrlPr>
                                          <a:rPr lang="en-CA" sz="1200" i="1" dirty="0" smtClean="0">
                                            <a:latin typeface="Cambria Math" panose="02040503050406030204" pitchFamily="18" charset="0"/>
                                          </a:rPr>
                                        </m:ctrlPr>
                                      </m:sSubPr>
                                      <m:e>
                                        <m:r>
                                          <a:rPr lang="en-CA" sz="1200" i="1" dirty="0" smtClean="0">
                                            <a:latin typeface="Cambria Math" panose="02040503050406030204" pitchFamily="18" charset="0"/>
                                          </a:rPr>
                                          <m:t>𝑅</m:t>
                                        </m:r>
                                      </m:e>
                                      <m:sub>
                                        <m:r>
                                          <a:rPr lang="en-CA" sz="1200" i="1" dirty="0" smtClean="0">
                                            <a:latin typeface="Cambria Math" panose="02040503050406030204" pitchFamily="18" charset="0"/>
                                          </a:rPr>
                                          <m:t>𝑡𝑜𝑡</m:t>
                                        </m:r>
                                      </m:sub>
                                    </m:sSub>
                                  </m:e>
                                </m:d>
                              </m:oMath>
                            </m:oMathPara>
                          </a14:m>
                          <a:endParaRPr/>
                        </a:p>
                      </a:txBody>
                      <a:tcPr marL="58025" marR="58025" marT="29013" marB="29013" anchor="ctr"/>
                    </a:tc>
                    <a:tc>
                      <a:txBody>
                        <a:bodyPr/>
                        <a:lstStyle/>
                        <a:p>
                          <a:pPr algn="ctr">
                            <a:buNone/>
                          </a:pPr>
                          <a:r>
                            <a:rPr lang="en-CA" sz="1200" dirty="0">
                              <a:latin typeface="+mj-lt"/>
                            </a:rPr>
                            <a:t>Total target production rate</a:t>
                          </a:r>
                        </a:p>
                      </a:txBody>
                      <a:tcPr marL="58025" marR="58025" marT="29013" marB="29013" anchor="ctr"/>
                    </a:tc>
                    <a:tc>
                      <a:txBody>
                        <a:bodyPr/>
                        <a:lstStyle/>
                        <a:p>
                          <a:pPr algn="ctr">
                            <a:buNone/>
                          </a:pPr>
                          <a:r>
                            <a:rPr lang="en-CA" sz="1200">
                              <a:latin typeface="+mj-lt"/>
                            </a:rPr>
                            <a:t>t/d</a:t>
                          </a:r>
                        </a:p>
                      </a:txBody>
                      <a:tcPr marL="58025" marR="58025" marT="29013" marB="29013" anchor="ctr"/>
                    </a:tc>
                    <a:tc>
                      <a:txBody>
                        <a:bodyPr/>
                        <a:lstStyle/>
                        <a:p>
                          <a:pPr algn="ctr">
                            <a:buNone/>
                          </a:pPr>
                          <a14:m>
                            <m:oMathPara xmlns:m="http://schemas.openxmlformats.org/officeDocument/2006/math">
                              <m:oMathParaPr>
                                <m:jc m:val="centerGroup"/>
                              </m:oMathParaPr>
                              <m:oMath xmlns:m="http://schemas.openxmlformats.org/officeDocument/2006/math">
                                <m:d>
                                  <m:dPr>
                                    <m:ctrlPr>
                                      <a:rPr lang="en-CA" sz="1200" i="1" dirty="0" smtClean="0">
                                        <a:latin typeface="Cambria Math" panose="02040503050406030204" pitchFamily="18" charset="0"/>
                                      </a:rPr>
                                    </m:ctrlPr>
                                  </m:dPr>
                                  <m:e>
                                    <m:sSub>
                                      <m:sSubPr>
                                        <m:ctrlPr>
                                          <a:rPr lang="en-CA" sz="1200" i="1" dirty="0" smtClean="0">
                                            <a:latin typeface="Cambria Math" panose="02040503050406030204" pitchFamily="18" charset="0"/>
                                          </a:rPr>
                                        </m:ctrlPr>
                                      </m:sSubPr>
                                      <m:e>
                                        <m:r>
                                          <a:rPr lang="en-CA" sz="1200" i="1" dirty="0" smtClean="0">
                                            <a:latin typeface="Cambria Math" panose="02040503050406030204" pitchFamily="18" charset="0"/>
                                          </a:rPr>
                                          <m:t>𝑅</m:t>
                                        </m:r>
                                      </m:e>
                                      <m:sub>
                                        <m:r>
                                          <a:rPr lang="en-CA" sz="1200" i="1" dirty="0" smtClean="0">
                                            <a:latin typeface="Cambria Math" panose="02040503050406030204" pitchFamily="18" charset="0"/>
                                          </a:rPr>
                                          <m:t>𝑡𝑜𝑡</m:t>
                                        </m:r>
                                      </m:sub>
                                    </m:sSub>
                                    <m:r>
                                      <a:rPr lang="en-CA" sz="1200" i="1" dirty="0" smtClean="0">
                                        <a:latin typeface="Cambria Math" panose="02040503050406030204" pitchFamily="18" charset="0"/>
                                      </a:rPr>
                                      <m:t>=</m:t>
                                    </m:r>
                                    <m:sSub>
                                      <m:sSubPr>
                                        <m:ctrlPr>
                                          <a:rPr lang="en-CA" sz="1200" i="1" dirty="0" smtClean="0">
                                            <a:latin typeface="Cambria Math" panose="02040503050406030204" pitchFamily="18" charset="0"/>
                                          </a:rPr>
                                        </m:ctrlPr>
                                      </m:sSubPr>
                                      <m:e>
                                        <m:r>
                                          <a:rPr lang="en-CA" sz="1200" i="1" dirty="0" smtClean="0">
                                            <a:latin typeface="Cambria Math" panose="02040503050406030204" pitchFamily="18" charset="0"/>
                                          </a:rPr>
                                          <m:t>𝑅</m:t>
                                        </m:r>
                                      </m:e>
                                      <m:sub>
                                        <m:r>
                                          <a:rPr lang="en-CA" sz="1200" i="1" dirty="0" smtClean="0">
                                            <a:latin typeface="Cambria Math" panose="02040503050406030204" pitchFamily="18" charset="0"/>
                                          </a:rPr>
                                          <m:t>1</m:t>
                                        </m:r>
                                      </m:sub>
                                    </m:sSub>
                                    <m:r>
                                      <a:rPr lang="en-CA" sz="1200" i="1" dirty="0" smtClean="0">
                                        <a:latin typeface="Cambria Math" panose="02040503050406030204" pitchFamily="18" charset="0"/>
                                      </a:rPr>
                                      <m:t>+</m:t>
                                    </m:r>
                                    <m:sSub>
                                      <m:sSubPr>
                                        <m:ctrlPr>
                                          <a:rPr lang="en-CA" sz="1200" i="1" dirty="0" smtClean="0">
                                            <a:latin typeface="Cambria Math" panose="02040503050406030204" pitchFamily="18" charset="0"/>
                                          </a:rPr>
                                        </m:ctrlPr>
                                      </m:sSubPr>
                                      <m:e>
                                        <m:r>
                                          <a:rPr lang="en-CA" sz="1200" i="1" dirty="0" smtClean="0">
                                            <a:latin typeface="Cambria Math" panose="02040503050406030204" pitchFamily="18" charset="0"/>
                                          </a:rPr>
                                          <m:t>𝑅</m:t>
                                        </m:r>
                                      </m:e>
                                      <m:sub>
                                        <m:r>
                                          <a:rPr lang="en-CA" sz="1200" i="1" dirty="0" smtClean="0">
                                            <a:latin typeface="Cambria Math" panose="02040503050406030204" pitchFamily="18" charset="0"/>
                                          </a:rPr>
                                          <m:t>2</m:t>
                                        </m:r>
                                      </m:sub>
                                    </m:sSub>
                                  </m:e>
                                </m:d>
                              </m:oMath>
                            </m:oMathPara>
                          </a14:m>
                          <a:endParaRPr/>
                        </a:p>
                      </a:txBody>
                      <a:tcPr marL="58025" marR="58025" marT="29013" marB="29013" anchor="ctr"/>
                    </a:tc>
                    <a:extLst>
                      <a:ext uri="{0D108BD9-81ED-4DB2-BD59-A6C34878D82A}">
                        <a16:rowId xmlns:a16="http://schemas.microsoft.com/office/drawing/2014/main" val="35464855"/>
                      </a:ext>
                    </a:extLst>
                  </a:tr>
                </a:tbl>
              </a:graphicData>
            </a:graphic>
          </p:graphicFrame>
        </mc:Choice>
        <mc:Fallback xmlns="">
          <p:graphicFrame>
            <p:nvGraphicFramePr>
              <p:cNvPr id="9" name="Table 8">
                <a:extLst>
                  <a:ext uri="{FF2B5EF4-FFF2-40B4-BE49-F238E27FC236}">
                    <a16:creationId xmlns:a16="http://schemas.microsoft.com/office/drawing/2014/main" id="{1735FD87-32E0-62AF-97E5-783B68BB82EF}"/>
                  </a:ext>
                </a:extLst>
              </p:cNvPr>
              <p:cNvGraphicFramePr>
                <a:graphicFrameLocks noGrp="1"/>
              </p:cNvGraphicFramePr>
              <p:nvPr>
                <p:extLst>
                  <p:ext uri="{D42A27DB-BD31-4B8C-83A1-F6EECF244321}">
                    <p14:modId xmlns:p14="http://schemas.microsoft.com/office/powerpoint/2010/main" val="2879313911"/>
                  </p:ext>
                </p:extLst>
              </p:nvPr>
            </p:nvGraphicFramePr>
            <p:xfrm>
              <a:off x="1123950" y="1400175"/>
              <a:ext cx="10115552" cy="4783858"/>
            </p:xfrm>
            <a:graphic>
              <a:graphicData uri="http://schemas.openxmlformats.org/drawingml/2006/table">
                <a:tbl>
                  <a:tblPr>
                    <a:tableStyleId>{69CF1AB2-1976-4502-BF36-3FF5EA218861}</a:tableStyleId>
                  </a:tblPr>
                  <a:tblGrid>
                    <a:gridCol w="2528888">
                      <a:extLst>
                        <a:ext uri="{9D8B030D-6E8A-4147-A177-3AD203B41FA5}">
                          <a16:colId xmlns:a16="http://schemas.microsoft.com/office/drawing/2014/main" val="2785076148"/>
                        </a:ext>
                      </a:extLst>
                    </a:gridCol>
                    <a:gridCol w="2528888">
                      <a:extLst>
                        <a:ext uri="{9D8B030D-6E8A-4147-A177-3AD203B41FA5}">
                          <a16:colId xmlns:a16="http://schemas.microsoft.com/office/drawing/2014/main" val="3746900454"/>
                        </a:ext>
                      </a:extLst>
                    </a:gridCol>
                    <a:gridCol w="1638299">
                      <a:extLst>
                        <a:ext uri="{9D8B030D-6E8A-4147-A177-3AD203B41FA5}">
                          <a16:colId xmlns:a16="http://schemas.microsoft.com/office/drawing/2014/main" val="3147805809"/>
                        </a:ext>
                      </a:extLst>
                    </a:gridCol>
                    <a:gridCol w="3419477">
                      <a:extLst>
                        <a:ext uri="{9D8B030D-6E8A-4147-A177-3AD203B41FA5}">
                          <a16:colId xmlns:a16="http://schemas.microsoft.com/office/drawing/2014/main" val="4248955197"/>
                        </a:ext>
                      </a:extLst>
                    </a:gridCol>
                  </a:tblGrid>
                  <a:tr h="301866">
                    <a:tc>
                      <a:txBody>
                        <a:bodyPr/>
                        <a:lstStyle/>
                        <a:p>
                          <a:pPr algn="ctr">
                            <a:buNone/>
                          </a:pPr>
                          <a:r>
                            <a:rPr lang="en-CA" sz="1600" b="1" dirty="0">
                              <a:latin typeface="+mj-lt"/>
                            </a:rPr>
                            <a:t>Symbol</a:t>
                          </a:r>
                        </a:p>
                      </a:txBody>
                      <a:tcPr marL="58025" marR="58025" marT="29013" marB="29013" anchor="ctr"/>
                    </a:tc>
                    <a:tc>
                      <a:txBody>
                        <a:bodyPr/>
                        <a:lstStyle/>
                        <a:p>
                          <a:pPr algn="ctr">
                            <a:buNone/>
                          </a:pPr>
                          <a:r>
                            <a:rPr lang="en-CA" sz="1600" b="1" dirty="0">
                              <a:latin typeface="+mj-lt"/>
                            </a:rPr>
                            <a:t>Meaning</a:t>
                          </a:r>
                        </a:p>
                      </a:txBody>
                      <a:tcPr marL="58025" marR="58025" marT="29013" marB="29013" anchor="ctr"/>
                    </a:tc>
                    <a:tc>
                      <a:txBody>
                        <a:bodyPr/>
                        <a:lstStyle/>
                        <a:p>
                          <a:pPr algn="ctr">
                            <a:buNone/>
                          </a:pPr>
                          <a:r>
                            <a:rPr lang="en-CA" sz="1600" b="1" dirty="0">
                              <a:latin typeface="+mj-lt"/>
                            </a:rPr>
                            <a:t>Unit / Value</a:t>
                          </a:r>
                        </a:p>
                      </a:txBody>
                      <a:tcPr marL="58025" marR="58025" marT="29013" marB="29013" anchor="ctr"/>
                    </a:tc>
                    <a:tc>
                      <a:txBody>
                        <a:bodyPr/>
                        <a:lstStyle/>
                        <a:p>
                          <a:pPr algn="ctr">
                            <a:buNone/>
                          </a:pPr>
                          <a:r>
                            <a:rPr lang="en-CA" sz="1600" b="1" dirty="0">
                              <a:latin typeface="+mj-lt"/>
                            </a:rPr>
                            <a:t>Notes</a:t>
                          </a:r>
                        </a:p>
                      </a:txBody>
                      <a:tcPr marL="58025" marR="58025" marT="29013" marB="29013" anchor="ctr"/>
                    </a:tc>
                    <a:extLst>
                      <a:ext uri="{0D108BD9-81ED-4DB2-BD59-A6C34878D82A}">
                        <a16:rowId xmlns:a16="http://schemas.microsoft.com/office/drawing/2014/main" val="2940180243"/>
                      </a:ext>
                    </a:extLst>
                  </a:tr>
                  <a:tr h="242270">
                    <a:tc>
                      <a:txBody>
                        <a:bodyPr/>
                        <a:lstStyle/>
                        <a:p>
                          <a:endParaRPr lang="en-US"/>
                        </a:p>
                      </a:txBody>
                      <a:tcPr marL="58025" marR="58025" marT="29013" marB="29013" anchor="ctr">
                        <a:blipFill>
                          <a:blip r:embed="rId4"/>
                          <a:stretch>
                            <a:fillRect l="-241" t="-141026" r="-300482" b="-1792308"/>
                          </a:stretch>
                        </a:blipFill>
                      </a:tcPr>
                    </a:tc>
                    <a:tc>
                      <a:txBody>
                        <a:bodyPr/>
                        <a:lstStyle/>
                        <a:p>
                          <a:pPr algn="ctr">
                            <a:buNone/>
                          </a:pPr>
                          <a:r>
                            <a:rPr lang="en-CA" sz="1200" dirty="0">
                              <a:latin typeface="+mj-lt"/>
                            </a:rPr>
                            <a:t>High-Ore1 Face</a:t>
                          </a:r>
                        </a:p>
                      </a:txBody>
                      <a:tcPr marL="58025" marR="58025" marT="29013" marB="29013" anchor="ctr"/>
                    </a:tc>
                    <a:tc>
                      <a:txBody>
                        <a:bodyPr/>
                        <a:lstStyle/>
                        <a:p>
                          <a:pPr algn="ctr">
                            <a:buNone/>
                          </a:pPr>
                          <a:r>
                            <a:rPr lang="en-CA" sz="1200">
                              <a:latin typeface="+mj-lt"/>
                            </a:rPr>
                            <a:t>—</a:t>
                          </a:r>
                        </a:p>
                      </a:txBody>
                      <a:tcPr marL="58025" marR="58025" marT="29013" marB="29013" anchor="ctr"/>
                    </a:tc>
                    <a:tc>
                      <a:txBody>
                        <a:bodyPr/>
                        <a:lstStyle/>
                        <a:p>
                          <a:pPr algn="ctr">
                            <a:buNone/>
                          </a:pPr>
                          <a:r>
                            <a:rPr lang="en-CA" sz="1200" dirty="0">
                              <a:latin typeface="+mj-lt"/>
                            </a:rPr>
                            <a:t>Ore1-rich face</a:t>
                          </a:r>
                        </a:p>
                      </a:txBody>
                      <a:tcPr marL="58025" marR="58025" marT="29013" marB="29013" anchor="ctr"/>
                    </a:tc>
                    <a:extLst>
                      <a:ext uri="{0D108BD9-81ED-4DB2-BD59-A6C34878D82A}">
                        <a16:rowId xmlns:a16="http://schemas.microsoft.com/office/drawing/2014/main" val="756489381"/>
                      </a:ext>
                    </a:extLst>
                  </a:tr>
                  <a:tr h="242270">
                    <a:tc>
                      <a:txBody>
                        <a:bodyPr/>
                        <a:lstStyle/>
                        <a:p>
                          <a:endParaRPr lang="en-US"/>
                        </a:p>
                      </a:txBody>
                      <a:tcPr marL="58025" marR="58025" marT="29013" marB="29013" anchor="ctr">
                        <a:blipFill>
                          <a:blip r:embed="rId4"/>
                          <a:stretch>
                            <a:fillRect l="-241" t="-235000" r="-300482" b="-1647500"/>
                          </a:stretch>
                        </a:blipFill>
                      </a:tcPr>
                    </a:tc>
                    <a:tc>
                      <a:txBody>
                        <a:bodyPr/>
                        <a:lstStyle/>
                        <a:p>
                          <a:pPr algn="ctr">
                            <a:buNone/>
                          </a:pPr>
                          <a:r>
                            <a:rPr lang="en-CA" sz="1200" dirty="0">
                              <a:latin typeface="+mj-lt"/>
                            </a:rPr>
                            <a:t>Balanced Face</a:t>
                          </a:r>
                        </a:p>
                      </a:txBody>
                      <a:tcPr marL="58025" marR="58025" marT="29013" marB="29013" anchor="ctr"/>
                    </a:tc>
                    <a:tc>
                      <a:txBody>
                        <a:bodyPr/>
                        <a:lstStyle/>
                        <a:p>
                          <a:pPr algn="ctr">
                            <a:buNone/>
                          </a:pPr>
                          <a:r>
                            <a:rPr lang="en-CA" sz="1200">
                              <a:latin typeface="+mj-lt"/>
                            </a:rPr>
                            <a:t>—</a:t>
                          </a:r>
                        </a:p>
                      </a:txBody>
                      <a:tcPr marL="58025" marR="58025" marT="29013" marB="29013" anchor="ctr"/>
                    </a:tc>
                    <a:tc>
                      <a:txBody>
                        <a:bodyPr/>
                        <a:lstStyle/>
                        <a:p>
                          <a:pPr algn="ctr">
                            <a:buNone/>
                          </a:pPr>
                          <a:r>
                            <a:rPr lang="en-CA" sz="1200">
                              <a:latin typeface="+mj-lt"/>
                            </a:rPr>
                            <a:t>More balanced face</a:t>
                          </a:r>
                        </a:p>
                      </a:txBody>
                      <a:tcPr marL="58025" marR="58025" marT="29013" marB="29013" anchor="ctr"/>
                    </a:tc>
                    <a:extLst>
                      <a:ext uri="{0D108BD9-81ED-4DB2-BD59-A6C34878D82A}">
                        <a16:rowId xmlns:a16="http://schemas.microsoft.com/office/drawing/2014/main" val="4162955872"/>
                      </a:ext>
                    </a:extLst>
                  </a:tr>
                  <a:tr h="423972">
                    <a:tc>
                      <a:txBody>
                        <a:bodyPr/>
                        <a:lstStyle/>
                        <a:p>
                          <a:endParaRPr lang="en-US"/>
                        </a:p>
                      </a:txBody>
                      <a:tcPr marL="58025" marR="58025" marT="29013" marB="29013" anchor="ctr">
                        <a:blipFill>
                          <a:blip r:embed="rId4"/>
                          <a:stretch>
                            <a:fillRect l="-241" t="-191429" r="-300482" b="-841429"/>
                          </a:stretch>
                        </a:blipFill>
                      </a:tcPr>
                    </a:tc>
                    <a:tc>
                      <a:txBody>
                        <a:bodyPr/>
                        <a:lstStyle/>
                        <a:p>
                          <a:pPr algn="ctr">
                            <a:buNone/>
                          </a:pPr>
                          <a:r>
                            <a:rPr lang="en-CA" sz="1200" dirty="0">
                              <a:latin typeface="+mj-lt"/>
                            </a:rPr>
                            <a:t>Ore1 proportion in High-Ore1 Face</a:t>
                          </a:r>
                        </a:p>
                      </a:txBody>
                      <a:tcPr marL="58025" marR="58025" marT="29013" marB="29013" anchor="ctr"/>
                    </a:tc>
                    <a:tc>
                      <a:txBody>
                        <a:bodyPr/>
                        <a:lstStyle/>
                        <a:p>
                          <a:pPr algn="ctr">
                            <a:buNone/>
                          </a:pPr>
                          <a:r>
                            <a:rPr lang="en-CA" sz="1200">
                              <a:latin typeface="+mj-lt"/>
                            </a:rPr>
                            <a:t>(0.85)</a:t>
                          </a:r>
                        </a:p>
                      </a:txBody>
                      <a:tcPr marL="58025" marR="58025" marT="29013" marB="29013" anchor="ctr"/>
                    </a:tc>
                    <a:tc>
                      <a:txBody>
                        <a:bodyPr/>
                        <a:lstStyle/>
                        <a:p>
                          <a:pPr algn="ctr">
                            <a:buNone/>
                          </a:pPr>
                          <a:r>
                            <a:rPr lang="en-CA" sz="1200">
                              <a:latin typeface="+mj-lt"/>
                            </a:rPr>
                            <a:t>85% ore1</a:t>
                          </a:r>
                        </a:p>
                      </a:txBody>
                      <a:tcPr marL="58025" marR="58025" marT="29013" marB="29013" anchor="ctr"/>
                    </a:tc>
                    <a:extLst>
                      <a:ext uri="{0D108BD9-81ED-4DB2-BD59-A6C34878D82A}">
                        <a16:rowId xmlns:a16="http://schemas.microsoft.com/office/drawing/2014/main" val="4023951711"/>
                      </a:ext>
                    </a:extLst>
                  </a:tr>
                  <a:tr h="423972">
                    <a:tc>
                      <a:txBody>
                        <a:bodyPr/>
                        <a:lstStyle/>
                        <a:p>
                          <a:endParaRPr lang="en-US"/>
                        </a:p>
                      </a:txBody>
                      <a:tcPr marL="58025" marR="58025" marT="29013" marB="29013" anchor="ctr">
                        <a:blipFill>
                          <a:blip r:embed="rId4"/>
                          <a:stretch>
                            <a:fillRect l="-241" t="-291429" r="-300482" b="-741429"/>
                          </a:stretch>
                        </a:blipFill>
                      </a:tcPr>
                    </a:tc>
                    <a:tc>
                      <a:txBody>
                        <a:bodyPr/>
                        <a:lstStyle/>
                        <a:p>
                          <a:pPr algn="ctr">
                            <a:buNone/>
                          </a:pPr>
                          <a:r>
                            <a:rPr lang="en-CA" sz="1200" dirty="0">
                              <a:latin typeface="+mj-lt"/>
                            </a:rPr>
                            <a:t>Ore1 proportion in Balanced Face</a:t>
                          </a:r>
                        </a:p>
                      </a:txBody>
                      <a:tcPr marL="58025" marR="58025" marT="29013" marB="29013" anchor="ctr"/>
                    </a:tc>
                    <a:tc>
                      <a:txBody>
                        <a:bodyPr/>
                        <a:lstStyle/>
                        <a:p>
                          <a:pPr algn="ctr">
                            <a:buNone/>
                          </a:pPr>
                          <a:r>
                            <a:rPr lang="en-CA" sz="1200">
                              <a:latin typeface="+mj-lt"/>
                            </a:rPr>
                            <a:t>(0.55)</a:t>
                          </a:r>
                        </a:p>
                      </a:txBody>
                      <a:tcPr marL="58025" marR="58025" marT="29013" marB="29013" anchor="ctr"/>
                    </a:tc>
                    <a:tc>
                      <a:txBody>
                        <a:bodyPr/>
                        <a:lstStyle/>
                        <a:p>
                          <a:pPr algn="ctr">
                            <a:buNone/>
                          </a:pPr>
                          <a:r>
                            <a:rPr lang="en-CA" sz="1200">
                              <a:latin typeface="+mj-lt"/>
                            </a:rPr>
                            <a:t>55% ore1</a:t>
                          </a:r>
                        </a:p>
                      </a:txBody>
                      <a:tcPr marL="58025" marR="58025" marT="29013" marB="29013" anchor="ctr"/>
                    </a:tc>
                    <a:extLst>
                      <a:ext uri="{0D108BD9-81ED-4DB2-BD59-A6C34878D82A}">
                        <a16:rowId xmlns:a16="http://schemas.microsoft.com/office/drawing/2014/main" val="3616048039"/>
                      </a:ext>
                    </a:extLst>
                  </a:tr>
                  <a:tr h="605676">
                    <a:tc>
                      <a:txBody>
                        <a:bodyPr/>
                        <a:lstStyle/>
                        <a:p>
                          <a:endParaRPr lang="en-US"/>
                        </a:p>
                      </a:txBody>
                      <a:tcPr marL="58025" marR="58025" marT="29013" marB="29013" anchor="ctr">
                        <a:blipFill>
                          <a:blip r:embed="rId4"/>
                          <a:stretch>
                            <a:fillRect l="-241" t="-276768" r="-300482" b="-424242"/>
                          </a:stretch>
                        </a:blipFill>
                      </a:tcPr>
                    </a:tc>
                    <a:tc>
                      <a:txBody>
                        <a:bodyPr/>
                        <a:lstStyle/>
                        <a:p>
                          <a:pPr algn="ctr">
                            <a:buNone/>
                          </a:pPr>
                          <a:r>
                            <a:rPr lang="en-CA" sz="1200" dirty="0">
                              <a:latin typeface="+mj-lt"/>
                            </a:rPr>
                            <a:t>Production rate from High-Ore1 Face</a:t>
                          </a:r>
                        </a:p>
                      </a:txBody>
                      <a:tcPr marL="58025" marR="58025" marT="29013" marB="29013" anchor="ctr"/>
                    </a:tc>
                    <a:tc>
                      <a:txBody>
                        <a:bodyPr/>
                        <a:lstStyle/>
                        <a:p>
                          <a:pPr algn="ctr">
                            <a:buNone/>
                          </a:pPr>
                          <a:r>
                            <a:rPr lang="en-CA" sz="1200" dirty="0">
                              <a:latin typeface="+mj-lt"/>
                            </a:rPr>
                            <a:t>t/d</a:t>
                          </a:r>
                        </a:p>
                      </a:txBody>
                      <a:tcPr marL="58025" marR="58025" marT="29013" marB="29013" anchor="ctr"/>
                    </a:tc>
                    <a:tc>
                      <a:txBody>
                        <a:bodyPr/>
                        <a:lstStyle/>
                        <a:p>
                          <a:pPr algn="ctr">
                            <a:buNone/>
                          </a:pPr>
                          <a:r>
                            <a:rPr lang="en-CA" sz="1200" dirty="0">
                              <a:latin typeface="+mj-lt"/>
                            </a:rPr>
                            <a:t>Need to solve</a:t>
                          </a:r>
                        </a:p>
                      </a:txBody>
                      <a:tcPr marL="58025" marR="58025" marT="29013" marB="29013" anchor="ctr"/>
                    </a:tc>
                    <a:extLst>
                      <a:ext uri="{0D108BD9-81ED-4DB2-BD59-A6C34878D82A}">
                        <a16:rowId xmlns:a16="http://schemas.microsoft.com/office/drawing/2014/main" val="4092353885"/>
                      </a:ext>
                    </a:extLst>
                  </a:tr>
                  <a:tr h="423972">
                    <a:tc>
                      <a:txBody>
                        <a:bodyPr/>
                        <a:lstStyle/>
                        <a:p>
                          <a:endParaRPr lang="en-US"/>
                        </a:p>
                      </a:txBody>
                      <a:tcPr marL="58025" marR="58025" marT="29013" marB="29013" anchor="ctr">
                        <a:blipFill>
                          <a:blip r:embed="rId4"/>
                          <a:stretch>
                            <a:fillRect l="-241" t="-532857" r="-300482" b="-500000"/>
                          </a:stretch>
                        </a:blipFill>
                      </a:tcPr>
                    </a:tc>
                    <a:tc>
                      <a:txBody>
                        <a:bodyPr/>
                        <a:lstStyle/>
                        <a:p>
                          <a:pPr algn="ctr">
                            <a:buNone/>
                          </a:pPr>
                          <a:r>
                            <a:rPr lang="en-CA" sz="1200">
                              <a:latin typeface="+mj-lt"/>
                            </a:rPr>
                            <a:t>Production rate from Balanced Face</a:t>
                          </a:r>
                        </a:p>
                      </a:txBody>
                      <a:tcPr marL="58025" marR="58025" marT="29013" marB="29013" anchor="ctr"/>
                    </a:tc>
                    <a:tc>
                      <a:txBody>
                        <a:bodyPr/>
                        <a:lstStyle/>
                        <a:p>
                          <a:pPr algn="ctr">
                            <a:buNone/>
                          </a:pPr>
                          <a:r>
                            <a:rPr lang="en-CA" sz="1200">
                              <a:latin typeface="+mj-lt"/>
                            </a:rPr>
                            <a:t>t/d</a:t>
                          </a:r>
                        </a:p>
                      </a:txBody>
                      <a:tcPr marL="58025" marR="58025" marT="29013" marB="29013" anchor="ctr"/>
                    </a:tc>
                    <a:tc>
                      <a:txBody>
                        <a:bodyPr/>
                        <a:lstStyle/>
                        <a:p>
                          <a:pPr algn="ctr">
                            <a:buNone/>
                          </a:pPr>
                          <a:r>
                            <a:rPr lang="en-CA" sz="1200">
                              <a:latin typeface="+mj-lt"/>
                            </a:rPr>
                            <a:t>Need to solve</a:t>
                          </a:r>
                        </a:p>
                      </a:txBody>
                      <a:tcPr marL="58025" marR="58025" marT="29013" marB="29013" anchor="ctr"/>
                    </a:tc>
                    <a:extLst>
                      <a:ext uri="{0D108BD9-81ED-4DB2-BD59-A6C34878D82A}">
                        <a16:rowId xmlns:a16="http://schemas.microsoft.com/office/drawing/2014/main" val="3331924096"/>
                      </a:ext>
                    </a:extLst>
                  </a:tr>
                  <a:tr h="423972">
                    <a:tc>
                      <a:txBody>
                        <a:bodyPr/>
                        <a:lstStyle/>
                        <a:p>
                          <a:endParaRPr lang="en-US"/>
                        </a:p>
                      </a:txBody>
                      <a:tcPr marL="58025" marR="58025" marT="29013" marB="29013" anchor="ctr">
                        <a:blipFill>
                          <a:blip r:embed="rId4"/>
                          <a:stretch>
                            <a:fillRect l="-241" t="-642029" r="-300482" b="-407246"/>
                          </a:stretch>
                        </a:blipFill>
                      </a:tcPr>
                    </a:tc>
                    <a:tc>
                      <a:txBody>
                        <a:bodyPr/>
                        <a:lstStyle/>
                        <a:p>
                          <a:pPr algn="ctr">
                            <a:buNone/>
                          </a:pPr>
                          <a:r>
                            <a:rPr lang="en-CA" sz="1200" dirty="0">
                              <a:latin typeface="+mj-lt"/>
                            </a:rPr>
                            <a:t>Allocation weight to High-Ore1 Face</a:t>
                          </a:r>
                        </a:p>
                      </a:txBody>
                      <a:tcPr marL="58025" marR="58025" marT="29013" marB="29013" anchor="ctr"/>
                    </a:tc>
                    <a:tc>
                      <a:txBody>
                        <a:bodyPr/>
                        <a:lstStyle/>
                        <a:p>
                          <a:pPr algn="ctr">
                            <a:buNone/>
                          </a:pPr>
                          <a:r>
                            <a:rPr lang="en-CA" sz="1200" dirty="0">
                              <a:latin typeface="+mj-lt"/>
                            </a:rPr>
                            <a:t>fraction</a:t>
                          </a:r>
                        </a:p>
                      </a:txBody>
                      <a:tcPr marL="58025" marR="58025" marT="29013" marB="29013" anchor="ctr"/>
                    </a:tc>
                    <a:tc>
                      <a:txBody>
                        <a:bodyPr/>
                        <a:lstStyle/>
                        <a:p>
                          <a:endParaRPr lang="en-US"/>
                        </a:p>
                      </a:txBody>
                      <a:tcPr marL="58025" marR="58025" marT="29013" marB="29013" anchor="ctr">
                        <a:blipFill>
                          <a:blip r:embed="rId4"/>
                          <a:stretch>
                            <a:fillRect l="-196078" t="-642029" r="-357" b="-407246"/>
                          </a:stretch>
                        </a:blipFill>
                      </a:tcPr>
                    </a:tc>
                    <a:extLst>
                      <a:ext uri="{0D108BD9-81ED-4DB2-BD59-A6C34878D82A}">
                        <a16:rowId xmlns:a16="http://schemas.microsoft.com/office/drawing/2014/main" val="194109834"/>
                      </a:ext>
                    </a:extLst>
                  </a:tr>
                  <a:tr h="423972">
                    <a:tc>
                      <a:txBody>
                        <a:bodyPr/>
                        <a:lstStyle/>
                        <a:p>
                          <a:endParaRPr lang="en-US"/>
                        </a:p>
                      </a:txBody>
                      <a:tcPr marL="58025" marR="58025" marT="29013" marB="29013" anchor="ctr">
                        <a:blipFill>
                          <a:blip r:embed="rId4"/>
                          <a:stretch>
                            <a:fillRect l="-241" t="-731429" r="-300482" b="-301429"/>
                          </a:stretch>
                        </a:blipFill>
                      </a:tcPr>
                    </a:tc>
                    <a:tc>
                      <a:txBody>
                        <a:bodyPr/>
                        <a:lstStyle/>
                        <a:p>
                          <a:pPr algn="ctr">
                            <a:buNone/>
                          </a:pPr>
                          <a:r>
                            <a:rPr lang="en-CA" sz="1200">
                              <a:latin typeface="+mj-lt"/>
                            </a:rPr>
                            <a:t>Allocation weight to Balanced Face</a:t>
                          </a:r>
                        </a:p>
                      </a:txBody>
                      <a:tcPr marL="58025" marR="58025" marT="29013" marB="29013" anchor="ctr"/>
                    </a:tc>
                    <a:tc>
                      <a:txBody>
                        <a:bodyPr/>
                        <a:lstStyle/>
                        <a:p>
                          <a:pPr algn="ctr">
                            <a:buNone/>
                          </a:pPr>
                          <a:r>
                            <a:rPr lang="en-CA" sz="1200">
                              <a:latin typeface="+mj-lt"/>
                            </a:rPr>
                            <a:t>fraction</a:t>
                          </a:r>
                        </a:p>
                      </a:txBody>
                      <a:tcPr marL="58025" marR="58025" marT="29013" marB="29013" anchor="ctr"/>
                    </a:tc>
                    <a:tc>
                      <a:txBody>
                        <a:bodyPr/>
                        <a:lstStyle/>
                        <a:p>
                          <a:endParaRPr lang="en-US"/>
                        </a:p>
                      </a:txBody>
                      <a:tcPr marL="58025" marR="58025" marT="29013" marB="29013" anchor="ctr">
                        <a:blipFill>
                          <a:blip r:embed="rId4"/>
                          <a:stretch>
                            <a:fillRect l="-196078" t="-731429" r="-357" b="-301429"/>
                          </a:stretch>
                        </a:blipFill>
                      </a:tcPr>
                    </a:tc>
                    <a:extLst>
                      <a:ext uri="{0D108BD9-81ED-4DB2-BD59-A6C34878D82A}">
                        <a16:rowId xmlns:a16="http://schemas.microsoft.com/office/drawing/2014/main" val="3538255907"/>
                      </a:ext>
                    </a:extLst>
                  </a:tr>
                  <a:tr h="423972">
                    <a:tc>
                      <a:txBody>
                        <a:bodyPr/>
                        <a:lstStyle/>
                        <a:p>
                          <a:endParaRPr lang="en-US"/>
                        </a:p>
                      </a:txBody>
                      <a:tcPr marL="58025" marR="58025" marT="29013" marB="29013" anchor="ctr">
                        <a:blipFill>
                          <a:blip r:embed="rId4"/>
                          <a:stretch>
                            <a:fillRect l="-241" t="-831429" r="-300482" b="-201429"/>
                          </a:stretch>
                        </a:blipFill>
                      </a:tcPr>
                    </a:tc>
                    <a:tc>
                      <a:txBody>
                        <a:bodyPr/>
                        <a:lstStyle/>
                        <a:p>
                          <a:pPr algn="ctr">
                            <a:buNone/>
                          </a:pPr>
                          <a:r>
                            <a:rPr lang="en-CA" sz="1200" dirty="0">
                              <a:latin typeface="+mj-lt"/>
                            </a:rPr>
                            <a:t>Target Ore1 rate</a:t>
                          </a:r>
                        </a:p>
                      </a:txBody>
                      <a:tcPr marL="58025" marR="58025" marT="29013" marB="29013" anchor="ctr"/>
                    </a:tc>
                    <a:tc>
                      <a:txBody>
                        <a:bodyPr/>
                        <a:lstStyle/>
                        <a:p>
                          <a:pPr algn="ctr">
                            <a:buNone/>
                          </a:pPr>
                          <a:r>
                            <a:rPr lang="en-CA" sz="1200" dirty="0">
                              <a:latin typeface="+mj-lt"/>
                            </a:rPr>
                            <a:t>t/d</a:t>
                          </a:r>
                        </a:p>
                      </a:txBody>
                      <a:tcPr marL="58025" marR="58025" marT="29013" marB="29013" anchor="ctr"/>
                    </a:tc>
                    <a:tc>
                      <a:txBody>
                        <a:bodyPr/>
                        <a:lstStyle/>
                        <a:p>
                          <a:pPr algn="ctr">
                            <a:buNone/>
                          </a:pPr>
                          <a:r>
                            <a:rPr lang="en-CA" sz="1200" dirty="0">
                              <a:latin typeface="+mj-lt"/>
                            </a:rPr>
                            <a:t>Ore1 target from mode config</a:t>
                          </a:r>
                        </a:p>
                      </a:txBody>
                      <a:tcPr marL="58025" marR="58025" marT="29013" marB="29013" anchor="ctr"/>
                    </a:tc>
                    <a:extLst>
                      <a:ext uri="{0D108BD9-81ED-4DB2-BD59-A6C34878D82A}">
                        <a16:rowId xmlns:a16="http://schemas.microsoft.com/office/drawing/2014/main" val="3265341668"/>
                      </a:ext>
                    </a:extLst>
                  </a:tr>
                  <a:tr h="423972">
                    <a:tc>
                      <a:txBody>
                        <a:bodyPr/>
                        <a:lstStyle/>
                        <a:p>
                          <a:endParaRPr lang="en-US"/>
                        </a:p>
                      </a:txBody>
                      <a:tcPr marL="58025" marR="58025" marT="29013" marB="29013" anchor="ctr">
                        <a:blipFill>
                          <a:blip r:embed="rId4"/>
                          <a:stretch>
                            <a:fillRect l="-241" t="-944928" r="-300482" b="-104348"/>
                          </a:stretch>
                        </a:blipFill>
                      </a:tcPr>
                    </a:tc>
                    <a:tc>
                      <a:txBody>
                        <a:bodyPr/>
                        <a:lstStyle/>
                        <a:p>
                          <a:pPr algn="ctr">
                            <a:buNone/>
                          </a:pPr>
                          <a:r>
                            <a:rPr lang="en-CA" sz="1200" dirty="0">
                              <a:latin typeface="+mj-lt"/>
                            </a:rPr>
                            <a:t>Target Ore2 rate</a:t>
                          </a:r>
                        </a:p>
                      </a:txBody>
                      <a:tcPr marL="58025" marR="58025" marT="29013" marB="29013" anchor="ctr"/>
                    </a:tc>
                    <a:tc>
                      <a:txBody>
                        <a:bodyPr/>
                        <a:lstStyle/>
                        <a:p>
                          <a:pPr algn="ctr">
                            <a:buNone/>
                          </a:pPr>
                          <a:r>
                            <a:rPr lang="en-CA" sz="1200" dirty="0">
                              <a:latin typeface="+mj-lt"/>
                            </a:rPr>
                            <a:t>t/d</a:t>
                          </a:r>
                        </a:p>
                      </a:txBody>
                      <a:tcPr marL="58025" marR="58025" marT="29013" marB="29013" anchor="ctr"/>
                    </a:tc>
                    <a:tc>
                      <a:txBody>
                        <a:bodyPr/>
                        <a:lstStyle/>
                        <a:p>
                          <a:pPr algn="ctr">
                            <a:buNone/>
                          </a:pPr>
                          <a:r>
                            <a:rPr lang="en-CA" sz="1200" dirty="0">
                              <a:latin typeface="+mj-lt"/>
                            </a:rPr>
                            <a:t>Ore2 target from mode config</a:t>
                          </a:r>
                        </a:p>
                      </a:txBody>
                      <a:tcPr marL="58025" marR="58025" marT="29013" marB="29013" anchor="ctr"/>
                    </a:tc>
                    <a:extLst>
                      <a:ext uri="{0D108BD9-81ED-4DB2-BD59-A6C34878D82A}">
                        <a16:rowId xmlns:a16="http://schemas.microsoft.com/office/drawing/2014/main" val="1624739760"/>
                      </a:ext>
                    </a:extLst>
                  </a:tr>
                  <a:tr h="423972">
                    <a:tc>
                      <a:txBody>
                        <a:bodyPr/>
                        <a:lstStyle/>
                        <a:p>
                          <a:endParaRPr lang="en-US"/>
                        </a:p>
                      </a:txBody>
                      <a:tcPr marL="58025" marR="58025" marT="29013" marB="29013" anchor="ctr">
                        <a:blipFill>
                          <a:blip r:embed="rId4"/>
                          <a:stretch>
                            <a:fillRect l="-241" t="-1030000" r="-300482" b="-2857"/>
                          </a:stretch>
                        </a:blipFill>
                      </a:tcPr>
                    </a:tc>
                    <a:tc>
                      <a:txBody>
                        <a:bodyPr/>
                        <a:lstStyle/>
                        <a:p>
                          <a:pPr algn="ctr">
                            <a:buNone/>
                          </a:pPr>
                          <a:r>
                            <a:rPr lang="en-CA" sz="1200" dirty="0">
                              <a:latin typeface="+mj-lt"/>
                            </a:rPr>
                            <a:t>Total target production rate</a:t>
                          </a:r>
                        </a:p>
                      </a:txBody>
                      <a:tcPr marL="58025" marR="58025" marT="29013" marB="29013" anchor="ctr"/>
                    </a:tc>
                    <a:tc>
                      <a:txBody>
                        <a:bodyPr/>
                        <a:lstStyle/>
                        <a:p>
                          <a:pPr algn="ctr">
                            <a:buNone/>
                          </a:pPr>
                          <a:r>
                            <a:rPr lang="en-CA" sz="1200">
                              <a:latin typeface="+mj-lt"/>
                            </a:rPr>
                            <a:t>t/d</a:t>
                          </a:r>
                        </a:p>
                      </a:txBody>
                      <a:tcPr marL="58025" marR="58025" marT="29013" marB="29013" anchor="ctr"/>
                    </a:tc>
                    <a:tc>
                      <a:txBody>
                        <a:bodyPr/>
                        <a:lstStyle/>
                        <a:p>
                          <a:endParaRPr lang="en-US"/>
                        </a:p>
                      </a:txBody>
                      <a:tcPr marL="58025" marR="58025" marT="29013" marB="29013" anchor="ctr">
                        <a:blipFill>
                          <a:blip r:embed="rId4"/>
                          <a:stretch>
                            <a:fillRect l="-196078" t="-1030000" r="-357" b="-2857"/>
                          </a:stretch>
                        </a:blipFill>
                      </a:tcPr>
                    </a:tc>
                    <a:extLst>
                      <a:ext uri="{0D108BD9-81ED-4DB2-BD59-A6C34878D82A}">
                        <a16:rowId xmlns:a16="http://schemas.microsoft.com/office/drawing/2014/main" val="35464855"/>
                      </a:ext>
                    </a:extLst>
                  </a:tr>
                </a:tbl>
              </a:graphicData>
            </a:graphic>
          </p:graphicFrame>
        </mc:Fallback>
      </mc:AlternateContent>
    </p:spTree>
    <p:extLst>
      <p:ext uri="{BB962C8B-B14F-4D97-AF65-F5344CB8AC3E}">
        <p14:creationId xmlns:p14="http://schemas.microsoft.com/office/powerpoint/2010/main" val="2814328613"/>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24055B-BBCF-E4F7-B04B-56400218F94F}"/>
              </a:ext>
            </a:extLst>
          </p:cNvPr>
          <p:cNvPicPr>
            <a:picLocks noChangeAspect="1"/>
          </p:cNvPicPr>
          <p:nvPr/>
        </p:nvPicPr>
        <p:blipFill>
          <a:blip r:embed="rId3"/>
          <a:stretch>
            <a:fillRect/>
          </a:stretch>
        </p:blipFill>
        <p:spPr>
          <a:xfrm>
            <a:off x="643467" y="323421"/>
            <a:ext cx="5291666" cy="3399895"/>
          </a:xfrm>
          <a:prstGeom prst="rect">
            <a:avLst/>
          </a:prstGeom>
        </p:spPr>
      </p:pic>
      <p:pic>
        <p:nvPicPr>
          <p:cNvPr id="4" name="Picture 3" descr="A screenshot of a graph&#10;&#10;AI-generated content may be incorrect.">
            <a:extLst>
              <a:ext uri="{FF2B5EF4-FFF2-40B4-BE49-F238E27FC236}">
                <a16:creationId xmlns:a16="http://schemas.microsoft.com/office/drawing/2014/main" id="{113CD783-DA1F-F754-378F-ECA50A84BEBF}"/>
              </a:ext>
            </a:extLst>
          </p:cNvPr>
          <p:cNvPicPr>
            <a:picLocks noChangeAspect="1"/>
          </p:cNvPicPr>
          <p:nvPr/>
        </p:nvPicPr>
        <p:blipFill>
          <a:blip r:embed="rId4"/>
          <a:stretch>
            <a:fillRect/>
          </a:stretch>
        </p:blipFill>
        <p:spPr>
          <a:xfrm>
            <a:off x="6256865" y="343265"/>
            <a:ext cx="5291667" cy="3360208"/>
          </a:xfrm>
          <a:prstGeom prst="rect">
            <a:avLst/>
          </a:prstGeom>
        </p:spPr>
      </p:pic>
      <p:sp>
        <p:nvSpPr>
          <p:cNvPr id="5" name="TextBox 4">
            <a:extLst>
              <a:ext uri="{FF2B5EF4-FFF2-40B4-BE49-F238E27FC236}">
                <a16:creationId xmlns:a16="http://schemas.microsoft.com/office/drawing/2014/main" id="{78F19561-0DB3-F141-E95B-7857A8168495}"/>
              </a:ext>
            </a:extLst>
          </p:cNvPr>
          <p:cNvSpPr txBox="1"/>
          <p:nvPr/>
        </p:nvSpPr>
        <p:spPr>
          <a:xfrm>
            <a:off x="643631" y="3832193"/>
            <a:ext cx="10904737"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2200" b="1">
                <a:solidFill>
                  <a:srgbClr val="202020"/>
                </a:solidFill>
                <a:latin typeface="Calibri"/>
              </a:rPr>
              <a:t>Appendix C — Current Simulation Diagnostics</a:t>
            </a:r>
          </a:p>
        </p:txBody>
      </p:sp>
      <p:pic>
        <p:nvPicPr>
          <p:cNvPr id="6" name="Picture 5">
            <a:extLst>
              <a:ext uri="{FF2B5EF4-FFF2-40B4-BE49-F238E27FC236}">
                <a16:creationId xmlns:a16="http://schemas.microsoft.com/office/drawing/2014/main" id="{C8E208CD-F1DD-A803-AC51-7346C98FA248}"/>
              </a:ext>
            </a:extLst>
          </p:cNvPr>
          <p:cNvPicPr>
            <a:picLocks noChangeAspect="1"/>
          </p:cNvPicPr>
          <p:nvPr/>
        </p:nvPicPr>
        <p:blipFill>
          <a:blip r:embed="rId5"/>
          <a:stretch>
            <a:fillRect/>
          </a:stretch>
        </p:blipFill>
        <p:spPr>
          <a:xfrm>
            <a:off x="10372725" y="134891"/>
            <a:ext cx="1543050" cy="423643"/>
          </a:xfrm>
          <a:prstGeom prst="rect">
            <a:avLst/>
          </a:prstGeom>
        </p:spPr>
      </p:pic>
    </p:spTree>
    <p:extLst>
      <p:ext uri="{BB962C8B-B14F-4D97-AF65-F5344CB8AC3E}">
        <p14:creationId xmlns:p14="http://schemas.microsoft.com/office/powerpoint/2010/main" val="126651889"/>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1076DDD3-F0E3-1F8A-2DCA-949FB24D8331}"/>
              </a:ext>
            </a:extLst>
          </p:cNvPr>
          <p:cNvPicPr>
            <a:picLocks noChangeAspect="1"/>
          </p:cNvPicPr>
          <p:nvPr/>
        </p:nvPicPr>
        <p:blipFill>
          <a:blip r:embed="rId3"/>
          <a:stretch>
            <a:fillRect/>
          </a:stretch>
        </p:blipFill>
        <p:spPr>
          <a:xfrm>
            <a:off x="594360" y="2011680"/>
            <a:ext cx="8961120" cy="1881835"/>
          </a:xfrm>
          <a:prstGeom prst="rect">
            <a:avLst/>
          </a:prstGeom>
        </p:spPr>
      </p:pic>
      <p:sp>
        <p:nvSpPr>
          <p:cNvPr id="2" name="Title 1">
            <a:extLst>
              <a:ext uri="{FF2B5EF4-FFF2-40B4-BE49-F238E27FC236}">
                <a16:creationId xmlns:a16="http://schemas.microsoft.com/office/drawing/2014/main" id="{47438278-ADC0-7FFF-7346-71FDAE66CEE9}"/>
              </a:ext>
            </a:extLst>
          </p:cNvPr>
          <p:cNvSpPr txBox="1">
            <a:spLocks/>
          </p:cNvSpPr>
          <p:nvPr/>
        </p:nvSpPr>
        <p:spPr>
          <a:xfrm>
            <a:off x="457200" y="274638"/>
            <a:ext cx="8229600" cy="1143000"/>
          </a:xfrm>
          <a:prstGeom prst="rect">
            <a:avLst/>
          </a:prstGeom>
        </p:spPr>
        <p:txBody>
          <a:bodyPr wrap="square"/>
          <a:lstStyle>
            <a:lvl1pPr algn="ctr" defTabSz="457200" rtl="0" eaLnBrk="1" latinLnBrk="0" hangingPunct="1">
              <a:spcBef>
                <a:spcPct val="0"/>
              </a:spcBef>
              <a:buNone/>
              <a:defRPr sz="4400" kern="1200">
                <a:solidFill>
                  <a:schemeClr val="tx1"/>
                </a:solidFill>
                <a:latin typeface="+mj-lt"/>
                <a:ea typeface="+mj-ea"/>
                <a:cs typeface="+mj-cs"/>
              </a:defRPr>
            </a:lvl1pPr>
          </a:lstStyle>
          <a:p>
            <a:r>
              <a:rPr sz="2200" b="1">
                <a:solidFill>
                  <a:srgbClr val="202020"/>
                </a:solidFill>
                <a:latin typeface="Calibri"/>
              </a:rPr>
              <a:t>Appendix D — Current Code Flow Chart</a:t>
            </a:r>
          </a:p>
        </p:txBody>
      </p:sp>
      <p:pic>
        <p:nvPicPr>
          <p:cNvPr id="5" name="Picture 4">
            <a:extLst>
              <a:ext uri="{FF2B5EF4-FFF2-40B4-BE49-F238E27FC236}">
                <a16:creationId xmlns:a16="http://schemas.microsoft.com/office/drawing/2014/main" id="{87E7A1D5-5405-16C6-2E73-4D3FB81F87FE}"/>
              </a:ext>
            </a:extLst>
          </p:cNvPr>
          <p:cNvPicPr>
            <a:picLocks noChangeAspect="1"/>
          </p:cNvPicPr>
          <p:nvPr/>
        </p:nvPicPr>
        <p:blipFill>
          <a:blip r:embed="rId4"/>
          <a:stretch>
            <a:fillRect/>
          </a:stretch>
        </p:blipFill>
        <p:spPr>
          <a:xfrm>
            <a:off x="9672112" y="153941"/>
            <a:ext cx="2519888" cy="691833"/>
          </a:xfrm>
          <a:prstGeom prst="rect">
            <a:avLst/>
          </a:prstGeom>
        </p:spPr>
      </p:pic>
    </p:spTree>
    <p:extLst>
      <p:ext uri="{BB962C8B-B14F-4D97-AF65-F5344CB8AC3E}">
        <p14:creationId xmlns:p14="http://schemas.microsoft.com/office/powerpoint/2010/main" val="3707935040"/>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1395</TotalTime>
  <Words>2977</Words>
  <Application>Microsoft Office PowerPoint</Application>
  <PresentationFormat>宽屏</PresentationFormat>
  <Paragraphs>421</Paragraphs>
  <Slides>32</Slides>
  <Notes>9</Notes>
  <HiddenSlides>1</HiddenSlides>
  <MMClips>0</MMClips>
  <ScaleCrop>false</ScaleCrop>
  <HeadingPairs>
    <vt:vector size="4" baseType="variant">
      <vt:variant>
        <vt:lpstr>主题</vt:lpstr>
      </vt:variant>
      <vt:variant>
        <vt:i4>1</vt:i4>
      </vt:variant>
      <vt:variant>
        <vt:lpstr>幻灯片标题</vt:lpstr>
      </vt:variant>
      <vt:variant>
        <vt:i4>32</vt:i4>
      </vt:variant>
    </vt:vector>
  </HeadingPairs>
  <TitlesOfParts>
    <vt:vector size="33" baseType="lpstr">
      <vt:lpstr>Office Theme</vt:lpstr>
      <vt:lpstr>Integrating Strategic, Tactical and Operational Decision-Making in Mining Using Discrete Rate Simulation</vt:lpstr>
      <vt:lpstr>Table of content</vt:lpstr>
      <vt:lpstr>Research Objective and Scope</vt:lpstr>
      <vt:lpstr>PowerPoint 演示文稿</vt:lpstr>
      <vt:lpstr>PowerPoint 演示文稿</vt:lpstr>
      <vt:lpstr>Background and Research Gap</vt:lpstr>
      <vt:lpstr>PowerPoint 演示文稿</vt:lpstr>
      <vt:lpstr>PowerPoint 演示文稿</vt:lpstr>
      <vt:lpstr>PowerPoint 演示文稿</vt:lpstr>
      <vt:lpstr>Decision Hierarchy and Hybrid DRS–DES Framework</vt:lpstr>
      <vt:lpstr>PowerPoint 演示文稿</vt:lpstr>
      <vt:lpstr>PowerPoint 演示文稿</vt:lpstr>
      <vt:lpstr>PowerPoint 演示文稿</vt:lpstr>
      <vt:lpstr>PowerPoint 演示文稿</vt:lpstr>
      <vt:lpstr>Illustrative Mining Case</vt:lpstr>
      <vt:lpstr>PowerPoint 演示文稿</vt:lpstr>
      <vt:lpstr>PowerPoint 演示文稿</vt:lpstr>
      <vt:lpstr>PowerPoint 演示文稿</vt:lpstr>
      <vt:lpstr>PowerPoint 演示文稿</vt:lpstr>
      <vt:lpstr>PowerPoint 演示文稿</vt:lpstr>
      <vt:lpstr>Tactical Configuration and Operational Resource Policies</vt:lpstr>
      <vt:lpstr>PowerPoint 演示文稿</vt:lpstr>
      <vt:lpstr>PowerPoint 演示文稿</vt:lpstr>
      <vt:lpstr>Evaluation Framework</vt:lpstr>
      <vt:lpstr>PowerPoint 演示文稿</vt:lpstr>
      <vt:lpstr>PowerPoint 演示文稿</vt:lpstr>
      <vt:lpstr>Expected Contribution and Next Steps</vt:lpstr>
      <vt:lpstr>PowerPoint 演示文稿</vt:lpstr>
      <vt:lpstr>Appendix A — Operational Face-Allocation Equations</vt:lpstr>
      <vt:lpstr>Appendix B — Symbols and Variables</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Integrating Strategic, Tactical and Operational Decision-Making in Mining Using Discrete Rate Simulation</dc:title>
  <dc:subject>Revised research framing following discussion with Prof. Navarra</dc:subject>
  <dc:creator>Jiang Bai</dc:creator>
  <cp:keywords/>
  <dc:description>generated using python-pptx</dc:description>
  <cp:lastModifiedBy>Jiang Bai</cp:lastModifiedBy>
  <cp:revision>17</cp:revision>
  <dcterms:created xsi:type="dcterms:W3CDTF">2013-01-27T09:14:16Z</dcterms:created>
  <dcterms:modified xsi:type="dcterms:W3CDTF">2026-08-13T20:23:07Z</dcterms:modified>
  <cp:category/>
</cp:coreProperties>
</file>